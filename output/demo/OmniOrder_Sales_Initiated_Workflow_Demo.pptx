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dffbe8e2774f46" /><Relationship Type="http://schemas.openxmlformats.org/officeDocument/2006/relationships/extended-properties" Target="/docProps/app.xml" Id="Rd5b9522957f947b3" /><Relationship Type="http://schemas.openxmlformats.org/officeDocument/2006/relationships/officeDocument" Target="/ppt/presentation.xml" Id="R11d12f7801d847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e8726768104fae"/>
  </p:sldMasterIdLst>
  <p:notesMasterIdLst>
    <p:notesMasterId xmlns:r="http://schemas.openxmlformats.org/officeDocument/2006/relationships" r:id="Re9d2867f3c5b4403"/>
  </p:notesMasterIdLst>
  <p:sldIdLst>
    <p:sldId xmlns:r="http://schemas.openxmlformats.org/officeDocument/2006/relationships" id="256" r:id="R2c65e69ce86f4e38"/>
    <p:sldId xmlns:r="http://schemas.openxmlformats.org/officeDocument/2006/relationships" id="257" r:id="Rb6255ccad173470c"/>
    <p:sldId xmlns:r="http://schemas.openxmlformats.org/officeDocument/2006/relationships" id="258" r:id="Rf7df8d017ce74f36"/>
    <p:sldId xmlns:r="http://schemas.openxmlformats.org/officeDocument/2006/relationships" id="259" r:id="Raff909e0f28a49e4"/>
    <p:sldId xmlns:r="http://schemas.openxmlformats.org/officeDocument/2006/relationships" id="260" r:id="R411768c39bbd486d"/>
    <p:sldId xmlns:r="http://schemas.openxmlformats.org/officeDocument/2006/relationships" id="261" r:id="R43c5ff6bbf2b49ce"/>
    <p:sldId xmlns:r="http://schemas.openxmlformats.org/officeDocument/2006/relationships" id="262" r:id="Rdd5f7ae30ee141d2"/>
    <p:sldId xmlns:r="http://schemas.openxmlformats.org/officeDocument/2006/relationships" id="263" r:id="Ra1efb5b55c6f49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8745e83ddb4267" /><Relationship Type="http://schemas.openxmlformats.org/officeDocument/2006/relationships/slideMaster" Target="/ppt/slideMasters/slideMaster1.xml" Id="R62e8726768104fae" /><Relationship Type="http://schemas.openxmlformats.org/officeDocument/2006/relationships/notesMaster" Target="/ppt/notesMasters/notesMaster1.xml" Id="Re9d2867f3c5b4403" /><Relationship Type="http://schemas.openxmlformats.org/officeDocument/2006/relationships/presProps" Target="/ppt/presProps.xml" Id="Rce91fe2b0dd94df4" /><Relationship Type="http://schemas.openxmlformats.org/officeDocument/2006/relationships/tableStyles" Target="/ppt/tableStyles.xml" Id="Ra570c13a60c84bdb" /><Relationship Type="http://schemas.openxmlformats.org/officeDocument/2006/relationships/slide" Target="/ppt/slides/slide1.xml" Id="R2c65e69ce86f4e38" /><Relationship Type="http://schemas.openxmlformats.org/officeDocument/2006/relationships/slide" Target="/ppt/slides/slide2.xml" Id="Rb6255ccad173470c" /><Relationship Type="http://schemas.openxmlformats.org/officeDocument/2006/relationships/slide" Target="/ppt/slides/slide3.xml" Id="Rf7df8d017ce74f36" /><Relationship Type="http://schemas.openxmlformats.org/officeDocument/2006/relationships/slide" Target="/ppt/slides/slide4.xml" Id="Raff909e0f28a49e4" /><Relationship Type="http://schemas.openxmlformats.org/officeDocument/2006/relationships/slide" Target="/ppt/slides/slide5.xml" Id="R411768c39bbd486d" /><Relationship Type="http://schemas.openxmlformats.org/officeDocument/2006/relationships/slide" Target="/ppt/slides/slide6.xml" Id="R43c5ff6bbf2b49ce" /><Relationship Type="http://schemas.openxmlformats.org/officeDocument/2006/relationships/slide" Target="/ppt/slides/slide7.xml" Id="Rdd5f7ae30ee141d2" /><Relationship Type="http://schemas.openxmlformats.org/officeDocument/2006/relationships/slide" Target="/ppt/slides/slide8.xml" Id="Ra1efb5b55c6f49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f0919bc74040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e3ffe6b1744780" /><Relationship Type="http://schemas.openxmlformats.org/officeDocument/2006/relationships/notesMaster" Target="/ppt/notesMasters/notesMaster1.xml" Id="R5a704cd42e954b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f43b3f8ca41b9" /><Relationship Type="http://schemas.openxmlformats.org/officeDocument/2006/relationships/notesMaster" Target="/ppt/notesMasters/notesMaster1.xml" Id="R4603cef3d9ff43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2db4247ea24553" /><Relationship Type="http://schemas.openxmlformats.org/officeDocument/2006/relationships/notesMaster" Target="/ppt/notesMasters/notesMaster1.xml" Id="R7c78a3ca65b241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b57a6507e64656" /><Relationship Type="http://schemas.openxmlformats.org/officeDocument/2006/relationships/notesMaster" Target="/ppt/notesMasters/notesMaster1.xml" Id="R6a5db24ce7a04a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bb242bcc7746b0" /><Relationship Type="http://schemas.openxmlformats.org/officeDocument/2006/relationships/notesMaster" Target="/ppt/notesMasters/notesMaster1.xml" Id="Rfb1cb45663044b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d9139f5aed457f" /><Relationship Type="http://schemas.openxmlformats.org/officeDocument/2006/relationships/notesMaster" Target="/ppt/notesMasters/notesMaster1.xml" Id="R8439a839e7ec47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baafaba286449c" /><Relationship Type="http://schemas.openxmlformats.org/officeDocument/2006/relationships/notesMaster" Target="/ppt/notesMasters/notesMaster1.xml" Id="Re26297b59eed4d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c3d5c006b14aae" /><Relationship Type="http://schemas.openxmlformats.org/officeDocument/2006/relationships/notesMaster" Target="/ppt/notesMasters/notesMaster1.xml" Id="R35eb2b39fcf24c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second workflow: instead of waiting for a customer to browse the general catalog, sales proactively prepares a product list for one customer.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OmniOrder MVP application and implementation 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From the sales dashboard, click Create order list. Explain that Share catalog remains available for general ordering, while the new action creates a targeted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OmniOrder MVP application and implementation 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Valley Market. The customer contact, assigned representative, phone number, and link expiration are shown before product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OmniOrder MVP application and implementation 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only the products this customer should order. Prices remain a sales-only field and are removed from the customer-facing data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OmniOrder MVP application and implementation 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 and copy the secure link. It can be sent through the customer’s preferred channel. The link identifies the order list and customer.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OmniOrder MVP application and implementation 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customer opens the link and sees the targeted list, assigned representative, and availability. They enter quantities and submit. There are no prices or totals in this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OmniOrder MVP application and implementation 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 in sales, the response appears as a new request linked to OL-2026-0048. Sales confirms stock, adjusts quantities if needed, adds prices and terms, then creates the pro-forma.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OmniOrder MVP application and implementation 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showing that only the opening changes. After the customer returns quantities, the existing pro-forma, approval, distribution, dispatch, and invoice workflow remains intact.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OmniOrder MVP application and implementation 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60350693c41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b7eca6d696424c" /><Relationship Type="http://schemas.openxmlformats.org/officeDocument/2006/relationships/slideLayout" Target="/ppt/slideLayouts/slideLayout1.xml" Id="Ree60243aba9949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60243aba9949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08914ae2b474d" /><Relationship Type="http://schemas.openxmlformats.org/officeDocument/2006/relationships/notesSlide" Target="/ppt/notesSlides/notesSlide1.xml" Id="Ra475b722815146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f16bd6ba340bf" /><Relationship Type="http://schemas.openxmlformats.org/officeDocument/2006/relationships/notesSlide" Target="/ppt/notesSlides/notesSlide2.xml" Id="R7578c0526c0d4e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6050eccf64fc2" /><Relationship Type="http://schemas.openxmlformats.org/officeDocument/2006/relationships/notesSlide" Target="/ppt/notesSlides/notesSlide3.xml" Id="Reee9638ab57441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7a167cbff46c2" /><Relationship Type="http://schemas.openxmlformats.org/officeDocument/2006/relationships/notesSlide" Target="/ppt/notesSlides/notesSlide4.xml" Id="R6bfbf625451a41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95789d34e4017" /><Relationship Type="http://schemas.openxmlformats.org/officeDocument/2006/relationships/notesSlide" Target="/ppt/notesSlides/notesSlide5.xml" Id="Refa39e87a2f24c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3dda445fc44b5" /><Relationship Type="http://schemas.openxmlformats.org/officeDocument/2006/relationships/notesSlide" Target="/ppt/notesSlides/notesSlide6.xml" Id="R6164b48af7874c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6d674ae68464b" /><Relationship Type="http://schemas.openxmlformats.org/officeDocument/2006/relationships/notesSlide" Target="/ppt/notesSlides/notesSlide7.xml" Id="R12ec9de575844e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b7c31aa2f4883" /><Relationship Type="http://schemas.openxmlformats.org/officeDocument/2006/relationships/notesSlide" Target="/ppt/notesSlides/notesSlide8.xml" Id="Reb95d64bc79444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47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113E6-701A-417A-8272-91A95E9B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DED6"/>
                </a:solidFill>
              </a:defRPr>
            </a:pPr>
            <a:r>
              <a:rPr sz="1050" b="1">
                <a:solidFill>
                  <a:srgbClr val="B9DED6"/>
                </a:solidFill>
              </a:rPr>
              <a:t>OMNIORDER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5CC8D-031B-46D1-B228-B19A806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Sales starts the order.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The customer finishes the quantities.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54F27-1965-42B2-BA5E-8842246D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790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AE7"/>
                </a:solidFill>
              </a:defRPr>
            </a:pPr>
            <a:r>
              <a:rPr sz="1725" b="0">
                <a:solidFill>
                  <a:srgbClr val="DDEAE7"/>
                </a:solidFill>
              </a:rPr>
              <a:t>One targeted link feeds the same quotation, approval, dispatch, and invoice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F6CA8-A7A2-46AD-9550-DE2165A4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257300"/>
            <a:ext cx="2476500" cy="3238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A5B15-026A-49EE-B304-99B180AB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00"/>
          </a:solidFill>
          <a:ln xmlns:a="http://schemas.openxmlformats.org/drawingml/2006/main" w="0">
            <a:solidFill>
              <a:srgbClr val="E6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3113A-1527-465E-89F4-26110DD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17"/>
                </a:solidFill>
              </a:defRPr>
            </a:pPr>
            <a:r>
              <a:rPr sz="1800" b="1">
                <a:solidFill>
                  <a:srgbClr val="111817"/>
                </a:solidFill>
              </a:rPr>
              <a:t>Sales selects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2582D-35A4-4442-89F5-B07A461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33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6E"/>
                </a:solidFill>
              </a:defRPr>
            </a:pPr>
            <a:r>
              <a:rPr sz="1425" b="0">
                <a:solidFill>
                  <a:srgbClr val="66716E"/>
                </a:solidFill>
              </a:rPr>
              <a:t>customer + products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68441-FF6A-4AA0-87B9-5D2BC987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5D50"/>
                </a:solidFill>
              </a:defRPr>
            </a:pPr>
            <a:r>
              <a:rPr sz="2100" b="1">
                <a:solidFill>
                  <a:srgbClr val="075D50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CB858-8DAC-45E5-B212-37209788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5D50"/>
                </a:solidFill>
              </a:defRPr>
            </a:pPr>
            <a:r>
              <a:rPr sz="1650" b="1">
                <a:solidFill>
                  <a:srgbClr val="075D50"/>
                </a:solidFill>
              </a:rPr>
              <a:t>Secure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A3BF2-5C7B-4FE6-897B-80607D3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ORDER DESK  ·  SALES-INITIATED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B5EF9-412E-45D2-AAC7-78E6B071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4464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C7528-C48E-45A5-8BCA-2778FCD8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D50"/>
                </a:solidFill>
              </a:defRPr>
            </a:pPr>
            <a:r>
              <a:rPr sz="975" b="1">
                <a:solidFill>
                  <a:srgbClr val="075D50"/>
                </a:solidFill>
              </a:rPr>
              <a:t>STEP 1 · SALES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8AEAC-AE0D-4121-A90E-C5C29D5F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17"/>
                </a:solidFill>
              </a:defRPr>
            </a:pPr>
            <a:r>
              <a:rPr sz="2850" b="1">
                <a:solidFill>
                  <a:srgbClr val="111817"/>
                </a:solidFill>
              </a:rPr>
              <a:t>The rep begins with Create order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72420-BE12-4A5D-A9E5-317BCA6D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E"/>
                </a:solidFill>
              </a:defRPr>
            </a:pPr>
            <a:r>
              <a:rPr sz="1425" b="0">
                <a:solidFill>
                  <a:srgbClr val="66716E"/>
                </a:solidFill>
              </a:rPr>
              <a:t>This is separate from the general catalog link and is tied to a specific customer.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6CD19-6AF7-4767-92C2-2AD5C724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4775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CEE4F-3A44-430D-AD1A-A46A8DDB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17"/>
                </a:solidFill>
              </a:defRPr>
            </a:pPr>
            <a:r>
              <a:rPr sz="2550" b="1">
                <a:solidFill>
                  <a:srgbClr val="111817"/>
                </a:solidFill>
              </a:rPr>
              <a:t>Good afternoon, Dipendra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7F76E-3C2D-4434-84D0-A9493B1D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E"/>
                </a:solidFill>
              </a:defRPr>
            </a:pPr>
            <a:r>
              <a:rPr sz="1350" b="0">
                <a:solidFill>
                  <a:srgbClr val="66716E"/>
                </a:solidFill>
              </a:rPr>
              <a:t>What needs your attention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7CDE5-A578-4C32-8643-6392851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182FA-3139-4C79-B96C-EF191E28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336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17"/>
                </a:solidFill>
              </a:defRPr>
            </a:pPr>
            <a:r>
              <a:rPr sz="1350" b="1">
                <a:solidFill>
                  <a:srgbClr val="111817"/>
                </a:solidFill>
              </a:rPr>
              <a:t>↗ Share catalog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8E329-D3CD-43E1-B752-6EDB3BE1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75D50"/>
          </a:solidFill>
          <a:ln xmlns:a="http://schemas.openxmlformats.org/drawingml/2006/main" w="9525">
            <a:solidFill>
              <a:srgbClr val="075D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AC657-B13A-4953-B1D5-624C6CD4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336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＋ Create order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0D691-4304-404A-89B0-0443CFB8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7"/>
                </a:solidFill>
              </a:defRPr>
            </a:pPr>
            <a:r>
              <a:rPr sz="1575" b="1">
                <a:solidFill>
                  <a:srgbClr val="111817"/>
                </a:solidFill>
              </a:rPr>
              <a:t>Use Share catalog for broad access. Use Create order list when sales wants to control exactly which products the customer receives.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33C9E-F23D-46D1-BDD7-0CE29107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ORDER DESK  ·  SALES-INITIATED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C3608-1199-48DC-BEAD-7EDB2D03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0899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7EE62-E026-4FE7-A770-5862EDD0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D50"/>
                </a:solidFill>
              </a:defRPr>
            </a:pPr>
            <a:r>
              <a:rPr sz="975" b="1">
                <a:solidFill>
                  <a:srgbClr val="075D50"/>
                </a:solidFill>
              </a:rPr>
              <a:t>STEP 2 ·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C2522-9F8D-419D-AB6F-7840D834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17"/>
                </a:solidFill>
              </a:defRPr>
            </a:pPr>
            <a:r>
              <a:rPr sz="2850" b="1">
                <a:solidFill>
                  <a:srgbClr val="111817"/>
                </a:solidFill>
              </a:rPr>
              <a:t>The secure list is assigned before it is sent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BCDC0-339D-42CA-9A4C-6DA98B49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E"/>
                </a:solidFill>
              </a:defRPr>
            </a:pPr>
            <a:r>
              <a:rPr sz="1425" b="0">
                <a:solidFill>
                  <a:srgbClr val="66716E"/>
                </a:solidFill>
              </a:rPr>
              <a:t>Customer identity, contact, sales rep, and expiration travel with the link.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4D7F2-E70B-41E1-8665-04E4AF02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8141B-002C-4F09-84E3-9226A671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0">
            <a:solidFill>
              <a:srgbClr val="E8F4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D50"/>
                </a:solidFill>
              </a:defRPr>
            </a:pPr>
            <a:r>
              <a:rPr sz="1350" b="1">
                <a:solidFill>
                  <a:srgbClr val="075D50"/>
                </a:solidFill>
              </a:rPr>
              <a:t>VM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27AB3-FC95-4110-870B-7FB3FCBE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17"/>
                </a:solidFill>
              </a:defRPr>
            </a:pPr>
            <a:r>
              <a:rPr sz="2175" b="1">
                <a:solidFill>
                  <a:srgbClr val="111817"/>
                </a:solidFill>
              </a:rPr>
              <a:t>Valley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2E0DE-9943-41BE-BDEC-A206D049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9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E"/>
                </a:solidFill>
              </a:defRPr>
            </a:pPr>
            <a:r>
              <a:rPr sz="1350" b="0">
                <a:solidFill>
                  <a:srgbClr val="66716E"/>
                </a:solidFill>
              </a:rPr>
              <a:t>Maya Patel  ·  orders@valleymarket.com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AE40F-5C8A-4227-A965-D47592A7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FA362-A542-4226-A0CD-8593A1FD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336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D50"/>
                </a:solidFill>
              </a:defRPr>
            </a:pPr>
            <a:r>
              <a:rPr sz="1050" b="1">
                <a:solidFill>
                  <a:srgbClr val="075D50"/>
                </a:solidFill>
              </a:rPr>
              <a:t>SELECTED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01B21-56F0-4D6D-BEEB-48591FFC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52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E"/>
                </a:solidFill>
              </a:defRPr>
            </a:pPr>
            <a:r>
              <a:rPr sz="1050" b="1">
                <a:solidFill>
                  <a:srgbClr val="66716E"/>
                </a:solidFill>
              </a:rPr>
              <a:t>Assigned rep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37D5A-CFA7-493C-BC17-5790E002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7"/>
                </a:solidFill>
              </a:defRPr>
            </a:pPr>
            <a:r>
              <a:rPr sz="1500" b="1">
                <a:solidFill>
                  <a:srgbClr val="111817"/>
                </a:solidFill>
              </a:rPr>
              <a:t>Dipendra Subedi  ·  (415) 555-0124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5E250-090C-4F63-8334-14766378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52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E"/>
                </a:solidFill>
              </a:defRPr>
            </a:pPr>
            <a:r>
              <a:rPr sz="1050" b="1">
                <a:solidFill>
                  <a:srgbClr val="66716E"/>
                </a:solidFill>
              </a:rPr>
              <a:t>Expires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6B685-D81D-4391-95EE-42415806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7"/>
                </a:solidFill>
              </a:defRPr>
            </a:pPr>
            <a:r>
              <a:rPr sz="1500" b="1">
                <a:solidFill>
                  <a:srgbClr val="111817"/>
                </a:solidFill>
              </a:rPr>
              <a:t>Aug 21,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C192C-401B-4CDE-83D4-0D3D91C4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ORDER DESK  ·  SALES-INITIATED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D45BA-4148-421D-9ACD-2D581A68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9936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EB9743-0200-48E3-A0AD-B54C7EE3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D50"/>
                </a:solidFill>
              </a:defRPr>
            </a:pPr>
            <a:r>
              <a:rPr sz="975" b="1">
                <a:solidFill>
                  <a:srgbClr val="075D50"/>
                </a:solidFill>
              </a:rPr>
              <a:t>STEP 3 · PRODUCTS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BC4D1-71D2-47A7-84FE-0E009579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17"/>
                </a:solidFill>
              </a:defRPr>
            </a:pPr>
            <a:r>
              <a:rPr sz="2850" b="1">
                <a:solidFill>
                  <a:srgbClr val="111817"/>
                </a:solidFill>
              </a:rPr>
              <a:t>Sales curates the list—without exposing prices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6BFA3-634E-492D-9D83-25E10081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E"/>
                </a:solidFill>
              </a:defRPr>
            </a:pPr>
            <a:r>
              <a:rPr sz="1425" b="0">
                <a:solidFill>
                  <a:srgbClr val="66716E"/>
                </a:solidFill>
              </a:rPr>
              <a:t>Only published products selected here appear in the customer’s shared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3A356-EDF1-4B9B-9CF8-F0047EE2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429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8A116-0276-43B2-93CC-612406E6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D50"/>
          </a:solidFill>
          <a:ln xmlns:a="http://schemas.openxmlformats.org/drawingml/2006/main" w="0">
            <a:solidFill>
              <a:srgbClr val="075D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81637-632D-411B-890D-62851E97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1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E"/>
                </a:solidFill>
              </a:defRPr>
            </a:pPr>
            <a:r>
              <a:rPr sz="1050" b="1">
                <a:solidFill>
                  <a:srgbClr val="66716E"/>
                </a:solidFill>
              </a:rPr>
              <a:t>10102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8B76C-D15E-4926-9152-3EF78C37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95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7"/>
                </a:solidFill>
              </a:defRPr>
            </a:pPr>
            <a:r>
              <a:rPr sz="1350" b="1">
                <a:solidFill>
                  <a:srgbClr val="111817"/>
                </a:solidFill>
              </a:rPr>
              <a:t>All Spice Ground 3oz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AA635-A2D3-48E0-ABA8-A790D451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E"/>
                </a:solidFill>
              </a:defRPr>
            </a:pPr>
            <a:r>
              <a:rPr sz="1125" b="0">
                <a:solidFill>
                  <a:srgbClr val="66716E"/>
                </a:solidFill>
              </a:rPr>
              <a:t>12 × 3oz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EDF60-4571-4F8D-9D76-B10F1C2C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D50"/>
          </a:solidFill>
          <a:ln xmlns:a="http://schemas.openxmlformats.org/drawingml/2006/main" w="0">
            <a:solidFill>
              <a:srgbClr val="075D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50095-E891-44A4-87B6-163E86EC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432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E"/>
                </a:solidFill>
              </a:defRPr>
            </a:pPr>
            <a:r>
              <a:rPr sz="1050" b="1">
                <a:solidFill>
                  <a:srgbClr val="66716E"/>
                </a:solidFill>
              </a:rPr>
              <a:t>10123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9177F-79E0-47A1-A0CC-E2FCF84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7"/>
                </a:solidFill>
              </a:defRPr>
            </a:pPr>
            <a:r>
              <a:rPr sz="1350" b="1">
                <a:solidFill>
                  <a:srgbClr val="111817"/>
                </a:solidFill>
              </a:rPr>
              <a:t>Cumin Seeds 3oz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E3397-FFE2-47F9-AE2D-B47D5F9E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E"/>
                </a:solidFill>
              </a:defRPr>
            </a:pPr>
            <a:r>
              <a:rPr sz="1125" b="0">
                <a:solidFill>
                  <a:srgbClr val="66716E"/>
                </a:solidFill>
              </a:rPr>
              <a:t>12 × 3oz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5CCF2-FAFB-40B7-8F96-6C9AE540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D50"/>
          </a:solidFill>
          <a:ln xmlns:a="http://schemas.openxmlformats.org/drawingml/2006/main" w="0">
            <a:solidFill>
              <a:srgbClr val="075D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F793A-A189-44F1-96EC-61213E00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71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E"/>
                </a:solidFill>
              </a:defRPr>
            </a:pPr>
            <a:r>
              <a:rPr sz="1050" b="1">
                <a:solidFill>
                  <a:srgbClr val="66716E"/>
                </a:solidFill>
              </a:rPr>
              <a:t>10143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1CC5E-B3FB-469C-973A-9486ECC5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7"/>
                </a:solidFill>
              </a:defRPr>
            </a:pPr>
            <a:r>
              <a:rPr sz="1350" b="1">
                <a:solidFill>
                  <a:srgbClr val="111817"/>
                </a:solidFill>
              </a:rPr>
              <a:t>Cardamom Green 2oz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668CF-31F4-4D77-B455-17B9F3D9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E"/>
                </a:solidFill>
              </a:defRPr>
            </a:pPr>
            <a:r>
              <a:rPr sz="1125" b="0">
                <a:solidFill>
                  <a:srgbClr val="66716E"/>
                </a:solidFill>
              </a:rPr>
              <a:t>12 × 2oz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B9D56-4F67-49B5-9F41-BC72110B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D50"/>
          </a:solidFill>
          <a:ln xmlns:a="http://schemas.openxmlformats.org/drawingml/2006/main" w="0">
            <a:solidFill>
              <a:srgbClr val="075D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2A9C4-AF5E-4B58-9A5C-B70BF7FF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00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E"/>
                </a:solidFill>
              </a:defRPr>
            </a:pPr>
            <a:r>
              <a:rPr sz="1050" b="1">
                <a:solidFill>
                  <a:srgbClr val="66716E"/>
                </a:solidFill>
              </a:rPr>
              <a:t>10191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ED7B9-F1E4-4C15-8845-8B95CA8A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81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7"/>
                </a:solidFill>
              </a:defRPr>
            </a:pPr>
            <a:r>
              <a:rPr sz="1350" b="1">
                <a:solidFill>
                  <a:srgbClr val="111817"/>
                </a:solidFill>
              </a:rPr>
              <a:t>Turmeric Ground 3oz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AE981-8FAF-4058-A5EC-141A10FF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E"/>
                </a:solidFill>
              </a:defRPr>
            </a:pPr>
            <a:r>
              <a:rPr sz="1125" b="0">
                <a:solidFill>
                  <a:srgbClr val="66716E"/>
                </a:solidFill>
              </a:rPr>
              <a:t>12 × 3oz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052B6-9C12-46B4-88D0-532DD7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76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3473E"/>
          </a:solidFill>
          <a:ln xmlns:a="http://schemas.openxmlformats.org/drawingml/2006/main" w="9525">
            <a:solidFill>
              <a:srgbClr val="0347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6413E-6F90-4886-96A9-A9D2795C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813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E28A7-E9FA-4241-8500-79A6B8E6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DED6"/>
                </a:solidFill>
              </a:defRPr>
            </a:pPr>
            <a:r>
              <a:rPr sz="1425" b="1">
                <a:solidFill>
                  <a:srgbClr val="B9DED6"/>
                </a:solidFill>
              </a:rPr>
              <a:t>products 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6241D-10DC-43A1-89EF-E16BE7F4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43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DED6"/>
                </a:solidFill>
              </a:defRPr>
            </a:pPr>
            <a:r>
              <a:rPr sz="975" b="1">
                <a:solidFill>
                  <a:srgbClr val="B9DED6"/>
                </a:solidFill>
              </a:rPr>
              <a:t>Prices visible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FC65B-C5C1-4746-B16F-A8C64A28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71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33B1C-EA91-4FA8-B636-745EC81E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ORDER DESK  ·  SALES-INITIATED ORDER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93A33-9280-49CB-81A7-F5B6C52A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2654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C85EB-E8D7-4482-8451-548380AE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D50"/>
                </a:solidFill>
              </a:defRPr>
            </a:pPr>
            <a:r>
              <a:rPr sz="975" b="1">
                <a:solidFill>
                  <a:srgbClr val="075D50"/>
                </a:solidFill>
              </a:rPr>
              <a:t>STEP 4 · SEND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0B7F-C30C-4AF4-8364-4C79D85D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17"/>
                </a:solidFill>
              </a:defRPr>
            </a:pPr>
            <a:r>
              <a:rPr sz="2850" b="1">
                <a:solidFill>
                  <a:srgbClr val="111817"/>
                </a:solidFill>
              </a:rPr>
              <a:t>One click creates the customer’s secure 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D41B7-74DB-47A5-8F3B-36BBCD13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E"/>
                </a:solidFill>
              </a:defRPr>
            </a:pPr>
            <a:r>
              <a:rPr sz="1425" b="0">
                <a:solidFill>
                  <a:srgbClr val="66716E"/>
                </a:solidFill>
              </a:rPr>
              <a:t>The rep can copy it into email, text, or WhatsApp and preview the customer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7E13B-185C-4FC8-8410-99A58640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2641D-FB87-4B08-B905-7F88EA12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D50"/>
                </a:solidFill>
              </a:defRPr>
            </a:pPr>
            <a:r>
              <a:rPr sz="975" b="1">
                <a:solidFill>
                  <a:srgbClr val="075D50"/>
                </a:solidFill>
              </a:rPr>
              <a:t>ORDER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4772A-98EA-46C2-973D-264107D0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17"/>
                </a:solidFill>
              </a:defRPr>
            </a:pPr>
            <a:r>
              <a:rPr sz="2250" b="1">
                <a:solidFill>
                  <a:srgbClr val="111817"/>
                </a:solidFill>
              </a:rPr>
              <a:t>OL-2026-0048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901DE-D8A2-4DE3-85A0-DBA107FF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E"/>
                </a:solidFill>
              </a:defRPr>
            </a:pPr>
            <a:r>
              <a:rPr sz="1275" b="0">
                <a:solidFill>
                  <a:srgbClr val="66716E"/>
                </a:solidFill>
              </a:rPr>
              <a:t>omniorder…/?list=OL-2026-0048&amp;customer=valley-market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69778-128D-4714-9473-864EB9DE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75D50"/>
          </a:solidFill>
          <a:ln xmlns:a="http://schemas.openxmlformats.org/drawingml/2006/main" w="9525">
            <a:solidFill>
              <a:srgbClr val="075D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822BE-A8D3-4945-81E6-F7735573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Generate &amp; copy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958B6-3E5E-4555-9477-F042C893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17"/>
                </a:solidFill>
              </a:defRPr>
            </a:pPr>
            <a:r>
              <a:rPr sz="1650" b="1">
                <a:solidFill>
                  <a:srgbClr val="111817"/>
                </a:solidFill>
              </a:rPr>
              <a:t>Customer action: enter quantities and send the completed list back to sales.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6CB5F-3CFC-463F-93B7-844D0FB2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ORDER DESK  ·  SALES-INITIATED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53198-301B-4016-9D4F-04643493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6654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FA59F-3A79-45B8-8580-3AA01FE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D50"/>
                </a:solidFill>
              </a:defRPr>
            </a:pPr>
            <a:r>
              <a:rPr sz="975" b="1">
                <a:solidFill>
                  <a:srgbClr val="075D50"/>
                </a:solidFill>
              </a:rPr>
              <a:t>STEP 5 · CUSTOMER QUANTITIES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89454-577C-45DA-91F1-FA41A96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17"/>
                </a:solidFill>
              </a:defRPr>
            </a:pPr>
            <a:r>
              <a:rPr sz="2850" b="1">
                <a:solidFill>
                  <a:srgbClr val="111817"/>
                </a:solidFill>
              </a:rPr>
              <a:t>The customer sees only the products sales selected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B5218-8AB4-49E7-ADB1-CC740B4F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E"/>
                </a:solidFill>
              </a:defRPr>
            </a:pPr>
            <a:r>
              <a:rPr sz="1425" b="0">
                <a:solidFill>
                  <a:srgbClr val="66716E"/>
                </a:solidFill>
              </a:rPr>
              <a:t>They enter quantities, confirm delivery details, and submit the list—still without prices.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2D0B8-6BA3-4E3F-8185-30CD06FD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810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6963D-8930-4ABD-91B6-64FFE402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D50"/>
                </a:solidFill>
              </a:defRPr>
            </a:pPr>
            <a:r>
              <a:rPr sz="975" b="1">
                <a:solidFill>
                  <a:srgbClr val="075D50"/>
                </a:solidFill>
              </a:rPr>
              <a:t>SHARED ORDER LIST  ·  OL-2026-0048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33198-A856-41A6-86D6-3143238C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17"/>
                </a:solidFill>
              </a:defRPr>
            </a:pPr>
            <a:r>
              <a:rPr sz="1875" b="1">
                <a:solidFill>
                  <a:srgbClr val="111817"/>
                </a:solidFill>
              </a:rPr>
              <a:t>Prepared for Valley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D428C-A8B0-4A98-9F91-F29622ED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7"/>
                </a:solidFill>
              </a:defRPr>
            </a:pPr>
            <a:r>
              <a:rPr sz="1350" b="1">
                <a:solidFill>
                  <a:srgbClr val="111817"/>
                </a:solidFill>
              </a:rPr>
              <a:t>All Spice Ground 3oz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F2F21-CC52-4C0B-8B41-854D4F03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575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6D29D-921E-457E-B201-59B8CBC6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17"/>
                </a:solidFill>
              </a:defRPr>
            </a:pPr>
            <a:r>
              <a:rPr sz="1275" b="1">
                <a:solidFill>
                  <a:srgbClr val="111817"/>
                </a:solidFill>
              </a:rPr>
              <a:t>−     6     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6962C-FD99-4EEF-9548-3DE396A2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7"/>
                </a:solidFill>
              </a:defRPr>
            </a:pPr>
            <a:r>
              <a:rPr sz="1350" b="1">
                <a:solidFill>
                  <a:srgbClr val="111817"/>
                </a:solidFill>
              </a:rPr>
              <a:t>Cumin Seeds 3oz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E4366-3986-4685-8DFF-04CA2680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481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F3BFF-76A2-43E1-A13D-34A1FE4D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17"/>
                </a:solidFill>
              </a:defRPr>
            </a:pPr>
            <a:r>
              <a:rPr sz="1275" b="1">
                <a:solidFill>
                  <a:srgbClr val="111817"/>
                </a:solidFill>
              </a:rPr>
              <a:t>−     8     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4E253-FB0B-4606-8016-05E649C7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7"/>
                </a:solidFill>
              </a:defRPr>
            </a:pPr>
            <a:r>
              <a:rPr sz="1350" b="1">
                <a:solidFill>
                  <a:srgbClr val="111817"/>
                </a:solidFill>
              </a:rPr>
              <a:t>Cardamom Green 2oz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82123-39EB-4B9F-B442-047B69A7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386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FEDEE-3E89-4614-BEAA-F8CCD8C2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17"/>
                </a:solidFill>
              </a:defRPr>
            </a:pPr>
            <a:r>
              <a:rPr sz="1275" b="1">
                <a:solidFill>
                  <a:srgbClr val="111817"/>
                </a:solidFill>
              </a:rPr>
              <a:t>−     4     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2619C-45E5-4716-B1DE-0E1A2CA3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4625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FFF0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3606F-D17A-4B42-86F3-7FF33F15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52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E66A00"/>
                </a:solidFill>
              </a:defRPr>
            </a:pPr>
            <a:r>
              <a:rPr sz="3900" b="1">
                <a:solidFill>
                  <a:srgbClr val="E66A00"/>
                </a:solidFill>
              </a:rPr>
              <a:t>$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1AD44-9F4B-4BDD-8AA5-02264254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17"/>
                </a:solidFill>
              </a:defRPr>
            </a:pPr>
            <a:r>
              <a:rPr sz="1500" b="1">
                <a:solidFill>
                  <a:srgbClr val="111817"/>
                </a:solidFill>
              </a:rPr>
              <a:t>No price</a:t>
            </a:r>
          </a:p>
          <a:p xmlns:a="http://schemas.openxmlformats.org/drawingml/2006/main">
            <a:pPr algn="ctr">
              <a:defRPr sz="1500" b="1">
                <a:solidFill>
                  <a:srgbClr val="111817"/>
                </a:solidFill>
              </a:defRPr>
            </a:pPr>
            <a:r>
              <a:rPr sz="1500" b="1">
                <a:solidFill>
                  <a:srgbClr val="111817"/>
                </a:solidFill>
              </a:rPr>
              <a:t>until pro-forma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4A9BB-93B4-463C-986E-A9D01CB5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ORDER DESK  ·  SALES-INITIATED 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9AD5E-ED7A-4D7C-BF1A-1B70AF77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7047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88F9A-836D-418B-919E-3B488A13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D50"/>
                </a:solidFill>
              </a:defRPr>
            </a:pPr>
            <a:r>
              <a:rPr sz="975" b="1">
                <a:solidFill>
                  <a:srgbClr val="075D50"/>
                </a:solidFill>
              </a:rPr>
              <a:t>STEP 6 · RETURNED TO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A670E-E985-400C-9708-8772BC4E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17"/>
                </a:solidFill>
              </a:defRPr>
            </a:pPr>
            <a:r>
              <a:rPr sz="2850" b="1">
                <a:solidFill>
                  <a:srgbClr val="111817"/>
                </a:solidFill>
              </a:rPr>
              <a:t>The completed list becomes a normal order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5DEE0-9B14-4625-A550-003FEFF2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E"/>
                </a:solidFill>
              </a:defRPr>
            </a:pPr>
            <a:r>
              <a:rPr sz="1425" b="0">
                <a:solidFill>
                  <a:srgbClr val="66716E"/>
                </a:solidFill>
              </a:rPr>
              <a:t>Sales reviews stock and adds pricing without re-entering the customer’s quantities.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F72A7-0FF7-4382-8FEE-286557C0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C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F1EF7-20F0-4BE0-B3E4-15D593B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D50"/>
          </a:solidFill>
          <a:ln xmlns:a="http://schemas.openxmlformats.org/drawingml/2006/main" w="0">
            <a:solidFill>
              <a:srgbClr val="075D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8A500-E2C9-457D-BB40-986DFD14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D50"/>
                </a:solidFill>
              </a:defRPr>
            </a:pPr>
            <a:r>
              <a:rPr sz="975" b="1">
                <a:solidFill>
                  <a:srgbClr val="075D50"/>
                </a:solidFill>
              </a:rPr>
              <a:t>NEW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E967D-E068-4CF2-90C9-61FE7408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17"/>
                </a:solidFill>
              </a:defRPr>
            </a:pPr>
            <a:r>
              <a:rPr sz="2175" b="1">
                <a:solidFill>
                  <a:srgbClr val="111817"/>
                </a:solidFill>
              </a:rPr>
              <a:t>OR-2026-0137  ·  Valley 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33961-69E4-4EBD-BCE2-CAE6F737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E"/>
                </a:solidFill>
              </a:defRPr>
            </a:pPr>
            <a:r>
              <a:rPr sz="1350" b="0">
                <a:solidFill>
                  <a:srgbClr val="66716E"/>
                </a:solidFill>
              </a:rPr>
              <a:t>4 product lines  ·  Submitted from OL-2026-0048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05F8A-C6E8-41C8-82EF-15A1FB72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75D50"/>
          </a:solidFill>
          <a:ln xmlns:a="http://schemas.openxmlformats.org/drawingml/2006/main" w="9525">
            <a:solidFill>
              <a:srgbClr val="075D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44060-6781-4BCA-A1A7-6CF3C0F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Create pro-forma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B404A-0F48-499B-8A8B-54DC62F7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7"/>
                </a:solidFill>
              </a:defRPr>
            </a:pPr>
            <a:r>
              <a:rPr sz="1500" b="1">
                <a:solidFill>
                  <a:srgbClr val="111817"/>
                </a:solidFill>
              </a:rPr>
              <a:t>Original requested quantities remain traceable throughout review and quotation.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9CA09-5D1D-4406-92A6-6D225BE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ORDER DESK  ·  SALES-INITIATED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1C1F3-C809-4C53-ABB1-5E295DFE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16E"/>
                </a:solidFill>
              </a:defRPr>
            </a:pPr>
            <a:r>
              <a:rPr sz="825" b="1">
                <a:solidFill>
                  <a:srgbClr val="66716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1403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347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49EB7-9C6D-49A7-8B3A-29C25CB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DED6"/>
                </a:solidFill>
              </a:defRPr>
            </a:pPr>
            <a:r>
              <a:rPr sz="1050" b="1">
                <a:solidFill>
                  <a:srgbClr val="B9DED6"/>
                </a:solidFill>
              </a:rPr>
              <a:t>THE SAME PROCESS CONTINUES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D69EE-B71F-4886-99A9-43D4F782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Targeted list in.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Invoice 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17C47-2F85-42F6-ACBA-13426584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18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8B94A-D447-425E-8CF6-A35D6B88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00"/>
          </a:solidFill>
          <a:ln xmlns:a="http://schemas.openxmlformats.org/drawingml/2006/main" w="0">
            <a:solidFill>
              <a:srgbClr val="E6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6AC77-D23A-407C-A119-F2C9EC81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Sales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FA16F-FF67-43EE-A2C5-0FC3C593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81400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18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8F779-F45F-4869-B3DF-40D4E860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33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D50"/>
                </a:solidFill>
              </a:defRPr>
            </a:pPr>
            <a:r>
              <a:rPr sz="1275" b="1">
                <a:solidFill>
                  <a:srgbClr val="075D50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4A0B7-8295-45F0-945F-1698E1B4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9575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Pro-forma sent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29D27-D3BC-4BBB-90A0-87475B3F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81400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1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B3782-19A5-4ECE-96D7-6BA192FF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D50"/>
                </a:solidFill>
              </a:defRPr>
            </a:pPr>
            <a:r>
              <a:rPr sz="1275" b="1">
                <a:solidFill>
                  <a:srgbClr val="075D50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0DD4B-B1EF-429D-9907-20BB7B9C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9575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Customer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EC7D2-1865-421E-B2B2-093582DB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1400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1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46FAD-10BB-4FBD-B788-DF93AAAF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D50"/>
                </a:solidFill>
              </a:defRPr>
            </a:pPr>
            <a:r>
              <a:rPr sz="1275" b="1">
                <a:solidFill>
                  <a:srgbClr val="075D50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C0E43-11FA-45A5-9C26-E62DF67A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014A0-AACE-4B31-A184-F810BCC7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1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6B5B6-1908-4BA8-9899-5AF7FEB6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D50"/>
                </a:solidFill>
              </a:defRPr>
            </a:pPr>
            <a:r>
              <a:rPr sz="1275" b="1">
                <a:solidFill>
                  <a:srgbClr val="075D50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B7C22-599D-42EF-8B8C-BFCCF1B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Dispatch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33FD5-279F-48AA-8D47-CA59E773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33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00"/>
          </a:solidFill>
          <a:ln xmlns:a="http://schemas.openxmlformats.org/drawingml/2006/main" w="0">
            <a:solidFill>
              <a:srgbClr val="E6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D5F0B-4F8C-440C-B3F8-7CE94FF4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9575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Final invoice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3821B-ABC7-4674-B39C-959100A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0287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78110-BEA3-4766-860A-902A9591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17"/>
                </a:solidFill>
              </a:defRPr>
            </a:pPr>
            <a:r>
              <a:rPr sz="1500" b="1">
                <a:solidFill>
                  <a:srgbClr val="111817"/>
                </a:solidFill>
              </a:rPr>
              <a:t>The only new step is how the request begins. Every downstream control stays the same.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141A9-F646-4FB1-B6F1-037B8BB0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DED6"/>
                </a:solidFill>
              </a:defRPr>
            </a:pPr>
            <a:r>
              <a:rPr sz="825" b="1">
                <a:solidFill>
                  <a:srgbClr val="B9DED6"/>
                </a:solidFill>
              </a:rPr>
              <a:t>ORDER DESK  ·  SALES-INITIATED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2FAE5-B248-49F6-A224-C1E2097E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DED6"/>
                </a:solidFill>
              </a:defRPr>
            </a:pPr>
            <a:r>
              <a:rPr sz="825" b="1">
                <a:solidFill>
                  <a:srgbClr val="B9DED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2626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2026-08-07T20:25:40.8660000Z</dcterms:created>
  <dcterms:modified xsi:type="dcterms:W3CDTF">2026-08-07T20:25:40.8660000Z</dcterms:modified>
</coreProperties>
</file>