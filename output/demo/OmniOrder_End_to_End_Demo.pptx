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e31b0aa8a84592" /><Relationship Type="http://schemas.openxmlformats.org/officeDocument/2006/relationships/extended-properties" Target="/docProps/app.xml" Id="R70e2607ff24d41c3" /><Relationship Type="http://schemas.openxmlformats.org/officeDocument/2006/relationships/officeDocument" Target="/ppt/presentation.xml" Id="R0eda27a9c38d4e3c" /></Relationships>
</file>

<file path=ppt/presentation.xml><?xml version="1.0" encoding="utf-8"?>
<p:presentation xmlns:p="http://schemas.openxmlformats.org/presentationml/2006/main">
  <p:sldMasterIdLst>
    <p:sldMasterId xmlns:r="http://schemas.openxmlformats.org/officeDocument/2006/relationships" id="2147483648" r:id="R6287c28414164f5d"/>
  </p:sldMasterIdLst>
  <p:notesMasterIdLst>
    <p:notesMasterId xmlns:r="http://schemas.openxmlformats.org/officeDocument/2006/relationships" r:id="R8f3370cf26ff40b9"/>
  </p:notesMasterIdLst>
  <p:sldIdLst>
    <p:sldId xmlns:r="http://schemas.openxmlformats.org/officeDocument/2006/relationships" id="256" r:id="R602e3e593f4040a2"/>
    <p:sldId xmlns:r="http://schemas.openxmlformats.org/officeDocument/2006/relationships" id="257" r:id="Rac16977183fa48ac"/>
    <p:sldId xmlns:r="http://schemas.openxmlformats.org/officeDocument/2006/relationships" id="258" r:id="R59c43c0823ac4b19"/>
    <p:sldId xmlns:r="http://schemas.openxmlformats.org/officeDocument/2006/relationships" id="259" r:id="Rb73c1b42f618437f"/>
    <p:sldId xmlns:r="http://schemas.openxmlformats.org/officeDocument/2006/relationships" id="260" r:id="R3509c58d922e4894"/>
    <p:sldId xmlns:r="http://schemas.openxmlformats.org/officeDocument/2006/relationships" id="261" r:id="R3bcebb7888e446ab"/>
    <p:sldId xmlns:r="http://schemas.openxmlformats.org/officeDocument/2006/relationships" id="262" r:id="Rbb2f2c88aa1c47b9"/>
    <p:sldId xmlns:r="http://schemas.openxmlformats.org/officeDocument/2006/relationships" id="263" r:id="R98fd611446d04ad1"/>
    <p:sldId xmlns:r="http://schemas.openxmlformats.org/officeDocument/2006/relationships" id="264" r:id="R57f19eee048a413e"/>
    <p:sldId xmlns:r="http://schemas.openxmlformats.org/officeDocument/2006/relationships" id="265" r:id="Re0ddaa8c333647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8f610efb324ef4" /><Relationship Type="http://schemas.openxmlformats.org/officeDocument/2006/relationships/slideMaster" Target="/ppt/slideMasters/slideMaster1.xml" Id="R6287c28414164f5d" /><Relationship Type="http://schemas.openxmlformats.org/officeDocument/2006/relationships/notesMaster" Target="/ppt/notesMasters/notesMaster1.xml" Id="R8f3370cf26ff40b9" /><Relationship Type="http://schemas.openxmlformats.org/officeDocument/2006/relationships/presProps" Target="/ppt/presProps.xml" Id="R136f0e1199fe422d" /><Relationship Type="http://schemas.openxmlformats.org/officeDocument/2006/relationships/tableStyles" Target="/ppt/tableStyles.xml" Id="R5c92a0fad07a4856" /><Relationship Type="http://schemas.openxmlformats.org/officeDocument/2006/relationships/slide" Target="/ppt/slides/slide1.xml" Id="R602e3e593f4040a2" /><Relationship Type="http://schemas.openxmlformats.org/officeDocument/2006/relationships/slide" Target="/ppt/slides/slide2.xml" Id="Rac16977183fa48ac" /><Relationship Type="http://schemas.openxmlformats.org/officeDocument/2006/relationships/slide" Target="/ppt/slides/slide3.xml" Id="R59c43c0823ac4b19" /><Relationship Type="http://schemas.openxmlformats.org/officeDocument/2006/relationships/slide" Target="/ppt/slides/slide4.xml" Id="Rb73c1b42f618437f" /><Relationship Type="http://schemas.openxmlformats.org/officeDocument/2006/relationships/slide" Target="/ppt/slides/slide5.xml" Id="R3509c58d922e4894" /><Relationship Type="http://schemas.openxmlformats.org/officeDocument/2006/relationships/slide" Target="/ppt/slides/slide6.xml" Id="R3bcebb7888e446ab" /><Relationship Type="http://schemas.openxmlformats.org/officeDocument/2006/relationships/slide" Target="/ppt/slides/slide7.xml" Id="Rbb2f2c88aa1c47b9" /><Relationship Type="http://schemas.openxmlformats.org/officeDocument/2006/relationships/slide" Target="/ppt/slides/slide8.xml" Id="R98fd611446d04ad1" /><Relationship Type="http://schemas.openxmlformats.org/officeDocument/2006/relationships/slide" Target="/ppt/slides/slide9.xml" Id="R57f19eee048a413e" /><Relationship Type="http://schemas.openxmlformats.org/officeDocument/2006/relationships/slide" Target="/ppt/slides/slide10.xml" Id="Re0ddaa8c333647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9e5a984a4340e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475d5ed11244b2" /><Relationship Type="http://schemas.openxmlformats.org/officeDocument/2006/relationships/notesMaster" Target="/ppt/notesMasters/notesMaster1.xml" Id="Re82e80affbf44a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081d2e100548c9" /><Relationship Type="http://schemas.openxmlformats.org/officeDocument/2006/relationships/notesMaster" Target="/ppt/notesMasters/notesMaster1.xml" Id="R8cc44df374104b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f9e0eadd32114d97" /><Relationship Type="http://schemas.openxmlformats.org/officeDocument/2006/relationships/notesMaster" Target="/ppt/notesMasters/notesMaster1.xml" Id="Rc17efdeec3884b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43471b93864907" /><Relationship Type="http://schemas.openxmlformats.org/officeDocument/2006/relationships/notesMaster" Target="/ppt/notesMasters/notesMaster1.xml" Id="Recf59eae768c4e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c04d466cdc4fc7" /><Relationship Type="http://schemas.openxmlformats.org/officeDocument/2006/relationships/notesMaster" Target="/ppt/notesMasters/notesMaster1.xml" Id="Rc21c53a9946f4d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c8582f1b3346f6" /><Relationship Type="http://schemas.openxmlformats.org/officeDocument/2006/relationships/notesMaster" Target="/ppt/notesMasters/notesMaster1.xml" Id="R088f0db06cdf4ec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fab7abfba94b12" /><Relationship Type="http://schemas.openxmlformats.org/officeDocument/2006/relationships/notesMaster" Target="/ppt/notesMasters/notesMaster1.xml" Id="Ra4a9073d19f84e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6a1a03d9fd4e81" /><Relationship Type="http://schemas.openxmlformats.org/officeDocument/2006/relationships/notesMaster" Target="/ppt/notesMasters/notesMaster1.xml" Id="R6d524c8ecb6e47ec" /></Relationships>
</file>

<file path=ppt/notesSlides/_rels/notesSlide9.xml.rels>&#65279;<?xml version="1.0" encoding="utf-8"?><Relationships xmlns="http://schemas.openxmlformats.org/package/2006/relationships"><Relationship Type="http://schemas.openxmlformats.org/officeDocument/2006/relationships/slide" Target="/ppt/slides/slide9.xml" Id="R22cff1fb287a49b8" /><Relationship Type="http://schemas.openxmlformats.org/officeDocument/2006/relationships/notesMaster" Target="/ppt/notesMasters/notesMaster1.xml" Id="R7d4e9119673941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88f1bcf82a4090" /><Relationship Type="http://schemas.openxmlformats.org/officeDocument/2006/relationships/notesMaster" Target="/ppt/notesMasters/notesMaster1.xml" Id="Rd336e8bb75c24cf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explaining that the demo follows one order all the way through. The key promise is no retyping between customer request, sales quotation, distribution, and invoicing.</a:t>
            </a:r>
          </a:p>
          <a:p xmlns:a="http://schemas.openxmlformats.org/drawingml/2006/main">
            <a:r>
              <a:t/>
            </a:r>
          </a:p>
          <a:p xmlns:a="http://schemas.openxmlformats.org/drawingml/2006/main">
            <a:r>
              <a:t>[Sources]</a:t>
            </a:r>
          </a:p>
          <a:p xmlns:a="http://schemas.openxmlformats.org/drawingml/2006/main">
            <a:r>
              <a:t>- OmniOrder MVP application and implementation blueprint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on the public home page. Point out the separate Sales Rep and Place an Order paths. Customers can use a direct shared link, or the access code plus their email. Mention the assigned sales rep and tap-to-call number at the top.</a:t>
            </a:r>
          </a:p>
          <a:p xmlns:a="http://schemas.openxmlformats.org/drawingml/2006/main">
            <a:r>
              <a:t/>
            </a:r>
          </a:p>
          <a:p xmlns:a="http://schemas.openxmlformats.org/drawingml/2006/main">
            <a:r>
              <a:t>[Sources]</a:t>
            </a:r>
          </a:p>
          <a:p xmlns:a="http://schemas.openxmlformats.org/drawingml/2006/main">
            <a:r>
              <a:t>- User-provided Order Desk home-page design screenshot; OmniOrder MVP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search, category filters, stock badges, and quantity controls. Stress that the customer sees no unit prices or totals. The order review clearly says this is only a request and does not reserve stock.</a:t>
            </a:r>
          </a:p>
          <a:p xmlns:a="http://schemas.openxmlformats.org/drawingml/2006/main">
            <a:r>
              <a:t/>
            </a:r>
          </a:p>
          <a:p xmlns:a="http://schemas.openxmlformats.org/drawingml/2006/main">
            <a:r>
              <a:t>[Sources]</a:t>
            </a:r>
          </a:p>
          <a:p xmlns:a="http://schemas.openxmlformats.org/drawingml/2006/main">
            <a:r>
              <a:t>- OmniOrder MVP application and implementation blueprint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sales workspace. Show the products and inventory page: CSV import, product editing, sales-only pricing, exact stock, and customer visibility controls. The source list maps 848 SKUs; the MVP uses representative seeded items for the live workflow.</a:t>
            </a:r>
          </a:p>
          <a:p xmlns:a="http://schemas.openxmlformats.org/drawingml/2006/main">
            <a:r>
              <a:t/>
            </a:r>
          </a:p>
          <a:p xmlns:a="http://schemas.openxmlformats.org/drawingml/2006/main">
            <a:r>
              <a:t>[Sources]</a:t>
            </a:r>
          </a:p>
          <a:p xmlns:a="http://schemas.openxmlformats.org/drawingml/2006/main">
            <a:r>
              <a:t>- User-provided Order Desk products-and-inventory design screenshot; OmniOrder MVP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newly received order. Compare requested quantities against exact inventory. Explain that sales can revise quantities, add unit prices, tax, freight, payment terms, and customer notes while preserving the original request.</a:t>
            </a:r>
          </a:p>
          <a:p xmlns:a="http://schemas.openxmlformats.org/drawingml/2006/main">
            <a:r>
              <a:t/>
            </a:r>
          </a:p>
          <a:p xmlns:a="http://schemas.openxmlformats.org/drawingml/2006/main">
            <a:r>
              <a:t>[Sources]</a:t>
            </a:r>
          </a:p>
          <a:p xmlns:a="http://schemas.openxmlformats.org/drawingml/2006/main">
            <a:r>
              <a:t>- OmniOrder MVP application and implementation blueprint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Create PF-2026-0042. This is the first customer-facing state that contains pricing. Explain that the pro-forma is a frozen snapshot with its own number, validity date, payment terms, and secure link or PDF.</a:t>
            </a:r>
          </a:p>
          <a:p xmlns:a="http://schemas.openxmlformats.org/drawingml/2006/main">
            <a:r>
              <a:t/>
            </a:r>
          </a:p>
          <a:p xmlns:a="http://schemas.openxmlformats.org/drawingml/2006/main">
            <a:r>
              <a:t>[Sources]</a:t>
            </a:r>
          </a:p>
          <a:p xmlns:a="http://schemas.openxmlformats.org/drawingml/2006/main">
            <a:r>
              <a:t>- OmniOrder MVP application and implementation blueprint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secure customer document. Point out the assigned rep and phone number, the total, PDF download, Request changes, and Approve pro-forma actions. If approval arrives by phone or WhatsApp, sales can record it without breaking the history.</a:t>
            </a:r>
          </a:p>
          <a:p xmlns:a="http://schemas.openxmlformats.org/drawingml/2006/main">
            <a:r>
              <a:t/>
            </a:r>
          </a:p>
          <a:p xmlns:a="http://schemas.openxmlformats.org/drawingml/2006/main">
            <a:r>
              <a:t>[Sources]</a:t>
            </a:r>
          </a:p>
          <a:p xmlns:a="http://schemas.openxmlformats.org/drawingml/2006/main">
            <a:r>
              <a:t>- OmniOrder MVP application and implementation blueprint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Move to the shared fulfillment timeline. Distribution only sees the order after approval. Walk through pick, pack, and dispatch. The key control is that dispatch—not approval—is the trigger for the actual invoice.</a:t>
            </a:r>
          </a:p>
          <a:p xmlns:a="http://schemas.openxmlformats.org/drawingml/2006/main">
            <a:r>
              <a:t/>
            </a:r>
          </a:p>
          <a:p xmlns:a="http://schemas.openxmlformats.org/drawingml/2006/main">
            <a:r>
              <a:t>[Sources]</a:t>
            </a:r>
          </a:p>
          <a:p xmlns:a="http://schemas.openxmlformats.org/drawingml/2006/main">
            <a:r>
              <a:t>- OmniOrder MVP application and implementation blueprint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 the shipment dispatched. Show that INV-2026-0028 is a separate immutable business document linked to PF-2026-0042 and the original request. The customer receives it automatically, with the sales representative copied.</a:t>
            </a:r>
          </a:p>
          <a:p xmlns:a="http://schemas.openxmlformats.org/drawingml/2006/main">
            <a:r>
              <a:t/>
            </a:r>
          </a:p>
          <a:p xmlns:a="http://schemas.openxmlformats.org/drawingml/2006/main">
            <a:r>
              <a:t>[Sources]</a:t>
            </a:r>
          </a:p>
          <a:p xmlns:a="http://schemas.openxmlformats.org/drawingml/2006/main">
            <a:r>
              <a:t>- OmniOrder MVP application and implementation blueprint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restating the control points: price privacy before pro-forma, an explicit customer approval, distribution visibility only after approval, and invoice issuance only after dispatch. The next implementation phase makes this workflow durable and multi-user.</a:t>
            </a:r>
          </a:p>
          <a:p xmlns:a="http://schemas.openxmlformats.org/drawingml/2006/main">
            <a:r>
              <a:t/>
            </a:r>
          </a:p>
          <a:p xmlns:a="http://schemas.openxmlformats.org/drawingml/2006/main">
            <a:r>
              <a:t>[Sources]</a:t>
            </a:r>
          </a:p>
          <a:p xmlns:a="http://schemas.openxmlformats.org/drawingml/2006/main">
            <a:r>
              <a:t>- OmniOrder MVP application and implementation blueprint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712df656f34fa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f58462e514249ef" /><Relationship Type="http://schemas.openxmlformats.org/officeDocument/2006/relationships/slideLayout" Target="/ppt/slideLayouts/slideLayout1.xml" Id="R2f6d96a2efc4450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6d96a2efc4450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44c8ccb918a4553" /><Relationship Type="http://schemas.openxmlformats.org/officeDocument/2006/relationships/notesSlide" Target="/ppt/notesSlides/notesSlide1.xml" Id="R8c39c3daf08548f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615067ce7b24544" /><Relationship Type="http://schemas.openxmlformats.org/officeDocument/2006/relationships/image" Target="/ppt/media/image.png" Id="R2f7d0eb142d7431b" /><Relationship Type="http://schemas.openxmlformats.org/officeDocument/2006/relationships/notesSlide" Target="/ppt/notesSlides/notesSlide2.xml" Id="R1fb284d8b6474b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50b3fd6cf7d4a8e" /><Relationship Type="http://schemas.openxmlformats.org/officeDocument/2006/relationships/notesSlide" Target="/ppt/notesSlides/notesSlide3.xml" Id="R69e2037c12834a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a1c1c561d4a4550" /><Relationship Type="http://schemas.openxmlformats.org/officeDocument/2006/relationships/image" Target="/ppt/media/image2.png" Id="R258b681f659f451f" /><Relationship Type="http://schemas.openxmlformats.org/officeDocument/2006/relationships/notesSlide" Target="/ppt/notesSlides/notesSlide4.xml" Id="R6a1f38f7d59f4e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340ebea4a64e09" /><Relationship Type="http://schemas.openxmlformats.org/officeDocument/2006/relationships/notesSlide" Target="/ppt/notesSlides/notesSlide5.xml" Id="R9199b8c9246b4a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4750276f964a99" /><Relationship Type="http://schemas.openxmlformats.org/officeDocument/2006/relationships/notesSlide" Target="/ppt/notesSlides/notesSlide6.xml" Id="R51a78a10727e437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8447519cc204882" /><Relationship Type="http://schemas.openxmlformats.org/officeDocument/2006/relationships/notesSlide" Target="/ppt/notesSlides/notesSlide7.xml" Id="R82ea35ae878848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21ec7269924fe9" /><Relationship Type="http://schemas.openxmlformats.org/officeDocument/2006/relationships/notesSlide" Target="/ppt/notesSlides/notesSlide8.xml" Id="R874c5cc25b0c45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fde2abc03854fbd" /><Relationship Type="http://schemas.openxmlformats.org/officeDocument/2006/relationships/notesSlide" Target="/ppt/notesSlides/notesSlide9.xml" Id="Rd9d698773dbe47e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0219767b9f4483" /><Relationship Type="http://schemas.openxmlformats.org/officeDocument/2006/relationships/notesSlide" Target="/ppt/notesSlides/notesSlide10.xml" Id="Re785923dcc43431b" /></Relationships>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AA89931-BD4D-4C4D-A362-16686BF6D038}"/>
              </a:ext>
            </a:extLst>
          </p:cNvPr>
          <p:cNvSpPr>
            <a:spLocks xmlns:a="http://schemas.openxmlformats.org/drawingml/2006/main" noGrp="1"/>
          </p:cNvSpPr>
          <p:nvPr/>
        </p:nvSpPr>
        <p:spPr>
          <a:xfrm xmlns:a="http://schemas.openxmlformats.org/drawingml/2006/main">
            <a:off x="704850" y="5524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FFFF"/>
                </a:solidFill>
              </a:defRPr>
            </a:pPr>
            <a:r>
              <a:rPr sz="1650" b="1">
                <a:solidFill>
                  <a:srgbClr val="FFFFFF"/>
                </a:solidFill>
              </a:rPr>
              <a:t>OD</a:t>
            </a:r>
          </a:p>
        </p:txBody>
      </p:sp>
      <p:sp>
        <p:nvSpPr>
          <p:cNvPr id="2" name="">
            <a:extLst xmlns:a="http://schemas.openxmlformats.org/drawingml/2006/main">
              <a:ext uri="{FF2B5EF4-FFF2-40B4-BE49-F238E27FC236}">
                <a16:creationId xmlns:a16="http://schemas.microsoft.com/office/drawing/2014/main" id="{6197FF4A-30C0-4547-B08C-8BF4557162E9}"/>
              </a:ext>
            </a:extLst>
          </p:cNvPr>
          <p:cNvSpPr>
            <a:spLocks xmlns:a="http://schemas.openxmlformats.org/drawingml/2006/main" noGrp="1"/>
          </p:cNvSpPr>
          <p:nvPr/>
        </p:nvSpPr>
        <p:spPr>
          <a:xfrm xmlns:a="http://schemas.openxmlformats.org/drawingml/2006/main">
            <a:off x="685800" y="533400"/>
            <a:ext cx="590550" cy="590550"/>
          </a:xfrm>
          <a:prstGeom xmlns:a="http://schemas.openxmlformats.org/drawingml/2006/main" prst="roundRect">
            <a:avLst>
              <a:gd name="adj" fmla="val 19355"/>
            </a:avLst>
          </a:prstGeom>
          <a:solidFill xmlns:a="http://schemas.openxmlformats.org/drawingml/2006/main">
            <a:srgbClr val="075D50"/>
          </a:solidFill>
          <a:ln xmlns:a="http://schemas.openxmlformats.org/drawingml/2006/main" w="9525">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FFFFFF"/>
                </a:solidFill>
              </a:defRPr>
            </a:pPr>
            <a:r>
              <a:rPr sz="1650" b="1">
                <a:solidFill>
                  <a:srgbClr val="FFFFFF"/>
                </a:solidFill>
              </a:rPr>
              <a:t>OD</a:t>
            </a:r>
          </a:p>
        </p:txBody>
      </p:sp>
      <p:sp>
        <p:nvSpPr>
          <p:cNvPr id="3" name="">
            <a:extLst xmlns:a="http://schemas.openxmlformats.org/drawingml/2006/main">
              <a:ext uri="{FF2B5EF4-FFF2-40B4-BE49-F238E27FC236}">
                <a16:creationId xmlns:a16="http://schemas.microsoft.com/office/drawing/2014/main" id="{E3F24EB6-3F78-40CA-BCE1-15EA942B1F55}"/>
              </a:ext>
            </a:extLst>
          </p:cNvPr>
          <p:cNvSpPr>
            <a:spLocks xmlns:a="http://schemas.openxmlformats.org/drawingml/2006/main" noGrp="1"/>
          </p:cNvSpPr>
          <p:nvPr/>
        </p:nvSpPr>
        <p:spPr>
          <a:xfrm xmlns:a="http://schemas.openxmlformats.org/drawingml/2006/main">
            <a:off x="685800" y="167640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75D50"/>
                </a:solidFill>
              </a:defRPr>
            </a:pPr>
            <a:r>
              <a:rPr sz="1050" b="1">
                <a:solidFill>
                  <a:srgbClr val="075D50"/>
                </a:solidFill>
              </a:rPr>
              <a:t>OMNIORDER MVP</a:t>
            </a:r>
          </a:p>
        </p:txBody>
      </p:sp>
      <p:sp>
        <p:nvSpPr>
          <p:cNvPr id="4" name="">
            <a:extLst xmlns:a="http://schemas.openxmlformats.org/drawingml/2006/main">
              <a:ext uri="{FF2B5EF4-FFF2-40B4-BE49-F238E27FC236}">
                <a16:creationId xmlns:a16="http://schemas.microsoft.com/office/drawing/2014/main" id="{CB8D05CA-177F-440B-B390-9BA4410EDC9B}"/>
              </a:ext>
            </a:extLst>
          </p:cNvPr>
          <p:cNvSpPr>
            <a:spLocks xmlns:a="http://schemas.openxmlformats.org/drawingml/2006/main" noGrp="1"/>
          </p:cNvSpPr>
          <p:nvPr/>
        </p:nvSpPr>
        <p:spPr>
          <a:xfrm xmlns:a="http://schemas.openxmlformats.org/drawingml/2006/main">
            <a:off x="685800" y="2095500"/>
            <a:ext cx="6858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200" b="1">
                <a:solidFill>
                  <a:srgbClr val="111817"/>
                </a:solidFill>
              </a:defRPr>
            </a:pPr>
            <a:r>
              <a:rPr sz="4200" b="1">
                <a:solidFill>
                  <a:srgbClr val="111817"/>
                </a:solidFill>
              </a:rPr>
              <a:t>One order.</a:t>
            </a:r>
          </a:p>
          <a:p xmlns:a="http://schemas.openxmlformats.org/drawingml/2006/main">
            <a:pPr algn="l">
              <a:defRPr sz="4200" b="1">
                <a:solidFill>
                  <a:srgbClr val="111817"/>
                </a:solidFill>
              </a:defRPr>
            </a:pPr>
            <a:r>
              <a:rPr sz="4200" b="1">
                <a:solidFill>
                  <a:srgbClr val="111817"/>
                </a:solidFill>
              </a:rPr>
              <a:t>One continuous workflow.</a:t>
            </a:r>
          </a:p>
        </p:txBody>
      </p:sp>
      <p:sp>
        <p:nvSpPr>
          <p:cNvPr id="5" name="">
            <a:extLst xmlns:a="http://schemas.openxmlformats.org/drawingml/2006/main">
              <a:ext uri="{FF2B5EF4-FFF2-40B4-BE49-F238E27FC236}">
                <a16:creationId xmlns:a16="http://schemas.microsoft.com/office/drawing/2014/main" id="{A5A5FF86-358A-4D25-8471-085CA52E407D}"/>
              </a:ext>
            </a:extLst>
          </p:cNvPr>
          <p:cNvSpPr>
            <a:spLocks xmlns:a="http://schemas.openxmlformats.org/drawingml/2006/main" noGrp="1"/>
          </p:cNvSpPr>
          <p:nvPr/>
        </p:nvSpPr>
        <p:spPr>
          <a:xfrm xmlns:a="http://schemas.openxmlformats.org/drawingml/2006/main">
            <a:off x="685800" y="3733800"/>
            <a:ext cx="6191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66716E"/>
                </a:solidFill>
              </a:defRPr>
            </a:pPr>
            <a:r>
              <a:rPr sz="1725" b="0">
                <a:solidFill>
                  <a:srgbClr val="66716E"/>
                </a:solidFill>
              </a:rPr>
              <a:t>A complete walkthrough from shared customer catalog to final invoice.</a:t>
            </a:r>
          </a:p>
        </p:txBody>
      </p:sp>
      <p:sp>
        <p:nvSpPr>
          <p:cNvPr id="6" name="">
            <a:extLst xmlns:a="http://schemas.openxmlformats.org/drawingml/2006/main">
              <a:ext uri="{FF2B5EF4-FFF2-40B4-BE49-F238E27FC236}">
                <a16:creationId xmlns:a16="http://schemas.microsoft.com/office/drawing/2014/main" id="{8598507E-C072-4176-A072-FED5FE91248D}"/>
              </a:ext>
            </a:extLst>
          </p:cNvPr>
          <p:cNvSpPr>
            <a:spLocks xmlns:a="http://schemas.openxmlformats.org/drawingml/2006/main" noGrp="1"/>
          </p:cNvSpPr>
          <p:nvPr/>
        </p:nvSpPr>
        <p:spPr>
          <a:xfrm xmlns:a="http://schemas.openxmlformats.org/drawingml/2006/main">
            <a:off x="8096250" y="990600"/>
            <a:ext cx="3333750" cy="4476750"/>
          </a:xfrm>
          <a:prstGeom xmlns:a="http://schemas.openxmlformats.org/drawingml/2006/main" prst="roundRect">
            <a:avLst>
              <a:gd name="adj" fmla="val 4571"/>
            </a:avLst>
          </a:prstGeom>
          <a:solidFill xmlns:a="http://schemas.openxmlformats.org/drawingml/2006/main">
            <a:srgbClr val="03473E"/>
          </a:solidFill>
          <a:ln xmlns:a="http://schemas.openxmlformats.org/drawingml/2006/main" w="9525">
            <a:solidFill>
              <a:srgbClr val="03473E"/>
            </a:solidFill>
            <a:prstDash val="solid"/>
          </a:ln>
        </p:spPr>
      </p:sp>
      <p:sp>
        <p:nvSpPr>
          <p:cNvPr id="7" name="">
            <a:extLst xmlns:a="http://schemas.openxmlformats.org/drawingml/2006/main">
              <a:ext uri="{FF2B5EF4-FFF2-40B4-BE49-F238E27FC236}">
                <a16:creationId xmlns:a16="http://schemas.microsoft.com/office/drawing/2014/main" id="{12D2D2EF-EB50-4F60-BF7E-5B310B7AD074}"/>
              </a:ext>
            </a:extLst>
          </p:cNvPr>
          <p:cNvSpPr>
            <a:spLocks xmlns:a="http://schemas.openxmlformats.org/drawingml/2006/main" noGrp="1"/>
          </p:cNvSpPr>
          <p:nvPr/>
        </p:nvSpPr>
        <p:spPr>
          <a:xfrm xmlns:a="http://schemas.openxmlformats.org/drawingml/2006/main">
            <a:off x="8477250" y="1466850"/>
            <a:ext cx="2571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5850" b="1">
                <a:solidFill>
                  <a:srgbClr val="FFFFFF"/>
                </a:solidFill>
              </a:defRPr>
            </a:pPr>
            <a:r>
              <a:rPr sz="5850" b="1">
                <a:solidFill>
                  <a:srgbClr val="FFFFFF"/>
                </a:solidFill>
              </a:rPr>
              <a:t>7</a:t>
            </a:r>
          </a:p>
        </p:txBody>
      </p:sp>
      <p:sp>
        <p:nvSpPr>
          <p:cNvPr id="8" name="">
            <a:extLst xmlns:a="http://schemas.openxmlformats.org/drawingml/2006/main">
              <a:ext uri="{FF2B5EF4-FFF2-40B4-BE49-F238E27FC236}">
                <a16:creationId xmlns:a16="http://schemas.microsoft.com/office/drawing/2014/main" id="{5CA2ADF2-464F-4B6F-9993-302DA5F2D12B}"/>
              </a:ext>
            </a:extLst>
          </p:cNvPr>
          <p:cNvSpPr>
            <a:spLocks xmlns:a="http://schemas.openxmlformats.org/drawingml/2006/main" noGrp="1"/>
          </p:cNvSpPr>
          <p:nvPr/>
        </p:nvSpPr>
        <p:spPr>
          <a:xfrm xmlns:a="http://schemas.openxmlformats.org/drawingml/2006/main">
            <a:off x="8477250" y="25336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B9DED6"/>
                </a:solidFill>
              </a:defRPr>
            </a:pPr>
            <a:r>
              <a:rPr sz="1650" b="1">
                <a:solidFill>
                  <a:srgbClr val="B9DED6"/>
                </a:solidFill>
              </a:rPr>
              <a:t>connected handoffs</a:t>
            </a:r>
          </a:p>
        </p:txBody>
      </p:sp>
      <p:sp>
        <p:nvSpPr>
          <p:cNvPr id="9" name="">
            <a:extLst xmlns:a="http://schemas.openxmlformats.org/drawingml/2006/main">
              <a:ext uri="{FF2B5EF4-FFF2-40B4-BE49-F238E27FC236}">
                <a16:creationId xmlns:a16="http://schemas.microsoft.com/office/drawing/2014/main" id="{D3E9F004-8008-4C3B-8089-18D2A1D943E4}"/>
              </a:ext>
            </a:extLst>
          </p:cNvPr>
          <p:cNvSpPr>
            <a:spLocks xmlns:a="http://schemas.openxmlformats.org/drawingml/2006/main" noGrp="1"/>
          </p:cNvSpPr>
          <p:nvPr/>
        </p:nvSpPr>
        <p:spPr>
          <a:xfrm xmlns:a="http://schemas.openxmlformats.org/drawingml/2006/main">
            <a:off x="8629650" y="3238500"/>
            <a:ext cx="304800" cy="304800"/>
          </a:xfrm>
          <a:prstGeom xmlns:a="http://schemas.openxmlformats.org/drawingml/2006/main" prst="ellipse">
            <a:avLst/>
          </a:prstGeom>
          <a:solidFill xmlns:a="http://schemas.openxmlformats.org/drawingml/2006/main">
            <a:srgbClr val="E66A00"/>
          </a:solidFill>
          <a:ln xmlns:a="http://schemas.openxmlformats.org/drawingml/2006/main" w="0">
            <a:solidFill>
              <a:srgbClr val="E66A00"/>
            </a:solid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FFFFFF"/>
                </a:solidFill>
              </a:defRPr>
            </a:pPr>
            <a:r>
              <a:rPr sz="975" b="1">
                <a:solidFill>
                  <a:srgbClr val="FFFFFF"/>
                </a:solidFill>
              </a:rPr>
              <a:t>1</a:t>
            </a:r>
          </a:p>
        </p:txBody>
      </p:sp>
      <p:sp>
        <p:nvSpPr>
          <p:cNvPr id="10" name="">
            <a:extLst xmlns:a="http://schemas.openxmlformats.org/drawingml/2006/main">
              <a:ext uri="{FF2B5EF4-FFF2-40B4-BE49-F238E27FC236}">
                <a16:creationId xmlns:a16="http://schemas.microsoft.com/office/drawing/2014/main" id="{3F9FD77E-5000-41CE-AA6B-30C6A984001F}"/>
              </a:ext>
            </a:extLst>
          </p:cNvPr>
          <p:cNvSpPr>
            <a:spLocks xmlns:a="http://schemas.openxmlformats.org/drawingml/2006/main" noGrp="1"/>
          </p:cNvSpPr>
          <p:nvPr/>
        </p:nvSpPr>
        <p:spPr>
          <a:xfrm xmlns:a="http://schemas.openxmlformats.org/drawingml/2006/main">
            <a:off x="9067800" y="32766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Customer</a:t>
            </a:r>
          </a:p>
        </p:txBody>
      </p:sp>
      <p:sp>
        <p:nvSpPr>
          <p:cNvPr id="11" name="">
            <a:extLst xmlns:a="http://schemas.openxmlformats.org/drawingml/2006/main">
              <a:ext uri="{FF2B5EF4-FFF2-40B4-BE49-F238E27FC236}">
                <a16:creationId xmlns:a16="http://schemas.microsoft.com/office/drawing/2014/main" id="{06401CD2-4328-458C-B9BF-CCB835AA5749}"/>
              </a:ext>
            </a:extLst>
          </p:cNvPr>
          <p:cNvSpPr>
            <a:spLocks xmlns:a="http://schemas.openxmlformats.org/drawingml/2006/main" noGrp="1"/>
          </p:cNvSpPr>
          <p:nvPr/>
        </p:nvSpPr>
        <p:spPr>
          <a:xfrm xmlns:a="http://schemas.openxmlformats.org/drawingml/2006/main">
            <a:off x="8629650" y="3790950"/>
            <a:ext cx="304800" cy="3048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075D50"/>
                </a:solidFill>
              </a:defRPr>
            </a:pPr>
            <a:r>
              <a:rPr sz="975" b="1">
                <a:solidFill>
                  <a:srgbClr val="075D50"/>
                </a:solidFill>
              </a:rPr>
              <a:t>2</a:t>
            </a:r>
          </a:p>
        </p:txBody>
      </p:sp>
      <p:sp>
        <p:nvSpPr>
          <p:cNvPr id="12" name="">
            <a:extLst xmlns:a="http://schemas.openxmlformats.org/drawingml/2006/main">
              <a:ext uri="{FF2B5EF4-FFF2-40B4-BE49-F238E27FC236}">
                <a16:creationId xmlns:a16="http://schemas.microsoft.com/office/drawing/2014/main" id="{50F973C6-9DAF-4692-B616-7FDA1ACA597C}"/>
              </a:ext>
            </a:extLst>
          </p:cNvPr>
          <p:cNvSpPr>
            <a:spLocks xmlns:a="http://schemas.openxmlformats.org/drawingml/2006/main" noGrp="1"/>
          </p:cNvSpPr>
          <p:nvPr/>
        </p:nvSpPr>
        <p:spPr>
          <a:xfrm xmlns:a="http://schemas.openxmlformats.org/drawingml/2006/main">
            <a:off x="9067800" y="38290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Sales</a:t>
            </a:r>
          </a:p>
        </p:txBody>
      </p:sp>
      <p:sp>
        <p:nvSpPr>
          <p:cNvPr id="13" name="">
            <a:extLst xmlns:a="http://schemas.openxmlformats.org/drawingml/2006/main">
              <a:ext uri="{FF2B5EF4-FFF2-40B4-BE49-F238E27FC236}">
                <a16:creationId xmlns:a16="http://schemas.microsoft.com/office/drawing/2014/main" id="{5AC8FFEA-1556-4F69-B1C8-528D57C9D21C}"/>
              </a:ext>
            </a:extLst>
          </p:cNvPr>
          <p:cNvSpPr>
            <a:spLocks xmlns:a="http://schemas.openxmlformats.org/drawingml/2006/main" noGrp="1"/>
          </p:cNvSpPr>
          <p:nvPr/>
        </p:nvSpPr>
        <p:spPr>
          <a:xfrm xmlns:a="http://schemas.openxmlformats.org/drawingml/2006/main">
            <a:off x="8629650" y="4343400"/>
            <a:ext cx="304800" cy="3048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975" b="1">
                <a:solidFill>
                  <a:srgbClr val="075D50"/>
                </a:solidFill>
              </a:defRPr>
            </a:pPr>
            <a:r>
              <a:rPr sz="975" b="1">
                <a:solidFill>
                  <a:srgbClr val="075D50"/>
                </a:solidFill>
              </a:rPr>
              <a:t>3</a:t>
            </a:r>
          </a:p>
        </p:txBody>
      </p:sp>
      <p:sp>
        <p:nvSpPr>
          <p:cNvPr id="14" name="">
            <a:extLst xmlns:a="http://schemas.openxmlformats.org/drawingml/2006/main">
              <a:ext uri="{FF2B5EF4-FFF2-40B4-BE49-F238E27FC236}">
                <a16:creationId xmlns:a16="http://schemas.microsoft.com/office/drawing/2014/main" id="{98BFE00B-5534-4CFC-8BCB-2E4C15364952}"/>
              </a:ext>
            </a:extLst>
          </p:cNvPr>
          <p:cNvSpPr>
            <a:spLocks xmlns:a="http://schemas.openxmlformats.org/drawingml/2006/main" noGrp="1"/>
          </p:cNvSpPr>
          <p:nvPr/>
        </p:nvSpPr>
        <p:spPr>
          <a:xfrm xmlns:a="http://schemas.openxmlformats.org/drawingml/2006/main">
            <a:off x="9067800" y="43815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FFFFFF"/>
                </a:solidFill>
              </a:defRPr>
            </a:pPr>
            <a:r>
              <a:rPr sz="1500" b="1">
                <a:solidFill>
                  <a:srgbClr val="FFFFFF"/>
                </a:solidFill>
              </a:rPr>
              <a:t>Distribution</a:t>
            </a:r>
          </a:p>
        </p:txBody>
      </p:sp>
      <p:sp>
        <p:nvSpPr>
          <p:cNvPr id="15" name="">
            <a:extLst xmlns:a="http://schemas.openxmlformats.org/drawingml/2006/main">
              <a:ext uri="{FF2B5EF4-FFF2-40B4-BE49-F238E27FC236}">
                <a16:creationId xmlns:a16="http://schemas.microsoft.com/office/drawing/2014/main" id="{97720D87-02B1-4E2D-870F-7AEBF8387C07}"/>
              </a:ext>
            </a:extLst>
          </p:cNvPr>
          <p:cNvSpPr>
            <a:spLocks xmlns:a="http://schemas.openxmlformats.org/drawingml/2006/main" noGrp="1"/>
          </p:cNvSpPr>
          <p:nvPr/>
        </p:nvSpPr>
        <p:spPr>
          <a:xfrm xmlns:a="http://schemas.openxmlformats.org/drawingml/2006/main">
            <a:off x="685800" y="6477000"/>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6716E"/>
                </a:solidFill>
              </a:defRPr>
            </a:pPr>
            <a:r>
              <a:rPr sz="825" b="1">
                <a:solidFill>
                  <a:srgbClr val="66716E"/>
                </a:solidFill>
              </a:rPr>
              <a:t>ORDER DESK  ·  OMNIORDER MVP</a:t>
            </a:r>
          </a:p>
        </p:txBody>
      </p:sp>
      <p:sp>
        <p:nvSpPr>
          <p:cNvPr id="16" name="">
            <a:extLst xmlns:a="http://schemas.openxmlformats.org/drawingml/2006/main">
              <a:ext uri="{FF2B5EF4-FFF2-40B4-BE49-F238E27FC236}">
                <a16:creationId xmlns:a16="http://schemas.microsoft.com/office/drawing/2014/main" id="{23B98A18-8AB3-4EAC-BAA7-E6EB037514B1}"/>
              </a:ext>
            </a:extLst>
          </p:cNvPr>
          <p:cNvSpPr>
            <a:spLocks xmlns:a="http://schemas.openxmlformats.org/drawingml/2006/main" noGrp="1"/>
          </p:cNvSpPr>
          <p:nvPr/>
        </p:nvSpPr>
        <p:spPr>
          <a:xfrm xmlns:a="http://schemas.openxmlformats.org/drawingml/2006/main">
            <a:off x="11049000" y="64770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6716E"/>
                </a:solidFill>
              </a:defRPr>
            </a:pPr>
            <a:r>
              <a:rPr sz="825" b="1">
                <a:solidFill>
                  <a:srgbClr val="66716E"/>
                </a:solidFill>
              </a:rPr>
              <a:t>01</a:t>
            </a:r>
          </a:p>
        </p:txBody>
      </p:sp>
    </p:spTree>
    <p:extLst>
      <p:ext uri="{BB962C8B-B14F-4D97-AF65-F5344CB8AC3E}">
        <p14:creationId xmlns:p14="http://schemas.microsoft.com/office/powerpoint/2010/main" val="1648770050"/>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DB066F3-544A-4798-BF3F-7137CEFBE01E}"/>
              </a:ext>
            </a:extLst>
          </p:cNvPr>
          <p:cNvSpPr>
            <a:spLocks xmlns:a="http://schemas.openxmlformats.org/drawingml/2006/main" noGrp="1"/>
          </p:cNvSpPr>
          <p:nvPr/>
        </p:nvSpPr>
        <p:spPr>
          <a:xfrm xmlns:a="http://schemas.openxmlformats.org/drawingml/2006/main">
            <a:off x="857250" y="4572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75D50"/>
                </a:solidFill>
              </a:defRPr>
            </a:pPr>
            <a:r>
              <a:rPr sz="975" b="1">
                <a:solidFill>
                  <a:srgbClr val="075D50"/>
                </a:solidFill>
              </a:rPr>
              <a:t>STEP 1 · ACCESS</a:t>
            </a:r>
          </a:p>
        </p:txBody>
      </p:sp>
      <p:sp>
        <p:nvSpPr>
          <p:cNvPr id="2" name="">
            <a:extLst xmlns:a="http://schemas.openxmlformats.org/drawingml/2006/main">
              <a:ext uri="{FF2B5EF4-FFF2-40B4-BE49-F238E27FC236}">
                <a16:creationId xmlns:a16="http://schemas.microsoft.com/office/drawing/2014/main" id="{DC704D42-884D-4425-B467-77F362A8090D}"/>
              </a:ext>
            </a:extLst>
          </p:cNvPr>
          <p:cNvSpPr>
            <a:spLocks xmlns:a="http://schemas.openxmlformats.org/drawingml/2006/main" noGrp="1"/>
          </p:cNvSpPr>
          <p:nvPr/>
        </p:nvSpPr>
        <p:spPr>
          <a:xfrm xmlns:a="http://schemas.openxmlformats.org/drawingml/2006/main">
            <a:off x="857250" y="781050"/>
            <a:ext cx="10648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817"/>
                </a:solidFill>
              </a:defRPr>
            </a:pPr>
            <a:r>
              <a:rPr sz="2850" b="1">
                <a:solidFill>
                  <a:srgbClr val="111817"/>
                </a:solidFill>
              </a:rPr>
              <a:t>Two clear entry paths keep every role focused</a:t>
            </a:r>
          </a:p>
        </p:txBody>
      </p:sp>
      <p:sp>
        <p:nvSpPr>
          <p:cNvPr id="3" name="">
            <a:extLst xmlns:a="http://schemas.openxmlformats.org/drawingml/2006/main">
              <a:ext uri="{FF2B5EF4-FFF2-40B4-BE49-F238E27FC236}">
                <a16:creationId xmlns:a16="http://schemas.microsoft.com/office/drawing/2014/main" id="{1C71AFF5-9568-4AF1-9528-BAF8B4D03AAF}"/>
              </a:ext>
            </a:extLst>
          </p:cNvPr>
          <p:cNvSpPr>
            <a:spLocks xmlns:a="http://schemas.openxmlformats.org/drawingml/2006/main" noGrp="1"/>
          </p:cNvSpPr>
          <p:nvPr/>
        </p:nvSpPr>
        <p:spPr>
          <a:xfrm xmlns:a="http://schemas.openxmlformats.org/drawingml/2006/main">
            <a:off x="857250" y="1428750"/>
            <a:ext cx="982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6716E"/>
                </a:solidFill>
              </a:defRPr>
            </a:pPr>
            <a:r>
              <a:rPr sz="1425" b="0">
                <a:solidFill>
                  <a:srgbClr val="66716E"/>
                </a:solidFill>
              </a:rPr>
              <a:t>Sales signs into the workspace; customers use only the secure access shared by their representative.</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f7d0eb142d7431b"/>
          <a:stretch xmlns:a="http://schemas.openxmlformats.org/drawingml/2006/main"/>
        </p:blipFill>
        <p:spPr>
          <a:xfrm xmlns:a="http://schemas.openxmlformats.org/drawingml/2006/main">
            <a:off x="3626792" y="1981200"/>
            <a:ext cx="4938416" cy="3429000"/>
          </a:xfrm>
          <a:prstGeom xmlns:a="http://schemas.openxmlformats.org/drawingml/2006/main" prst="roundRect">
            <a:avLst>
              <a:gd name="adj" fmla="val 3333"/>
            </a:avLst>
          </a:prstGeom>
        </p:spPr>
      </p:pic>
      <p:sp>
        <p:nvSpPr>
          <p:cNvPr id="5" name="">
            <a:extLst xmlns:a="http://schemas.openxmlformats.org/drawingml/2006/main">
              <a:ext uri="{FF2B5EF4-FFF2-40B4-BE49-F238E27FC236}">
                <a16:creationId xmlns:a16="http://schemas.microsoft.com/office/drawing/2014/main" id="{97C3C1D9-FA72-4630-A60B-C40BEA4B461B}"/>
              </a:ext>
            </a:extLst>
          </p:cNvPr>
          <p:cNvSpPr>
            <a:spLocks xmlns:a="http://schemas.openxmlformats.org/drawingml/2006/main" noGrp="1"/>
          </p:cNvSpPr>
          <p:nvPr/>
        </p:nvSpPr>
        <p:spPr>
          <a:xfrm xmlns:a="http://schemas.openxmlformats.org/drawingml/2006/main">
            <a:off x="7667625" y="4953000"/>
            <a:ext cx="3143250" cy="704850"/>
          </a:xfrm>
          <a:prstGeom xmlns:a="http://schemas.openxmlformats.org/drawingml/2006/main" prst="roundRect">
            <a:avLst>
              <a:gd name="adj" fmla="val 16216"/>
            </a:avLst>
          </a:prstGeom>
          <a:solidFill xmlns:a="http://schemas.openxmlformats.org/drawingml/2006/main">
            <a:srgbClr val="FFF0DF"/>
          </a:solidFill>
          <a:ln xmlns:a="http://schemas.openxmlformats.org/drawingml/2006/main" w="9525">
            <a:solidFill>
              <a:srgbClr val="FFF0DF"/>
            </a:solidFill>
            <a:prstDash val="solid"/>
          </a:ln>
        </p:spPr>
      </p:sp>
      <p:sp>
        <p:nvSpPr>
          <p:cNvPr id="6" name="">
            <a:extLst xmlns:a="http://schemas.openxmlformats.org/drawingml/2006/main">
              <a:ext uri="{FF2B5EF4-FFF2-40B4-BE49-F238E27FC236}">
                <a16:creationId xmlns:a16="http://schemas.microsoft.com/office/drawing/2014/main" id="{A2978CC0-0672-4CEC-B312-4B7701836B24}"/>
              </a:ext>
            </a:extLst>
          </p:cNvPr>
          <p:cNvSpPr>
            <a:spLocks xmlns:a="http://schemas.openxmlformats.org/drawingml/2006/main" noGrp="1"/>
          </p:cNvSpPr>
          <p:nvPr/>
        </p:nvSpPr>
        <p:spPr>
          <a:xfrm xmlns:a="http://schemas.openxmlformats.org/drawingml/2006/main">
            <a:off x="7886700" y="510540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66A00"/>
                </a:solidFill>
              </a:defRPr>
            </a:pPr>
            <a:r>
              <a:rPr sz="1350" b="1">
                <a:solidFill>
                  <a:srgbClr val="E66A00"/>
                </a:solidFill>
              </a:rPr>
              <a:t>Customer access requires no account or password.</a:t>
            </a:r>
          </a:p>
        </p:txBody>
      </p:sp>
      <p:sp>
        <p:nvSpPr>
          <p:cNvPr id="7" name="">
            <a:extLst xmlns:a="http://schemas.openxmlformats.org/drawingml/2006/main">
              <a:ext uri="{FF2B5EF4-FFF2-40B4-BE49-F238E27FC236}">
                <a16:creationId xmlns:a16="http://schemas.microsoft.com/office/drawing/2014/main" id="{39DFA4A2-31D0-4A2E-98D1-0E7A732703F4}"/>
              </a:ext>
            </a:extLst>
          </p:cNvPr>
          <p:cNvSpPr>
            <a:spLocks xmlns:a="http://schemas.openxmlformats.org/drawingml/2006/main" noGrp="1"/>
          </p:cNvSpPr>
          <p:nvPr/>
        </p:nvSpPr>
        <p:spPr>
          <a:xfrm xmlns:a="http://schemas.openxmlformats.org/drawingml/2006/main">
            <a:off x="6858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8" name="">
            <a:extLst xmlns:a="http://schemas.openxmlformats.org/drawingml/2006/main">
              <a:ext uri="{FF2B5EF4-FFF2-40B4-BE49-F238E27FC236}">
                <a16:creationId xmlns:a16="http://schemas.microsoft.com/office/drawing/2014/main" id="{020A94BD-1B90-46AF-BB76-42FC93416E08}"/>
              </a:ext>
            </a:extLst>
          </p:cNvPr>
          <p:cNvSpPr>
            <a:spLocks xmlns:a="http://schemas.openxmlformats.org/drawingml/2006/main" noGrp="1"/>
          </p:cNvSpPr>
          <p:nvPr/>
        </p:nvSpPr>
        <p:spPr>
          <a:xfrm xmlns:a="http://schemas.openxmlformats.org/drawingml/2006/main">
            <a:off x="10096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075D50"/>
                </a:solidFill>
              </a:defRPr>
            </a:pPr>
            <a:r>
              <a:rPr sz="825" b="1">
                <a:solidFill>
                  <a:srgbClr val="075D50"/>
                </a:solidFill>
              </a:rPr>
              <a:t>ACCESS</a:t>
            </a:r>
          </a:p>
        </p:txBody>
      </p:sp>
      <p:sp>
        <p:nvSpPr>
          <p:cNvPr id="9" name="">
            <a:extLst xmlns:a="http://schemas.openxmlformats.org/drawingml/2006/main">
              <a:ext uri="{FF2B5EF4-FFF2-40B4-BE49-F238E27FC236}">
                <a16:creationId xmlns:a16="http://schemas.microsoft.com/office/drawing/2014/main" id="{4F223596-C8DC-47F6-8161-0950227DAF4C}"/>
              </a:ext>
            </a:extLst>
          </p:cNvPr>
          <p:cNvSpPr>
            <a:spLocks xmlns:a="http://schemas.openxmlformats.org/drawingml/2006/main" noGrp="1"/>
          </p:cNvSpPr>
          <p:nvPr/>
        </p:nvSpPr>
        <p:spPr>
          <a:xfrm xmlns:a="http://schemas.openxmlformats.org/drawingml/2006/main">
            <a:off x="95250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10" name="">
            <a:extLst xmlns:a="http://schemas.openxmlformats.org/drawingml/2006/main">
              <a:ext uri="{FF2B5EF4-FFF2-40B4-BE49-F238E27FC236}">
                <a16:creationId xmlns:a16="http://schemas.microsoft.com/office/drawing/2014/main" id="{778EFC6B-DB95-4B46-84AB-8E960DE73553}"/>
              </a:ext>
            </a:extLst>
          </p:cNvPr>
          <p:cNvSpPr>
            <a:spLocks xmlns:a="http://schemas.openxmlformats.org/drawingml/2006/main" noGrp="1"/>
          </p:cNvSpPr>
          <p:nvPr/>
        </p:nvSpPr>
        <p:spPr>
          <a:xfrm xmlns:a="http://schemas.openxmlformats.org/drawingml/2006/main">
            <a:off x="219075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11" name="">
            <a:extLst xmlns:a="http://schemas.openxmlformats.org/drawingml/2006/main">
              <a:ext uri="{FF2B5EF4-FFF2-40B4-BE49-F238E27FC236}">
                <a16:creationId xmlns:a16="http://schemas.microsoft.com/office/drawing/2014/main" id="{9A87F96E-BFCB-4CB8-82C5-2D4013777FA7}"/>
              </a:ext>
            </a:extLst>
          </p:cNvPr>
          <p:cNvSpPr>
            <a:spLocks xmlns:a="http://schemas.openxmlformats.org/drawingml/2006/main" noGrp="1"/>
          </p:cNvSpPr>
          <p:nvPr/>
        </p:nvSpPr>
        <p:spPr>
          <a:xfrm xmlns:a="http://schemas.openxmlformats.org/drawingml/2006/main">
            <a:off x="25146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REQUEST</a:t>
            </a:r>
          </a:p>
        </p:txBody>
      </p:sp>
      <p:sp>
        <p:nvSpPr>
          <p:cNvPr id="12" name="">
            <a:extLst xmlns:a="http://schemas.openxmlformats.org/drawingml/2006/main">
              <a:ext uri="{FF2B5EF4-FFF2-40B4-BE49-F238E27FC236}">
                <a16:creationId xmlns:a16="http://schemas.microsoft.com/office/drawing/2014/main" id="{9D723D87-6476-4E34-840B-0999B35AC2C9}"/>
              </a:ext>
            </a:extLst>
          </p:cNvPr>
          <p:cNvSpPr>
            <a:spLocks xmlns:a="http://schemas.openxmlformats.org/drawingml/2006/main" noGrp="1"/>
          </p:cNvSpPr>
          <p:nvPr/>
        </p:nvSpPr>
        <p:spPr>
          <a:xfrm xmlns:a="http://schemas.openxmlformats.org/drawingml/2006/main">
            <a:off x="245745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13" name="">
            <a:extLst xmlns:a="http://schemas.openxmlformats.org/drawingml/2006/main">
              <a:ext uri="{FF2B5EF4-FFF2-40B4-BE49-F238E27FC236}">
                <a16:creationId xmlns:a16="http://schemas.microsoft.com/office/drawing/2014/main" id="{20E5E886-D7D2-4926-936B-26B0CBBA366F}"/>
              </a:ext>
            </a:extLst>
          </p:cNvPr>
          <p:cNvSpPr>
            <a:spLocks xmlns:a="http://schemas.openxmlformats.org/drawingml/2006/main" noGrp="1"/>
          </p:cNvSpPr>
          <p:nvPr/>
        </p:nvSpPr>
        <p:spPr>
          <a:xfrm xmlns:a="http://schemas.openxmlformats.org/drawingml/2006/main">
            <a:off x="369570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14" name="">
            <a:extLst xmlns:a="http://schemas.openxmlformats.org/drawingml/2006/main">
              <a:ext uri="{FF2B5EF4-FFF2-40B4-BE49-F238E27FC236}">
                <a16:creationId xmlns:a16="http://schemas.microsoft.com/office/drawing/2014/main" id="{F551D128-F807-4F22-BEFA-4E677CD69B44}"/>
              </a:ext>
            </a:extLst>
          </p:cNvPr>
          <p:cNvSpPr>
            <a:spLocks xmlns:a="http://schemas.openxmlformats.org/drawingml/2006/main" noGrp="1"/>
          </p:cNvSpPr>
          <p:nvPr/>
        </p:nvSpPr>
        <p:spPr>
          <a:xfrm xmlns:a="http://schemas.openxmlformats.org/drawingml/2006/main">
            <a:off x="40195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REVIEW</a:t>
            </a:r>
          </a:p>
        </p:txBody>
      </p:sp>
      <p:sp>
        <p:nvSpPr>
          <p:cNvPr id="15" name="">
            <a:extLst xmlns:a="http://schemas.openxmlformats.org/drawingml/2006/main">
              <a:ext uri="{FF2B5EF4-FFF2-40B4-BE49-F238E27FC236}">
                <a16:creationId xmlns:a16="http://schemas.microsoft.com/office/drawing/2014/main" id="{7AA3D6B0-BC79-4F11-9E97-AEE4AAD6D820}"/>
              </a:ext>
            </a:extLst>
          </p:cNvPr>
          <p:cNvSpPr>
            <a:spLocks xmlns:a="http://schemas.openxmlformats.org/drawingml/2006/main" noGrp="1"/>
          </p:cNvSpPr>
          <p:nvPr/>
        </p:nvSpPr>
        <p:spPr>
          <a:xfrm xmlns:a="http://schemas.openxmlformats.org/drawingml/2006/main">
            <a:off x="396240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16" name="">
            <a:extLst xmlns:a="http://schemas.openxmlformats.org/drawingml/2006/main">
              <a:ext uri="{FF2B5EF4-FFF2-40B4-BE49-F238E27FC236}">
                <a16:creationId xmlns:a16="http://schemas.microsoft.com/office/drawing/2014/main" id="{F513738E-DC52-4FE6-A07B-B91F4505A77B}"/>
              </a:ext>
            </a:extLst>
          </p:cNvPr>
          <p:cNvSpPr>
            <a:spLocks xmlns:a="http://schemas.openxmlformats.org/drawingml/2006/main" noGrp="1"/>
          </p:cNvSpPr>
          <p:nvPr/>
        </p:nvSpPr>
        <p:spPr>
          <a:xfrm xmlns:a="http://schemas.openxmlformats.org/drawingml/2006/main">
            <a:off x="520065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17" name="">
            <a:extLst xmlns:a="http://schemas.openxmlformats.org/drawingml/2006/main">
              <a:ext uri="{FF2B5EF4-FFF2-40B4-BE49-F238E27FC236}">
                <a16:creationId xmlns:a16="http://schemas.microsoft.com/office/drawing/2014/main" id="{49C48CF4-099A-49AD-ABB1-A3C139178203}"/>
              </a:ext>
            </a:extLst>
          </p:cNvPr>
          <p:cNvSpPr>
            <a:spLocks xmlns:a="http://schemas.openxmlformats.org/drawingml/2006/main" noGrp="1"/>
          </p:cNvSpPr>
          <p:nvPr/>
        </p:nvSpPr>
        <p:spPr>
          <a:xfrm xmlns:a="http://schemas.openxmlformats.org/drawingml/2006/main">
            <a:off x="55245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PRO-FORMA</a:t>
            </a:r>
          </a:p>
        </p:txBody>
      </p:sp>
      <p:sp>
        <p:nvSpPr>
          <p:cNvPr id="18" name="">
            <a:extLst xmlns:a="http://schemas.openxmlformats.org/drawingml/2006/main">
              <a:ext uri="{FF2B5EF4-FFF2-40B4-BE49-F238E27FC236}">
                <a16:creationId xmlns:a16="http://schemas.microsoft.com/office/drawing/2014/main" id="{72813F03-988C-4276-82B3-B0791A5D668E}"/>
              </a:ext>
            </a:extLst>
          </p:cNvPr>
          <p:cNvSpPr>
            <a:spLocks xmlns:a="http://schemas.openxmlformats.org/drawingml/2006/main" noGrp="1"/>
          </p:cNvSpPr>
          <p:nvPr/>
        </p:nvSpPr>
        <p:spPr>
          <a:xfrm xmlns:a="http://schemas.openxmlformats.org/drawingml/2006/main">
            <a:off x="546735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19" name="">
            <a:extLst xmlns:a="http://schemas.openxmlformats.org/drawingml/2006/main">
              <a:ext uri="{FF2B5EF4-FFF2-40B4-BE49-F238E27FC236}">
                <a16:creationId xmlns:a16="http://schemas.microsoft.com/office/drawing/2014/main" id="{495364DC-DF11-44BB-9F6A-83080377F5D8}"/>
              </a:ext>
            </a:extLst>
          </p:cNvPr>
          <p:cNvSpPr>
            <a:spLocks xmlns:a="http://schemas.openxmlformats.org/drawingml/2006/main" noGrp="1"/>
          </p:cNvSpPr>
          <p:nvPr/>
        </p:nvSpPr>
        <p:spPr>
          <a:xfrm xmlns:a="http://schemas.openxmlformats.org/drawingml/2006/main">
            <a:off x="670560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5</a:t>
            </a:r>
          </a:p>
        </p:txBody>
      </p:sp>
      <p:sp>
        <p:nvSpPr>
          <p:cNvPr id="20" name="">
            <a:extLst xmlns:a="http://schemas.openxmlformats.org/drawingml/2006/main">
              <a:ext uri="{FF2B5EF4-FFF2-40B4-BE49-F238E27FC236}">
                <a16:creationId xmlns:a16="http://schemas.microsoft.com/office/drawing/2014/main" id="{23325B50-7A09-496D-A211-7B04342A61BB}"/>
              </a:ext>
            </a:extLst>
          </p:cNvPr>
          <p:cNvSpPr>
            <a:spLocks xmlns:a="http://schemas.openxmlformats.org/drawingml/2006/main" noGrp="1"/>
          </p:cNvSpPr>
          <p:nvPr/>
        </p:nvSpPr>
        <p:spPr>
          <a:xfrm xmlns:a="http://schemas.openxmlformats.org/drawingml/2006/main">
            <a:off x="70294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APPROVAL</a:t>
            </a:r>
          </a:p>
        </p:txBody>
      </p:sp>
      <p:sp>
        <p:nvSpPr>
          <p:cNvPr id="21" name="">
            <a:extLst xmlns:a="http://schemas.openxmlformats.org/drawingml/2006/main">
              <a:ext uri="{FF2B5EF4-FFF2-40B4-BE49-F238E27FC236}">
                <a16:creationId xmlns:a16="http://schemas.microsoft.com/office/drawing/2014/main" id="{F6AE4D5C-ACC4-41B3-A6B4-5665F27C9B0B}"/>
              </a:ext>
            </a:extLst>
          </p:cNvPr>
          <p:cNvSpPr>
            <a:spLocks xmlns:a="http://schemas.openxmlformats.org/drawingml/2006/main" noGrp="1"/>
          </p:cNvSpPr>
          <p:nvPr/>
        </p:nvSpPr>
        <p:spPr>
          <a:xfrm xmlns:a="http://schemas.openxmlformats.org/drawingml/2006/main">
            <a:off x="697230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22" name="">
            <a:extLst xmlns:a="http://schemas.openxmlformats.org/drawingml/2006/main">
              <a:ext uri="{FF2B5EF4-FFF2-40B4-BE49-F238E27FC236}">
                <a16:creationId xmlns:a16="http://schemas.microsoft.com/office/drawing/2014/main" id="{8ACBFD68-BBCC-43FA-90FD-265CA62A53E3}"/>
              </a:ext>
            </a:extLst>
          </p:cNvPr>
          <p:cNvSpPr>
            <a:spLocks xmlns:a="http://schemas.openxmlformats.org/drawingml/2006/main" noGrp="1"/>
          </p:cNvSpPr>
          <p:nvPr/>
        </p:nvSpPr>
        <p:spPr>
          <a:xfrm xmlns:a="http://schemas.openxmlformats.org/drawingml/2006/main">
            <a:off x="821055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6</a:t>
            </a:r>
          </a:p>
        </p:txBody>
      </p:sp>
      <p:sp>
        <p:nvSpPr>
          <p:cNvPr id="23" name="">
            <a:extLst xmlns:a="http://schemas.openxmlformats.org/drawingml/2006/main">
              <a:ext uri="{FF2B5EF4-FFF2-40B4-BE49-F238E27FC236}">
                <a16:creationId xmlns:a16="http://schemas.microsoft.com/office/drawing/2014/main" id="{9B7F9CD7-248B-46D1-9E49-32BDCEFDBFFD}"/>
              </a:ext>
            </a:extLst>
          </p:cNvPr>
          <p:cNvSpPr>
            <a:spLocks xmlns:a="http://schemas.openxmlformats.org/drawingml/2006/main" noGrp="1"/>
          </p:cNvSpPr>
          <p:nvPr/>
        </p:nvSpPr>
        <p:spPr>
          <a:xfrm xmlns:a="http://schemas.openxmlformats.org/drawingml/2006/main">
            <a:off x="85344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DISPATCH</a:t>
            </a:r>
          </a:p>
        </p:txBody>
      </p:sp>
      <p:sp>
        <p:nvSpPr>
          <p:cNvPr id="24" name="">
            <a:extLst xmlns:a="http://schemas.openxmlformats.org/drawingml/2006/main">
              <a:ext uri="{FF2B5EF4-FFF2-40B4-BE49-F238E27FC236}">
                <a16:creationId xmlns:a16="http://schemas.microsoft.com/office/drawing/2014/main" id="{C3D60E6A-B2EA-4E83-AE9F-1E837AB20F8B}"/>
              </a:ext>
            </a:extLst>
          </p:cNvPr>
          <p:cNvSpPr>
            <a:spLocks xmlns:a="http://schemas.openxmlformats.org/drawingml/2006/main" noGrp="1"/>
          </p:cNvSpPr>
          <p:nvPr/>
        </p:nvSpPr>
        <p:spPr>
          <a:xfrm xmlns:a="http://schemas.openxmlformats.org/drawingml/2006/main">
            <a:off x="847725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25" name="">
            <a:extLst xmlns:a="http://schemas.openxmlformats.org/drawingml/2006/main">
              <a:ext uri="{FF2B5EF4-FFF2-40B4-BE49-F238E27FC236}">
                <a16:creationId xmlns:a16="http://schemas.microsoft.com/office/drawing/2014/main" id="{E8DE309F-4B74-4A20-AD7A-4500E75224AF}"/>
              </a:ext>
            </a:extLst>
          </p:cNvPr>
          <p:cNvSpPr>
            <a:spLocks xmlns:a="http://schemas.openxmlformats.org/drawingml/2006/main" noGrp="1"/>
          </p:cNvSpPr>
          <p:nvPr/>
        </p:nvSpPr>
        <p:spPr>
          <a:xfrm xmlns:a="http://schemas.openxmlformats.org/drawingml/2006/main">
            <a:off x="971550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7</a:t>
            </a:r>
          </a:p>
        </p:txBody>
      </p:sp>
      <p:sp>
        <p:nvSpPr>
          <p:cNvPr id="26" name="">
            <a:extLst xmlns:a="http://schemas.openxmlformats.org/drawingml/2006/main">
              <a:ext uri="{FF2B5EF4-FFF2-40B4-BE49-F238E27FC236}">
                <a16:creationId xmlns:a16="http://schemas.microsoft.com/office/drawing/2014/main" id="{1766E7D1-DAC5-4D6A-A3C8-07FC7AE02639}"/>
              </a:ext>
            </a:extLst>
          </p:cNvPr>
          <p:cNvSpPr>
            <a:spLocks xmlns:a="http://schemas.openxmlformats.org/drawingml/2006/main" noGrp="1"/>
          </p:cNvSpPr>
          <p:nvPr/>
        </p:nvSpPr>
        <p:spPr>
          <a:xfrm xmlns:a="http://schemas.openxmlformats.org/drawingml/2006/main">
            <a:off x="100393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INVOICE</a:t>
            </a:r>
          </a:p>
        </p:txBody>
      </p:sp>
      <p:sp>
        <p:nvSpPr>
          <p:cNvPr id="27" name="">
            <a:extLst xmlns:a="http://schemas.openxmlformats.org/drawingml/2006/main">
              <a:ext uri="{FF2B5EF4-FFF2-40B4-BE49-F238E27FC236}">
                <a16:creationId xmlns:a16="http://schemas.microsoft.com/office/drawing/2014/main" id="{58AEF77C-CED8-4BAC-B1AA-9C32775B9A28}"/>
              </a:ext>
            </a:extLst>
          </p:cNvPr>
          <p:cNvSpPr>
            <a:spLocks xmlns:a="http://schemas.openxmlformats.org/drawingml/2006/main" noGrp="1"/>
          </p:cNvSpPr>
          <p:nvPr/>
        </p:nvSpPr>
        <p:spPr>
          <a:xfrm xmlns:a="http://schemas.openxmlformats.org/drawingml/2006/main">
            <a:off x="685800" y="6477000"/>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6716E"/>
                </a:solidFill>
              </a:defRPr>
            </a:pPr>
            <a:r>
              <a:rPr sz="825" b="1">
                <a:solidFill>
                  <a:srgbClr val="66716E"/>
                </a:solidFill>
              </a:rPr>
              <a:t>ORDER DESK  ·  OMNIORDER MVP</a:t>
            </a:r>
          </a:p>
        </p:txBody>
      </p:sp>
      <p:sp>
        <p:nvSpPr>
          <p:cNvPr id="28" name="">
            <a:extLst xmlns:a="http://schemas.openxmlformats.org/drawingml/2006/main">
              <a:ext uri="{FF2B5EF4-FFF2-40B4-BE49-F238E27FC236}">
                <a16:creationId xmlns:a16="http://schemas.microsoft.com/office/drawing/2014/main" id="{DD96DB54-B28D-4690-BD7E-AA054572ADDA}"/>
              </a:ext>
            </a:extLst>
          </p:cNvPr>
          <p:cNvSpPr>
            <a:spLocks xmlns:a="http://schemas.openxmlformats.org/drawingml/2006/main" noGrp="1"/>
          </p:cNvSpPr>
          <p:nvPr/>
        </p:nvSpPr>
        <p:spPr>
          <a:xfrm xmlns:a="http://schemas.openxmlformats.org/drawingml/2006/main">
            <a:off x="11049000" y="64770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6716E"/>
                </a:solidFill>
              </a:defRPr>
            </a:pPr>
            <a:r>
              <a:rPr sz="825" b="1">
                <a:solidFill>
                  <a:srgbClr val="66716E"/>
                </a:solidFill>
              </a:rPr>
              <a:t>02</a:t>
            </a:r>
          </a:p>
        </p:txBody>
      </p:sp>
    </p:spTree>
    <p:extLst>
      <p:ext uri="{BB962C8B-B14F-4D97-AF65-F5344CB8AC3E}">
        <p14:creationId xmlns:p14="http://schemas.microsoft.com/office/powerpoint/2010/main" val="1207147620"/>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A9F5C108-4E79-4E1F-87FC-0E6ACB82399C}"/>
              </a:ext>
            </a:extLst>
          </p:cNvPr>
          <p:cNvSpPr>
            <a:spLocks xmlns:a="http://schemas.openxmlformats.org/drawingml/2006/main" noGrp="1"/>
          </p:cNvSpPr>
          <p:nvPr/>
        </p:nvSpPr>
        <p:spPr>
          <a:xfrm xmlns:a="http://schemas.openxmlformats.org/drawingml/2006/main">
            <a:off x="857250" y="4572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75D50"/>
                </a:solidFill>
              </a:defRPr>
            </a:pPr>
            <a:r>
              <a:rPr sz="975" b="1">
                <a:solidFill>
                  <a:srgbClr val="075D50"/>
                </a:solidFill>
              </a:rPr>
              <a:t>STEP 2 · CUSTOMER REQUEST</a:t>
            </a:r>
          </a:p>
        </p:txBody>
      </p:sp>
      <p:sp>
        <p:nvSpPr>
          <p:cNvPr id="2" name="">
            <a:extLst xmlns:a="http://schemas.openxmlformats.org/drawingml/2006/main">
              <a:ext uri="{FF2B5EF4-FFF2-40B4-BE49-F238E27FC236}">
                <a16:creationId xmlns:a16="http://schemas.microsoft.com/office/drawing/2014/main" id="{4338C3B6-64BD-4530-AE67-AE7975F64C49}"/>
              </a:ext>
            </a:extLst>
          </p:cNvPr>
          <p:cNvSpPr>
            <a:spLocks xmlns:a="http://schemas.openxmlformats.org/drawingml/2006/main" noGrp="1"/>
          </p:cNvSpPr>
          <p:nvPr/>
        </p:nvSpPr>
        <p:spPr>
          <a:xfrm xmlns:a="http://schemas.openxmlformats.org/drawingml/2006/main">
            <a:off x="857250" y="781050"/>
            <a:ext cx="10648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817"/>
                </a:solidFill>
              </a:defRPr>
            </a:pPr>
            <a:r>
              <a:rPr sz="2850" b="1">
                <a:solidFill>
                  <a:srgbClr val="111817"/>
                </a:solidFill>
              </a:rPr>
              <a:t>Customers choose quantities—never prices</a:t>
            </a:r>
          </a:p>
        </p:txBody>
      </p:sp>
      <p:sp>
        <p:nvSpPr>
          <p:cNvPr id="3" name="">
            <a:extLst xmlns:a="http://schemas.openxmlformats.org/drawingml/2006/main">
              <a:ext uri="{FF2B5EF4-FFF2-40B4-BE49-F238E27FC236}">
                <a16:creationId xmlns:a16="http://schemas.microsoft.com/office/drawing/2014/main" id="{1841C5C2-527D-495F-82D9-D441A4224833}"/>
              </a:ext>
            </a:extLst>
          </p:cNvPr>
          <p:cNvSpPr>
            <a:spLocks xmlns:a="http://schemas.openxmlformats.org/drawingml/2006/main" noGrp="1"/>
          </p:cNvSpPr>
          <p:nvPr/>
        </p:nvSpPr>
        <p:spPr>
          <a:xfrm xmlns:a="http://schemas.openxmlformats.org/drawingml/2006/main">
            <a:off x="857250" y="1428750"/>
            <a:ext cx="982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6716E"/>
                </a:solidFill>
              </a:defRPr>
            </a:pPr>
            <a:r>
              <a:rPr sz="1425" b="0">
                <a:solidFill>
                  <a:srgbClr val="66716E"/>
                </a:solidFill>
              </a:rPr>
              <a:t>The catalog exposes SKU, pack size, and availability while commercial terms stay private.</a:t>
            </a:r>
          </a:p>
        </p:txBody>
      </p:sp>
      <p:sp>
        <p:nvSpPr>
          <p:cNvPr id="4" name="">
            <a:extLst xmlns:a="http://schemas.openxmlformats.org/drawingml/2006/main">
              <a:ext uri="{FF2B5EF4-FFF2-40B4-BE49-F238E27FC236}">
                <a16:creationId xmlns:a16="http://schemas.microsoft.com/office/drawing/2014/main" id="{A84E04E0-95A4-4A11-9066-F78A944B01B5}"/>
              </a:ext>
            </a:extLst>
          </p:cNvPr>
          <p:cNvSpPr>
            <a:spLocks xmlns:a="http://schemas.openxmlformats.org/drawingml/2006/main" noGrp="1"/>
          </p:cNvSpPr>
          <p:nvPr/>
        </p:nvSpPr>
        <p:spPr>
          <a:xfrm xmlns:a="http://schemas.openxmlformats.org/drawingml/2006/main">
            <a:off x="685800" y="2114550"/>
            <a:ext cx="6858000" cy="3086100"/>
          </a:xfrm>
          <a:prstGeom xmlns:a="http://schemas.openxmlformats.org/drawingml/2006/main" prst="roundRect">
            <a:avLst>
              <a:gd name="adj" fmla="val 4938"/>
            </a:avLst>
          </a:prstGeom>
          <a:solidFill xmlns:a="http://schemas.openxmlformats.org/drawingml/2006/main">
            <a:srgbClr val="FFFFFF"/>
          </a:solidFill>
          <a:ln xmlns:a="http://schemas.openxmlformats.org/drawingml/2006/main" w="9525">
            <a:solidFill>
              <a:srgbClr val="DDDCD5"/>
            </a:solidFill>
            <a:prstDash val="solid"/>
          </a:ln>
        </p:spPr>
      </p:sp>
      <p:sp>
        <p:nvSpPr>
          <p:cNvPr id="5" name="">
            <a:extLst xmlns:a="http://schemas.openxmlformats.org/drawingml/2006/main">
              <a:ext uri="{FF2B5EF4-FFF2-40B4-BE49-F238E27FC236}">
                <a16:creationId xmlns:a16="http://schemas.microsoft.com/office/drawing/2014/main" id="{AEA78213-7D6C-42EF-9873-2F3ED1E930FE}"/>
              </a:ext>
            </a:extLst>
          </p:cNvPr>
          <p:cNvSpPr>
            <a:spLocks xmlns:a="http://schemas.openxmlformats.org/drawingml/2006/main" noGrp="1"/>
          </p:cNvSpPr>
          <p:nvPr/>
        </p:nvSpPr>
        <p:spPr>
          <a:xfrm xmlns:a="http://schemas.openxmlformats.org/drawingml/2006/main">
            <a:off x="952500" y="23622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6716E"/>
                </a:solidFill>
              </a:defRPr>
            </a:pPr>
            <a:r>
              <a:rPr sz="975" b="1">
                <a:solidFill>
                  <a:srgbClr val="66716E"/>
                </a:solidFill>
              </a:rPr>
              <a:t>SEARCH BY ITEM OR SKU</a:t>
            </a:r>
          </a:p>
        </p:txBody>
      </p:sp>
      <p:sp>
        <p:nvSpPr>
          <p:cNvPr id="6" name="">
            <a:extLst xmlns:a="http://schemas.openxmlformats.org/drawingml/2006/main">
              <a:ext uri="{FF2B5EF4-FFF2-40B4-BE49-F238E27FC236}">
                <a16:creationId xmlns:a16="http://schemas.microsoft.com/office/drawing/2014/main" id="{39D71241-3E68-48B7-B35E-809CFDB6CE2E}"/>
              </a:ext>
            </a:extLst>
          </p:cNvPr>
          <p:cNvSpPr>
            <a:spLocks xmlns:a="http://schemas.openxmlformats.org/drawingml/2006/main" noGrp="1"/>
          </p:cNvSpPr>
          <p:nvPr/>
        </p:nvSpPr>
        <p:spPr>
          <a:xfrm xmlns:a="http://schemas.openxmlformats.org/drawingml/2006/main">
            <a:off x="952500" y="2686050"/>
            <a:ext cx="6286500" cy="495300"/>
          </a:xfrm>
          <a:prstGeom xmlns:a="http://schemas.openxmlformats.org/drawingml/2006/main" prst="roundRect">
            <a:avLst>
              <a:gd name="adj" fmla="val 15385"/>
            </a:avLst>
          </a:prstGeom>
          <a:solidFill xmlns:a="http://schemas.openxmlformats.org/drawingml/2006/main">
            <a:srgbClr val="FAFAF8"/>
          </a:solidFill>
          <a:ln xmlns:a="http://schemas.openxmlformats.org/drawingml/2006/main" w="9525">
            <a:solidFill>
              <a:srgbClr val="DDDCD5"/>
            </a:solidFill>
            <a:prstDash val="solid"/>
          </a:ln>
        </p:spPr>
      </p:sp>
      <p:sp>
        <p:nvSpPr>
          <p:cNvPr id="7" name="">
            <a:extLst xmlns:a="http://schemas.openxmlformats.org/drawingml/2006/main">
              <a:ext uri="{FF2B5EF4-FFF2-40B4-BE49-F238E27FC236}">
                <a16:creationId xmlns:a16="http://schemas.microsoft.com/office/drawing/2014/main" id="{3C29DE2E-9822-4193-8116-13472FFFAEFE}"/>
              </a:ext>
            </a:extLst>
          </p:cNvPr>
          <p:cNvSpPr>
            <a:spLocks xmlns:a="http://schemas.openxmlformats.org/drawingml/2006/main" noGrp="1"/>
          </p:cNvSpPr>
          <p:nvPr/>
        </p:nvSpPr>
        <p:spPr>
          <a:xfrm xmlns:a="http://schemas.openxmlformats.org/drawingml/2006/main">
            <a:off x="1143000" y="2819400"/>
            <a:ext cx="2667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6716E"/>
                </a:solidFill>
              </a:defRPr>
            </a:pPr>
            <a:r>
              <a:rPr sz="1350" b="0">
                <a:solidFill>
                  <a:srgbClr val="66716E"/>
                </a:solidFill>
              </a:rPr>
              <a:t>⌕  turmeric</a:t>
            </a:r>
          </a:p>
        </p:txBody>
      </p:sp>
      <p:sp>
        <p:nvSpPr>
          <p:cNvPr id="8" name="">
            <a:extLst xmlns:a="http://schemas.openxmlformats.org/drawingml/2006/main">
              <a:ext uri="{FF2B5EF4-FFF2-40B4-BE49-F238E27FC236}">
                <a16:creationId xmlns:a16="http://schemas.microsoft.com/office/drawing/2014/main" id="{9C5A76FB-E775-4B32-9ADB-55B0AAAFA6D8}"/>
              </a:ext>
            </a:extLst>
          </p:cNvPr>
          <p:cNvSpPr>
            <a:spLocks xmlns:a="http://schemas.openxmlformats.org/drawingml/2006/main" noGrp="1"/>
          </p:cNvSpPr>
          <p:nvPr/>
        </p:nvSpPr>
        <p:spPr>
          <a:xfrm xmlns:a="http://schemas.openxmlformats.org/drawingml/2006/main">
            <a:off x="990600" y="3352800"/>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6716E"/>
                </a:solidFill>
              </a:defRPr>
            </a:pPr>
            <a:r>
              <a:rPr sz="1050" b="1">
                <a:solidFill>
                  <a:srgbClr val="66716E"/>
                </a:solidFill>
              </a:rPr>
              <a:t>10191</a:t>
            </a:r>
          </a:p>
        </p:txBody>
      </p:sp>
      <p:sp>
        <p:nvSpPr>
          <p:cNvPr id="9" name="">
            <a:extLst xmlns:a="http://schemas.openxmlformats.org/drawingml/2006/main">
              <a:ext uri="{FF2B5EF4-FFF2-40B4-BE49-F238E27FC236}">
                <a16:creationId xmlns:a16="http://schemas.microsoft.com/office/drawing/2014/main" id="{B5DB30E6-DB2B-48AA-A1DE-C5417F18A1FC}"/>
              </a:ext>
            </a:extLst>
          </p:cNvPr>
          <p:cNvSpPr>
            <a:spLocks xmlns:a="http://schemas.openxmlformats.org/drawingml/2006/main" noGrp="1"/>
          </p:cNvSpPr>
          <p:nvPr/>
        </p:nvSpPr>
        <p:spPr>
          <a:xfrm xmlns:a="http://schemas.openxmlformats.org/drawingml/2006/main">
            <a:off x="1695450" y="335280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817"/>
                </a:solidFill>
              </a:defRPr>
            </a:pPr>
            <a:r>
              <a:rPr sz="1275" b="1">
                <a:solidFill>
                  <a:srgbClr val="111817"/>
                </a:solidFill>
              </a:rPr>
              <a:t>Turmeric Ground 3oz</a:t>
            </a:r>
          </a:p>
        </p:txBody>
      </p:sp>
      <p:sp>
        <p:nvSpPr>
          <p:cNvPr id="10" name="">
            <a:extLst xmlns:a="http://schemas.openxmlformats.org/drawingml/2006/main">
              <a:ext uri="{FF2B5EF4-FFF2-40B4-BE49-F238E27FC236}">
                <a16:creationId xmlns:a16="http://schemas.microsoft.com/office/drawing/2014/main" id="{76C13284-1A44-40FE-9F90-5CC612306FED}"/>
              </a:ext>
            </a:extLst>
          </p:cNvPr>
          <p:cNvSpPr>
            <a:spLocks xmlns:a="http://schemas.openxmlformats.org/drawingml/2006/main" noGrp="1"/>
          </p:cNvSpPr>
          <p:nvPr/>
        </p:nvSpPr>
        <p:spPr>
          <a:xfrm xmlns:a="http://schemas.openxmlformats.org/drawingml/2006/main">
            <a:off x="4238625" y="3352800"/>
            <a:ext cx="90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6716E"/>
                </a:solidFill>
              </a:defRPr>
            </a:pPr>
            <a:r>
              <a:rPr sz="1050" b="0">
                <a:solidFill>
                  <a:srgbClr val="66716E"/>
                </a:solidFill>
              </a:rPr>
              <a:t>12 × 3oz</a:t>
            </a:r>
          </a:p>
        </p:txBody>
      </p:sp>
      <p:sp>
        <p:nvSpPr>
          <p:cNvPr id="11" name="">
            <a:extLst xmlns:a="http://schemas.openxmlformats.org/drawingml/2006/main">
              <a:ext uri="{FF2B5EF4-FFF2-40B4-BE49-F238E27FC236}">
                <a16:creationId xmlns:a16="http://schemas.microsoft.com/office/drawing/2014/main" id="{28B9D976-6F3C-4E3C-8340-6B9CDEFE9249}"/>
              </a:ext>
            </a:extLst>
          </p:cNvPr>
          <p:cNvSpPr>
            <a:spLocks xmlns:a="http://schemas.openxmlformats.org/drawingml/2006/main" noGrp="1"/>
          </p:cNvSpPr>
          <p:nvPr/>
        </p:nvSpPr>
        <p:spPr>
          <a:xfrm xmlns:a="http://schemas.openxmlformats.org/drawingml/2006/main">
            <a:off x="5200650" y="33528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75D50"/>
                </a:solidFill>
              </a:defRPr>
            </a:pPr>
            <a:r>
              <a:rPr sz="975" b="1">
                <a:solidFill>
                  <a:srgbClr val="075D50"/>
                </a:solidFill>
              </a:rPr>
              <a:t>In stock</a:t>
            </a:r>
          </a:p>
        </p:txBody>
      </p:sp>
      <p:sp>
        <p:nvSpPr>
          <p:cNvPr id="12" name="">
            <a:extLst xmlns:a="http://schemas.openxmlformats.org/drawingml/2006/main">
              <a:ext uri="{FF2B5EF4-FFF2-40B4-BE49-F238E27FC236}">
                <a16:creationId xmlns:a16="http://schemas.microsoft.com/office/drawing/2014/main" id="{399363D9-7462-4879-AE8B-FFF9057D1D49}"/>
              </a:ext>
            </a:extLst>
          </p:cNvPr>
          <p:cNvSpPr>
            <a:spLocks xmlns:a="http://schemas.openxmlformats.org/drawingml/2006/main" noGrp="1"/>
          </p:cNvSpPr>
          <p:nvPr/>
        </p:nvSpPr>
        <p:spPr>
          <a:xfrm xmlns:a="http://schemas.openxmlformats.org/drawingml/2006/main">
            <a:off x="6191250" y="3286125"/>
            <a:ext cx="933450" cy="361950"/>
          </a:xfrm>
          <a:prstGeom xmlns:a="http://schemas.openxmlformats.org/drawingml/2006/main" prst="roundRect">
            <a:avLst>
              <a:gd name="adj" fmla="val 21053"/>
            </a:avLst>
          </a:prstGeom>
          <a:solidFill xmlns:a="http://schemas.openxmlformats.org/drawingml/2006/main">
            <a:srgbClr val="F7F6F1"/>
          </a:solidFill>
          <a:ln xmlns:a="http://schemas.openxmlformats.org/drawingml/2006/main" w="9525">
            <a:solidFill>
              <a:srgbClr val="DDDCD5"/>
            </a:solidFill>
            <a:prstDash val="solid"/>
          </a:ln>
        </p:spPr>
      </p:sp>
      <p:sp>
        <p:nvSpPr>
          <p:cNvPr id="13" name="">
            <a:extLst xmlns:a="http://schemas.openxmlformats.org/drawingml/2006/main">
              <a:ext uri="{FF2B5EF4-FFF2-40B4-BE49-F238E27FC236}">
                <a16:creationId xmlns:a16="http://schemas.microsoft.com/office/drawing/2014/main" id="{50729B6B-76D3-4C1B-9938-610BF3B39619}"/>
              </a:ext>
            </a:extLst>
          </p:cNvPr>
          <p:cNvSpPr>
            <a:spLocks xmlns:a="http://schemas.openxmlformats.org/drawingml/2006/main" noGrp="1"/>
          </p:cNvSpPr>
          <p:nvPr/>
        </p:nvSpPr>
        <p:spPr>
          <a:xfrm xmlns:a="http://schemas.openxmlformats.org/drawingml/2006/main">
            <a:off x="6267450" y="3362325"/>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11817"/>
                </a:solidFill>
              </a:defRPr>
            </a:pPr>
            <a:r>
              <a:rPr sz="1200" b="1">
                <a:solidFill>
                  <a:srgbClr val="111817"/>
                </a:solidFill>
              </a:rPr>
              <a:t>−   6   +</a:t>
            </a:r>
          </a:p>
        </p:txBody>
      </p:sp>
      <p:sp>
        <p:nvSpPr>
          <p:cNvPr id="14" name="">
            <a:extLst xmlns:a="http://schemas.openxmlformats.org/drawingml/2006/main">
              <a:ext uri="{FF2B5EF4-FFF2-40B4-BE49-F238E27FC236}">
                <a16:creationId xmlns:a16="http://schemas.microsoft.com/office/drawing/2014/main" id="{88C18C02-2443-4B3E-86F2-786F1C905003}"/>
              </a:ext>
            </a:extLst>
          </p:cNvPr>
          <p:cNvSpPr>
            <a:spLocks xmlns:a="http://schemas.openxmlformats.org/drawingml/2006/main" noGrp="1"/>
          </p:cNvSpPr>
          <p:nvPr/>
        </p:nvSpPr>
        <p:spPr>
          <a:xfrm xmlns:a="http://schemas.openxmlformats.org/drawingml/2006/main">
            <a:off x="990600" y="3924300"/>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6716E"/>
                </a:solidFill>
              </a:defRPr>
            </a:pPr>
            <a:r>
              <a:rPr sz="1050" b="1">
                <a:solidFill>
                  <a:srgbClr val="66716E"/>
                </a:solidFill>
              </a:rPr>
              <a:t>10123</a:t>
            </a:r>
          </a:p>
        </p:txBody>
      </p:sp>
      <p:sp>
        <p:nvSpPr>
          <p:cNvPr id="15" name="">
            <a:extLst xmlns:a="http://schemas.openxmlformats.org/drawingml/2006/main">
              <a:ext uri="{FF2B5EF4-FFF2-40B4-BE49-F238E27FC236}">
                <a16:creationId xmlns:a16="http://schemas.microsoft.com/office/drawing/2014/main" id="{C64808C9-B2EE-4F03-B2A5-F494AC114918}"/>
              </a:ext>
            </a:extLst>
          </p:cNvPr>
          <p:cNvSpPr>
            <a:spLocks xmlns:a="http://schemas.openxmlformats.org/drawingml/2006/main" noGrp="1"/>
          </p:cNvSpPr>
          <p:nvPr/>
        </p:nvSpPr>
        <p:spPr>
          <a:xfrm xmlns:a="http://schemas.openxmlformats.org/drawingml/2006/main">
            <a:off x="1695450" y="392430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817"/>
                </a:solidFill>
              </a:defRPr>
            </a:pPr>
            <a:r>
              <a:rPr sz="1275" b="1">
                <a:solidFill>
                  <a:srgbClr val="111817"/>
                </a:solidFill>
              </a:rPr>
              <a:t>Cumin Seeds 3oz</a:t>
            </a:r>
          </a:p>
        </p:txBody>
      </p:sp>
      <p:sp>
        <p:nvSpPr>
          <p:cNvPr id="16" name="">
            <a:extLst xmlns:a="http://schemas.openxmlformats.org/drawingml/2006/main">
              <a:ext uri="{FF2B5EF4-FFF2-40B4-BE49-F238E27FC236}">
                <a16:creationId xmlns:a16="http://schemas.microsoft.com/office/drawing/2014/main" id="{662CF9DF-991F-4E4F-8EEC-510240345558}"/>
              </a:ext>
            </a:extLst>
          </p:cNvPr>
          <p:cNvSpPr>
            <a:spLocks xmlns:a="http://schemas.openxmlformats.org/drawingml/2006/main" noGrp="1"/>
          </p:cNvSpPr>
          <p:nvPr/>
        </p:nvSpPr>
        <p:spPr>
          <a:xfrm xmlns:a="http://schemas.openxmlformats.org/drawingml/2006/main">
            <a:off x="4238625" y="3924300"/>
            <a:ext cx="90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6716E"/>
                </a:solidFill>
              </a:defRPr>
            </a:pPr>
            <a:r>
              <a:rPr sz="1050" b="0">
                <a:solidFill>
                  <a:srgbClr val="66716E"/>
                </a:solidFill>
              </a:rPr>
              <a:t>12 × 3oz</a:t>
            </a:r>
          </a:p>
        </p:txBody>
      </p:sp>
      <p:sp>
        <p:nvSpPr>
          <p:cNvPr id="17" name="">
            <a:extLst xmlns:a="http://schemas.openxmlformats.org/drawingml/2006/main">
              <a:ext uri="{FF2B5EF4-FFF2-40B4-BE49-F238E27FC236}">
                <a16:creationId xmlns:a16="http://schemas.microsoft.com/office/drawing/2014/main" id="{CA84AA16-BE05-4202-9C7F-4A8B55037F18}"/>
              </a:ext>
            </a:extLst>
          </p:cNvPr>
          <p:cNvSpPr>
            <a:spLocks xmlns:a="http://schemas.openxmlformats.org/drawingml/2006/main" noGrp="1"/>
          </p:cNvSpPr>
          <p:nvPr/>
        </p:nvSpPr>
        <p:spPr>
          <a:xfrm xmlns:a="http://schemas.openxmlformats.org/drawingml/2006/main">
            <a:off x="5200650" y="39243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75D50"/>
                </a:solidFill>
              </a:defRPr>
            </a:pPr>
            <a:r>
              <a:rPr sz="975" b="1">
                <a:solidFill>
                  <a:srgbClr val="075D50"/>
                </a:solidFill>
              </a:rPr>
              <a:t>In stock</a:t>
            </a:r>
          </a:p>
        </p:txBody>
      </p:sp>
      <p:sp>
        <p:nvSpPr>
          <p:cNvPr id="18" name="">
            <a:extLst xmlns:a="http://schemas.openxmlformats.org/drawingml/2006/main">
              <a:ext uri="{FF2B5EF4-FFF2-40B4-BE49-F238E27FC236}">
                <a16:creationId xmlns:a16="http://schemas.microsoft.com/office/drawing/2014/main" id="{0C16F7FE-8007-46D8-81D1-AC400C763883}"/>
              </a:ext>
            </a:extLst>
          </p:cNvPr>
          <p:cNvSpPr>
            <a:spLocks xmlns:a="http://schemas.openxmlformats.org/drawingml/2006/main" noGrp="1"/>
          </p:cNvSpPr>
          <p:nvPr/>
        </p:nvSpPr>
        <p:spPr>
          <a:xfrm xmlns:a="http://schemas.openxmlformats.org/drawingml/2006/main">
            <a:off x="6191250" y="3857625"/>
            <a:ext cx="933450" cy="361950"/>
          </a:xfrm>
          <a:prstGeom xmlns:a="http://schemas.openxmlformats.org/drawingml/2006/main" prst="roundRect">
            <a:avLst>
              <a:gd name="adj" fmla="val 21053"/>
            </a:avLst>
          </a:prstGeom>
          <a:solidFill xmlns:a="http://schemas.openxmlformats.org/drawingml/2006/main">
            <a:srgbClr val="F7F6F1"/>
          </a:solidFill>
          <a:ln xmlns:a="http://schemas.openxmlformats.org/drawingml/2006/main" w="9525">
            <a:solidFill>
              <a:srgbClr val="DDDCD5"/>
            </a:solidFill>
            <a:prstDash val="solid"/>
          </a:ln>
        </p:spPr>
      </p:sp>
      <p:sp>
        <p:nvSpPr>
          <p:cNvPr id="19" name="">
            <a:extLst xmlns:a="http://schemas.openxmlformats.org/drawingml/2006/main">
              <a:ext uri="{FF2B5EF4-FFF2-40B4-BE49-F238E27FC236}">
                <a16:creationId xmlns:a16="http://schemas.microsoft.com/office/drawing/2014/main" id="{E8DEB581-31C5-4BEC-B8A2-AD8B49F389C3}"/>
              </a:ext>
            </a:extLst>
          </p:cNvPr>
          <p:cNvSpPr>
            <a:spLocks xmlns:a="http://schemas.openxmlformats.org/drawingml/2006/main" noGrp="1"/>
          </p:cNvSpPr>
          <p:nvPr/>
        </p:nvSpPr>
        <p:spPr>
          <a:xfrm xmlns:a="http://schemas.openxmlformats.org/drawingml/2006/main">
            <a:off x="6267450" y="3933825"/>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11817"/>
                </a:solidFill>
              </a:defRPr>
            </a:pPr>
            <a:r>
              <a:rPr sz="1200" b="1">
                <a:solidFill>
                  <a:srgbClr val="111817"/>
                </a:solidFill>
              </a:rPr>
              <a:t>−   8   +</a:t>
            </a:r>
          </a:p>
        </p:txBody>
      </p:sp>
      <p:sp>
        <p:nvSpPr>
          <p:cNvPr id="20" name="">
            <a:extLst xmlns:a="http://schemas.openxmlformats.org/drawingml/2006/main">
              <a:ext uri="{FF2B5EF4-FFF2-40B4-BE49-F238E27FC236}">
                <a16:creationId xmlns:a16="http://schemas.microsoft.com/office/drawing/2014/main" id="{6CC4E6C2-E114-416B-A099-68530A0C9EB5}"/>
              </a:ext>
            </a:extLst>
          </p:cNvPr>
          <p:cNvSpPr>
            <a:spLocks xmlns:a="http://schemas.openxmlformats.org/drawingml/2006/main" noGrp="1"/>
          </p:cNvSpPr>
          <p:nvPr/>
        </p:nvSpPr>
        <p:spPr>
          <a:xfrm xmlns:a="http://schemas.openxmlformats.org/drawingml/2006/main">
            <a:off x="990600" y="4495800"/>
            <a:ext cx="619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6716E"/>
                </a:solidFill>
              </a:defRPr>
            </a:pPr>
            <a:r>
              <a:rPr sz="1050" b="1">
                <a:solidFill>
                  <a:srgbClr val="66716E"/>
                </a:solidFill>
              </a:rPr>
              <a:t>10143</a:t>
            </a:r>
          </a:p>
        </p:txBody>
      </p:sp>
      <p:sp>
        <p:nvSpPr>
          <p:cNvPr id="21" name="">
            <a:extLst xmlns:a="http://schemas.openxmlformats.org/drawingml/2006/main">
              <a:ext uri="{FF2B5EF4-FFF2-40B4-BE49-F238E27FC236}">
                <a16:creationId xmlns:a16="http://schemas.microsoft.com/office/drawing/2014/main" id="{F0DE8DC9-44DB-4CD1-B0AE-5B54B6855AF2}"/>
              </a:ext>
            </a:extLst>
          </p:cNvPr>
          <p:cNvSpPr>
            <a:spLocks xmlns:a="http://schemas.openxmlformats.org/drawingml/2006/main" noGrp="1"/>
          </p:cNvSpPr>
          <p:nvPr/>
        </p:nvSpPr>
        <p:spPr>
          <a:xfrm xmlns:a="http://schemas.openxmlformats.org/drawingml/2006/main">
            <a:off x="1695450" y="4495800"/>
            <a:ext cx="2428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111817"/>
                </a:solidFill>
              </a:defRPr>
            </a:pPr>
            <a:r>
              <a:rPr sz="1275" b="1">
                <a:solidFill>
                  <a:srgbClr val="111817"/>
                </a:solidFill>
              </a:rPr>
              <a:t>Cardamom Green 2oz</a:t>
            </a:r>
          </a:p>
        </p:txBody>
      </p:sp>
      <p:sp>
        <p:nvSpPr>
          <p:cNvPr id="22" name="">
            <a:extLst xmlns:a="http://schemas.openxmlformats.org/drawingml/2006/main">
              <a:ext uri="{FF2B5EF4-FFF2-40B4-BE49-F238E27FC236}">
                <a16:creationId xmlns:a16="http://schemas.microsoft.com/office/drawing/2014/main" id="{8FA4CD50-CAC7-45DE-B38F-C69FB5338760}"/>
              </a:ext>
            </a:extLst>
          </p:cNvPr>
          <p:cNvSpPr>
            <a:spLocks xmlns:a="http://schemas.openxmlformats.org/drawingml/2006/main" noGrp="1"/>
          </p:cNvSpPr>
          <p:nvPr/>
        </p:nvSpPr>
        <p:spPr>
          <a:xfrm xmlns:a="http://schemas.openxmlformats.org/drawingml/2006/main">
            <a:off x="4238625" y="4495800"/>
            <a:ext cx="904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66716E"/>
                </a:solidFill>
              </a:defRPr>
            </a:pPr>
            <a:r>
              <a:rPr sz="1050" b="0">
                <a:solidFill>
                  <a:srgbClr val="66716E"/>
                </a:solidFill>
              </a:rPr>
              <a:t>12 × 2oz</a:t>
            </a:r>
          </a:p>
        </p:txBody>
      </p:sp>
      <p:sp>
        <p:nvSpPr>
          <p:cNvPr id="23" name="">
            <a:extLst xmlns:a="http://schemas.openxmlformats.org/drawingml/2006/main">
              <a:ext uri="{FF2B5EF4-FFF2-40B4-BE49-F238E27FC236}">
                <a16:creationId xmlns:a16="http://schemas.microsoft.com/office/drawing/2014/main" id="{6FAC8A1C-268D-46F4-9754-19D195CE10DA}"/>
              </a:ext>
            </a:extLst>
          </p:cNvPr>
          <p:cNvSpPr>
            <a:spLocks xmlns:a="http://schemas.openxmlformats.org/drawingml/2006/main" noGrp="1"/>
          </p:cNvSpPr>
          <p:nvPr/>
        </p:nvSpPr>
        <p:spPr>
          <a:xfrm xmlns:a="http://schemas.openxmlformats.org/drawingml/2006/main">
            <a:off x="5200650" y="4495800"/>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E66A00"/>
                </a:solidFill>
              </a:defRPr>
            </a:pPr>
            <a:r>
              <a:rPr sz="975" b="1">
                <a:solidFill>
                  <a:srgbClr val="E66A00"/>
                </a:solidFill>
              </a:rPr>
              <a:t>Low stock</a:t>
            </a:r>
          </a:p>
        </p:txBody>
      </p:sp>
      <p:sp>
        <p:nvSpPr>
          <p:cNvPr id="24" name="">
            <a:extLst xmlns:a="http://schemas.openxmlformats.org/drawingml/2006/main">
              <a:ext uri="{FF2B5EF4-FFF2-40B4-BE49-F238E27FC236}">
                <a16:creationId xmlns:a16="http://schemas.microsoft.com/office/drawing/2014/main" id="{4A2B8DA9-1D80-4B34-BB3A-CF654627A577}"/>
              </a:ext>
            </a:extLst>
          </p:cNvPr>
          <p:cNvSpPr>
            <a:spLocks xmlns:a="http://schemas.openxmlformats.org/drawingml/2006/main" noGrp="1"/>
          </p:cNvSpPr>
          <p:nvPr/>
        </p:nvSpPr>
        <p:spPr>
          <a:xfrm xmlns:a="http://schemas.openxmlformats.org/drawingml/2006/main">
            <a:off x="6191250" y="4429125"/>
            <a:ext cx="933450" cy="361950"/>
          </a:xfrm>
          <a:prstGeom xmlns:a="http://schemas.openxmlformats.org/drawingml/2006/main" prst="roundRect">
            <a:avLst>
              <a:gd name="adj" fmla="val 21053"/>
            </a:avLst>
          </a:prstGeom>
          <a:solidFill xmlns:a="http://schemas.openxmlformats.org/drawingml/2006/main">
            <a:srgbClr val="F7F6F1"/>
          </a:solidFill>
          <a:ln xmlns:a="http://schemas.openxmlformats.org/drawingml/2006/main" w="9525">
            <a:solidFill>
              <a:srgbClr val="DDDCD5"/>
            </a:solidFill>
            <a:prstDash val="solid"/>
          </a:ln>
        </p:spPr>
      </p:sp>
      <p:sp>
        <p:nvSpPr>
          <p:cNvPr id="25" name="">
            <a:extLst xmlns:a="http://schemas.openxmlformats.org/drawingml/2006/main">
              <a:ext uri="{FF2B5EF4-FFF2-40B4-BE49-F238E27FC236}">
                <a16:creationId xmlns:a16="http://schemas.microsoft.com/office/drawing/2014/main" id="{AD486CB4-A9ED-4FFF-9F7C-89EBA6DB76F0}"/>
              </a:ext>
            </a:extLst>
          </p:cNvPr>
          <p:cNvSpPr>
            <a:spLocks xmlns:a="http://schemas.openxmlformats.org/drawingml/2006/main" noGrp="1"/>
          </p:cNvSpPr>
          <p:nvPr/>
        </p:nvSpPr>
        <p:spPr>
          <a:xfrm xmlns:a="http://schemas.openxmlformats.org/drawingml/2006/main">
            <a:off x="6267450" y="4505325"/>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111817"/>
                </a:solidFill>
              </a:defRPr>
            </a:pPr>
            <a:r>
              <a:rPr sz="1200" b="1">
                <a:solidFill>
                  <a:srgbClr val="111817"/>
                </a:solidFill>
              </a:rPr>
              <a:t>−   4   +</a:t>
            </a:r>
          </a:p>
        </p:txBody>
      </p:sp>
      <p:sp>
        <p:nvSpPr>
          <p:cNvPr id="26" name="">
            <a:extLst xmlns:a="http://schemas.openxmlformats.org/drawingml/2006/main">
              <a:ext uri="{FF2B5EF4-FFF2-40B4-BE49-F238E27FC236}">
                <a16:creationId xmlns:a16="http://schemas.microsoft.com/office/drawing/2014/main" id="{05F3BAC1-A29C-4EB7-86DB-BD94E9866227}"/>
              </a:ext>
            </a:extLst>
          </p:cNvPr>
          <p:cNvSpPr>
            <a:spLocks xmlns:a="http://schemas.openxmlformats.org/drawingml/2006/main" noGrp="1"/>
          </p:cNvSpPr>
          <p:nvPr/>
        </p:nvSpPr>
        <p:spPr>
          <a:xfrm xmlns:a="http://schemas.openxmlformats.org/drawingml/2006/main">
            <a:off x="8591550" y="2362200"/>
            <a:ext cx="914400" cy="914400"/>
          </a:xfrm>
          <a:prstGeom xmlns:a="http://schemas.openxmlformats.org/drawingml/2006/main" prst="ellipse">
            <a:avLst/>
          </a:prstGeom>
          <a:solidFill xmlns:a="http://schemas.openxmlformats.org/drawingml/2006/main">
            <a:srgbClr val="E8F4EF"/>
          </a:solidFill>
          <a:ln xmlns:a="http://schemas.openxmlformats.org/drawingml/2006/main" w="0">
            <a:solidFill>
              <a:srgbClr val="E8F4EF"/>
            </a:solid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075D50"/>
                </a:solidFill>
              </a:defRPr>
            </a:pPr>
            <a:r>
              <a:rPr sz="3150" b="1">
                <a:solidFill>
                  <a:srgbClr val="075D50"/>
                </a:solidFill>
              </a:rPr>
              <a:t>$</a:t>
            </a:r>
          </a:p>
        </p:txBody>
      </p:sp>
      <p:sp>
        <p:nvSpPr>
          <p:cNvPr id="27" name="">
            <a:extLst xmlns:a="http://schemas.openxmlformats.org/drawingml/2006/main">
              <a:ext uri="{FF2B5EF4-FFF2-40B4-BE49-F238E27FC236}">
                <a16:creationId xmlns:a16="http://schemas.microsoft.com/office/drawing/2014/main" id="{0D2EC448-A6EA-405A-B560-7DA75AE06847}"/>
              </a:ext>
            </a:extLst>
          </p:cNvPr>
          <p:cNvSpPr>
            <a:spLocks xmlns:a="http://schemas.openxmlformats.org/drawingml/2006/main" noGrp="1"/>
          </p:cNvSpPr>
          <p:nvPr/>
        </p:nvSpPr>
        <p:spPr>
          <a:xfrm xmlns:a="http://schemas.openxmlformats.org/drawingml/2006/main">
            <a:off x="8020050" y="3448050"/>
            <a:ext cx="209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111817"/>
                </a:solidFill>
              </a:defRPr>
            </a:pPr>
            <a:r>
              <a:rPr sz="1950" b="1">
                <a:solidFill>
                  <a:srgbClr val="111817"/>
                </a:solidFill>
              </a:rPr>
              <a:t>Price stays</a:t>
            </a:r>
          </a:p>
          <a:p xmlns:a="http://schemas.openxmlformats.org/drawingml/2006/main">
            <a:pPr algn="ctr">
              <a:defRPr sz="1950" b="1">
                <a:solidFill>
                  <a:srgbClr val="111817"/>
                </a:solidFill>
              </a:defRPr>
            </a:pPr>
            <a:r>
              <a:rPr sz="1950" b="1">
                <a:solidFill>
                  <a:srgbClr val="111817"/>
                </a:solidFill>
              </a:rPr>
              <a:t>private</a:t>
            </a:r>
          </a:p>
        </p:txBody>
      </p:sp>
      <p:sp>
        <p:nvSpPr>
          <p:cNvPr id="28" name="">
            <a:extLst xmlns:a="http://schemas.openxmlformats.org/drawingml/2006/main">
              <a:ext uri="{FF2B5EF4-FFF2-40B4-BE49-F238E27FC236}">
                <a16:creationId xmlns:a16="http://schemas.microsoft.com/office/drawing/2014/main" id="{0D33D093-6957-4A49-9584-682E486EEACE}"/>
              </a:ext>
            </a:extLst>
          </p:cNvPr>
          <p:cNvSpPr>
            <a:spLocks xmlns:a="http://schemas.openxmlformats.org/drawingml/2006/main" noGrp="1"/>
          </p:cNvSpPr>
          <p:nvPr/>
        </p:nvSpPr>
        <p:spPr>
          <a:xfrm xmlns:a="http://schemas.openxmlformats.org/drawingml/2006/main">
            <a:off x="8058150" y="4210050"/>
            <a:ext cx="200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0">
                <a:solidFill>
                  <a:srgbClr val="66716E"/>
                </a:solidFill>
              </a:defRPr>
            </a:pPr>
            <a:r>
              <a:rPr sz="1425" b="0">
                <a:solidFill>
                  <a:srgbClr val="66716E"/>
                </a:solidFill>
              </a:rPr>
              <a:t>No price column.</a:t>
            </a:r>
          </a:p>
          <a:p xmlns:a="http://schemas.openxmlformats.org/drawingml/2006/main">
            <a:pPr algn="ctr">
              <a:defRPr sz="1425" b="0">
                <a:solidFill>
                  <a:srgbClr val="66716E"/>
                </a:solidFill>
              </a:defRPr>
            </a:pPr>
            <a:r>
              <a:rPr sz="1425" b="0">
                <a:solidFill>
                  <a:srgbClr val="66716E"/>
                </a:solidFill>
              </a:rPr>
              <a:t>No price placeholder.</a:t>
            </a:r>
          </a:p>
          <a:p xmlns:a="http://schemas.openxmlformats.org/drawingml/2006/main">
            <a:pPr algn="ctr">
              <a:defRPr sz="1425" b="0">
                <a:solidFill>
                  <a:srgbClr val="66716E"/>
                </a:solidFill>
              </a:defRPr>
            </a:pPr>
            <a:r>
              <a:rPr sz="1425" b="0">
                <a:solidFill>
                  <a:srgbClr val="66716E"/>
                </a:solidFill>
              </a:rPr>
              <a:t>No total before quoting.</a:t>
            </a:r>
          </a:p>
        </p:txBody>
      </p:sp>
      <p:sp>
        <p:nvSpPr>
          <p:cNvPr id="29" name="">
            <a:extLst xmlns:a="http://schemas.openxmlformats.org/drawingml/2006/main">
              <a:ext uri="{FF2B5EF4-FFF2-40B4-BE49-F238E27FC236}">
                <a16:creationId xmlns:a16="http://schemas.microsoft.com/office/drawing/2014/main" id="{F2A918F3-334E-478F-83E2-98FE53B91E3C}"/>
              </a:ext>
            </a:extLst>
          </p:cNvPr>
          <p:cNvSpPr>
            <a:spLocks xmlns:a="http://schemas.openxmlformats.org/drawingml/2006/main" noGrp="1"/>
          </p:cNvSpPr>
          <p:nvPr/>
        </p:nvSpPr>
        <p:spPr>
          <a:xfrm xmlns:a="http://schemas.openxmlformats.org/drawingml/2006/main">
            <a:off x="6858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30" name="">
            <a:extLst xmlns:a="http://schemas.openxmlformats.org/drawingml/2006/main">
              <a:ext uri="{FF2B5EF4-FFF2-40B4-BE49-F238E27FC236}">
                <a16:creationId xmlns:a16="http://schemas.microsoft.com/office/drawing/2014/main" id="{E19BB773-95D7-4601-979A-C052812117A7}"/>
              </a:ext>
            </a:extLst>
          </p:cNvPr>
          <p:cNvSpPr>
            <a:spLocks xmlns:a="http://schemas.openxmlformats.org/drawingml/2006/main" noGrp="1"/>
          </p:cNvSpPr>
          <p:nvPr/>
        </p:nvSpPr>
        <p:spPr>
          <a:xfrm xmlns:a="http://schemas.openxmlformats.org/drawingml/2006/main">
            <a:off x="10096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ACCESS</a:t>
            </a:r>
          </a:p>
        </p:txBody>
      </p:sp>
      <p:sp>
        <p:nvSpPr>
          <p:cNvPr id="31" name="">
            <a:extLst xmlns:a="http://schemas.openxmlformats.org/drawingml/2006/main">
              <a:ext uri="{FF2B5EF4-FFF2-40B4-BE49-F238E27FC236}">
                <a16:creationId xmlns:a16="http://schemas.microsoft.com/office/drawing/2014/main" id="{54EE98D7-0C60-42BB-B8E5-313B07039780}"/>
              </a:ext>
            </a:extLst>
          </p:cNvPr>
          <p:cNvSpPr>
            <a:spLocks xmlns:a="http://schemas.openxmlformats.org/drawingml/2006/main" noGrp="1"/>
          </p:cNvSpPr>
          <p:nvPr/>
        </p:nvSpPr>
        <p:spPr>
          <a:xfrm xmlns:a="http://schemas.openxmlformats.org/drawingml/2006/main">
            <a:off x="95250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32" name="">
            <a:extLst xmlns:a="http://schemas.openxmlformats.org/drawingml/2006/main">
              <a:ext uri="{FF2B5EF4-FFF2-40B4-BE49-F238E27FC236}">
                <a16:creationId xmlns:a16="http://schemas.microsoft.com/office/drawing/2014/main" id="{F5B1D2A4-B3EA-4ACE-9E89-3B91B317843C}"/>
              </a:ext>
            </a:extLst>
          </p:cNvPr>
          <p:cNvSpPr>
            <a:spLocks xmlns:a="http://schemas.openxmlformats.org/drawingml/2006/main" noGrp="1"/>
          </p:cNvSpPr>
          <p:nvPr/>
        </p:nvSpPr>
        <p:spPr>
          <a:xfrm xmlns:a="http://schemas.openxmlformats.org/drawingml/2006/main">
            <a:off x="219075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33" name="">
            <a:extLst xmlns:a="http://schemas.openxmlformats.org/drawingml/2006/main">
              <a:ext uri="{FF2B5EF4-FFF2-40B4-BE49-F238E27FC236}">
                <a16:creationId xmlns:a16="http://schemas.microsoft.com/office/drawing/2014/main" id="{47F031B3-F505-4D92-96A5-6B8862B1AA88}"/>
              </a:ext>
            </a:extLst>
          </p:cNvPr>
          <p:cNvSpPr>
            <a:spLocks xmlns:a="http://schemas.openxmlformats.org/drawingml/2006/main" noGrp="1"/>
          </p:cNvSpPr>
          <p:nvPr/>
        </p:nvSpPr>
        <p:spPr>
          <a:xfrm xmlns:a="http://schemas.openxmlformats.org/drawingml/2006/main">
            <a:off x="25146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075D50"/>
                </a:solidFill>
              </a:defRPr>
            </a:pPr>
            <a:r>
              <a:rPr sz="825" b="1">
                <a:solidFill>
                  <a:srgbClr val="075D50"/>
                </a:solidFill>
              </a:rPr>
              <a:t>REQUEST</a:t>
            </a:r>
          </a:p>
        </p:txBody>
      </p:sp>
      <p:sp>
        <p:nvSpPr>
          <p:cNvPr id="34" name="">
            <a:extLst xmlns:a="http://schemas.openxmlformats.org/drawingml/2006/main">
              <a:ext uri="{FF2B5EF4-FFF2-40B4-BE49-F238E27FC236}">
                <a16:creationId xmlns:a16="http://schemas.microsoft.com/office/drawing/2014/main" id="{83C38C92-7528-496F-8CF2-E7B136FEE61B}"/>
              </a:ext>
            </a:extLst>
          </p:cNvPr>
          <p:cNvSpPr>
            <a:spLocks xmlns:a="http://schemas.openxmlformats.org/drawingml/2006/main" noGrp="1"/>
          </p:cNvSpPr>
          <p:nvPr/>
        </p:nvSpPr>
        <p:spPr>
          <a:xfrm xmlns:a="http://schemas.openxmlformats.org/drawingml/2006/main">
            <a:off x="245745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35" name="">
            <a:extLst xmlns:a="http://schemas.openxmlformats.org/drawingml/2006/main">
              <a:ext uri="{FF2B5EF4-FFF2-40B4-BE49-F238E27FC236}">
                <a16:creationId xmlns:a16="http://schemas.microsoft.com/office/drawing/2014/main" id="{564E2ABC-8274-4EC8-868E-37CF32C393D2}"/>
              </a:ext>
            </a:extLst>
          </p:cNvPr>
          <p:cNvSpPr>
            <a:spLocks xmlns:a="http://schemas.openxmlformats.org/drawingml/2006/main" noGrp="1"/>
          </p:cNvSpPr>
          <p:nvPr/>
        </p:nvSpPr>
        <p:spPr>
          <a:xfrm xmlns:a="http://schemas.openxmlformats.org/drawingml/2006/main">
            <a:off x="369570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36" name="">
            <a:extLst xmlns:a="http://schemas.openxmlformats.org/drawingml/2006/main">
              <a:ext uri="{FF2B5EF4-FFF2-40B4-BE49-F238E27FC236}">
                <a16:creationId xmlns:a16="http://schemas.microsoft.com/office/drawing/2014/main" id="{BF558BCB-BE3E-4A29-9FAD-A3AD3DE4FDF7}"/>
              </a:ext>
            </a:extLst>
          </p:cNvPr>
          <p:cNvSpPr>
            <a:spLocks xmlns:a="http://schemas.openxmlformats.org/drawingml/2006/main" noGrp="1"/>
          </p:cNvSpPr>
          <p:nvPr/>
        </p:nvSpPr>
        <p:spPr>
          <a:xfrm xmlns:a="http://schemas.openxmlformats.org/drawingml/2006/main">
            <a:off x="40195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REVIEW</a:t>
            </a:r>
          </a:p>
        </p:txBody>
      </p:sp>
      <p:sp>
        <p:nvSpPr>
          <p:cNvPr id="37" name="">
            <a:extLst xmlns:a="http://schemas.openxmlformats.org/drawingml/2006/main">
              <a:ext uri="{FF2B5EF4-FFF2-40B4-BE49-F238E27FC236}">
                <a16:creationId xmlns:a16="http://schemas.microsoft.com/office/drawing/2014/main" id="{D815C119-2A17-4177-9550-5C8D20798329}"/>
              </a:ext>
            </a:extLst>
          </p:cNvPr>
          <p:cNvSpPr>
            <a:spLocks xmlns:a="http://schemas.openxmlformats.org/drawingml/2006/main" noGrp="1"/>
          </p:cNvSpPr>
          <p:nvPr/>
        </p:nvSpPr>
        <p:spPr>
          <a:xfrm xmlns:a="http://schemas.openxmlformats.org/drawingml/2006/main">
            <a:off x="396240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38" name="">
            <a:extLst xmlns:a="http://schemas.openxmlformats.org/drawingml/2006/main">
              <a:ext uri="{FF2B5EF4-FFF2-40B4-BE49-F238E27FC236}">
                <a16:creationId xmlns:a16="http://schemas.microsoft.com/office/drawing/2014/main" id="{03ABF007-89C4-4C20-BA2E-E19022AE3589}"/>
              </a:ext>
            </a:extLst>
          </p:cNvPr>
          <p:cNvSpPr>
            <a:spLocks xmlns:a="http://schemas.openxmlformats.org/drawingml/2006/main" noGrp="1"/>
          </p:cNvSpPr>
          <p:nvPr/>
        </p:nvSpPr>
        <p:spPr>
          <a:xfrm xmlns:a="http://schemas.openxmlformats.org/drawingml/2006/main">
            <a:off x="520065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39" name="">
            <a:extLst xmlns:a="http://schemas.openxmlformats.org/drawingml/2006/main">
              <a:ext uri="{FF2B5EF4-FFF2-40B4-BE49-F238E27FC236}">
                <a16:creationId xmlns:a16="http://schemas.microsoft.com/office/drawing/2014/main" id="{3A32D854-5249-4217-9A48-781E449978C8}"/>
              </a:ext>
            </a:extLst>
          </p:cNvPr>
          <p:cNvSpPr>
            <a:spLocks xmlns:a="http://schemas.openxmlformats.org/drawingml/2006/main" noGrp="1"/>
          </p:cNvSpPr>
          <p:nvPr/>
        </p:nvSpPr>
        <p:spPr>
          <a:xfrm xmlns:a="http://schemas.openxmlformats.org/drawingml/2006/main">
            <a:off x="55245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PRO-FORMA</a:t>
            </a:r>
          </a:p>
        </p:txBody>
      </p:sp>
      <p:sp>
        <p:nvSpPr>
          <p:cNvPr id="40" name="">
            <a:extLst xmlns:a="http://schemas.openxmlformats.org/drawingml/2006/main">
              <a:ext uri="{FF2B5EF4-FFF2-40B4-BE49-F238E27FC236}">
                <a16:creationId xmlns:a16="http://schemas.microsoft.com/office/drawing/2014/main" id="{A98E7F4B-DF9A-4090-8005-846B6FC7D406}"/>
              </a:ext>
            </a:extLst>
          </p:cNvPr>
          <p:cNvSpPr>
            <a:spLocks xmlns:a="http://schemas.openxmlformats.org/drawingml/2006/main" noGrp="1"/>
          </p:cNvSpPr>
          <p:nvPr/>
        </p:nvSpPr>
        <p:spPr>
          <a:xfrm xmlns:a="http://schemas.openxmlformats.org/drawingml/2006/main">
            <a:off x="546735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41" name="">
            <a:extLst xmlns:a="http://schemas.openxmlformats.org/drawingml/2006/main">
              <a:ext uri="{FF2B5EF4-FFF2-40B4-BE49-F238E27FC236}">
                <a16:creationId xmlns:a16="http://schemas.microsoft.com/office/drawing/2014/main" id="{8DBE3775-A6BE-4FF9-B529-2BA6AC02E900}"/>
              </a:ext>
            </a:extLst>
          </p:cNvPr>
          <p:cNvSpPr>
            <a:spLocks xmlns:a="http://schemas.openxmlformats.org/drawingml/2006/main" noGrp="1"/>
          </p:cNvSpPr>
          <p:nvPr/>
        </p:nvSpPr>
        <p:spPr>
          <a:xfrm xmlns:a="http://schemas.openxmlformats.org/drawingml/2006/main">
            <a:off x="670560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5</a:t>
            </a:r>
          </a:p>
        </p:txBody>
      </p:sp>
      <p:sp>
        <p:nvSpPr>
          <p:cNvPr id="42" name="">
            <a:extLst xmlns:a="http://schemas.openxmlformats.org/drawingml/2006/main">
              <a:ext uri="{FF2B5EF4-FFF2-40B4-BE49-F238E27FC236}">
                <a16:creationId xmlns:a16="http://schemas.microsoft.com/office/drawing/2014/main" id="{E983278F-F63E-472E-8D0C-1C097FFA7296}"/>
              </a:ext>
            </a:extLst>
          </p:cNvPr>
          <p:cNvSpPr>
            <a:spLocks xmlns:a="http://schemas.openxmlformats.org/drawingml/2006/main" noGrp="1"/>
          </p:cNvSpPr>
          <p:nvPr/>
        </p:nvSpPr>
        <p:spPr>
          <a:xfrm xmlns:a="http://schemas.openxmlformats.org/drawingml/2006/main">
            <a:off x="70294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APPROVAL</a:t>
            </a:r>
          </a:p>
        </p:txBody>
      </p:sp>
      <p:sp>
        <p:nvSpPr>
          <p:cNvPr id="43" name="">
            <a:extLst xmlns:a="http://schemas.openxmlformats.org/drawingml/2006/main">
              <a:ext uri="{FF2B5EF4-FFF2-40B4-BE49-F238E27FC236}">
                <a16:creationId xmlns:a16="http://schemas.microsoft.com/office/drawing/2014/main" id="{174DCFEC-1EA4-409E-8287-704D3776DF0D}"/>
              </a:ext>
            </a:extLst>
          </p:cNvPr>
          <p:cNvSpPr>
            <a:spLocks xmlns:a="http://schemas.openxmlformats.org/drawingml/2006/main" noGrp="1"/>
          </p:cNvSpPr>
          <p:nvPr/>
        </p:nvSpPr>
        <p:spPr>
          <a:xfrm xmlns:a="http://schemas.openxmlformats.org/drawingml/2006/main">
            <a:off x="697230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44" name="">
            <a:extLst xmlns:a="http://schemas.openxmlformats.org/drawingml/2006/main">
              <a:ext uri="{FF2B5EF4-FFF2-40B4-BE49-F238E27FC236}">
                <a16:creationId xmlns:a16="http://schemas.microsoft.com/office/drawing/2014/main" id="{07587D3D-E02E-431A-8F39-4702C07F1894}"/>
              </a:ext>
            </a:extLst>
          </p:cNvPr>
          <p:cNvSpPr>
            <a:spLocks xmlns:a="http://schemas.openxmlformats.org/drawingml/2006/main" noGrp="1"/>
          </p:cNvSpPr>
          <p:nvPr/>
        </p:nvSpPr>
        <p:spPr>
          <a:xfrm xmlns:a="http://schemas.openxmlformats.org/drawingml/2006/main">
            <a:off x="821055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6</a:t>
            </a:r>
          </a:p>
        </p:txBody>
      </p:sp>
      <p:sp>
        <p:nvSpPr>
          <p:cNvPr id="45" name="">
            <a:extLst xmlns:a="http://schemas.openxmlformats.org/drawingml/2006/main">
              <a:ext uri="{FF2B5EF4-FFF2-40B4-BE49-F238E27FC236}">
                <a16:creationId xmlns:a16="http://schemas.microsoft.com/office/drawing/2014/main" id="{A92198BA-7E63-491F-A756-EC8B9DCD4979}"/>
              </a:ext>
            </a:extLst>
          </p:cNvPr>
          <p:cNvSpPr>
            <a:spLocks xmlns:a="http://schemas.openxmlformats.org/drawingml/2006/main" noGrp="1"/>
          </p:cNvSpPr>
          <p:nvPr/>
        </p:nvSpPr>
        <p:spPr>
          <a:xfrm xmlns:a="http://schemas.openxmlformats.org/drawingml/2006/main">
            <a:off x="85344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DISPATCH</a:t>
            </a:r>
          </a:p>
        </p:txBody>
      </p:sp>
      <p:sp>
        <p:nvSpPr>
          <p:cNvPr id="46" name="">
            <a:extLst xmlns:a="http://schemas.openxmlformats.org/drawingml/2006/main">
              <a:ext uri="{FF2B5EF4-FFF2-40B4-BE49-F238E27FC236}">
                <a16:creationId xmlns:a16="http://schemas.microsoft.com/office/drawing/2014/main" id="{B3D763C1-1CAD-40BF-B806-01EF42DDACCB}"/>
              </a:ext>
            </a:extLst>
          </p:cNvPr>
          <p:cNvSpPr>
            <a:spLocks xmlns:a="http://schemas.openxmlformats.org/drawingml/2006/main" noGrp="1"/>
          </p:cNvSpPr>
          <p:nvPr/>
        </p:nvSpPr>
        <p:spPr>
          <a:xfrm xmlns:a="http://schemas.openxmlformats.org/drawingml/2006/main">
            <a:off x="847725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47" name="">
            <a:extLst xmlns:a="http://schemas.openxmlformats.org/drawingml/2006/main">
              <a:ext uri="{FF2B5EF4-FFF2-40B4-BE49-F238E27FC236}">
                <a16:creationId xmlns:a16="http://schemas.microsoft.com/office/drawing/2014/main" id="{A26824E3-EE8A-4C4C-B47B-3D91C5BD4B77}"/>
              </a:ext>
            </a:extLst>
          </p:cNvPr>
          <p:cNvSpPr>
            <a:spLocks xmlns:a="http://schemas.openxmlformats.org/drawingml/2006/main" noGrp="1"/>
          </p:cNvSpPr>
          <p:nvPr/>
        </p:nvSpPr>
        <p:spPr>
          <a:xfrm xmlns:a="http://schemas.openxmlformats.org/drawingml/2006/main">
            <a:off x="971550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7</a:t>
            </a:r>
          </a:p>
        </p:txBody>
      </p:sp>
      <p:sp>
        <p:nvSpPr>
          <p:cNvPr id="48" name="">
            <a:extLst xmlns:a="http://schemas.openxmlformats.org/drawingml/2006/main">
              <a:ext uri="{FF2B5EF4-FFF2-40B4-BE49-F238E27FC236}">
                <a16:creationId xmlns:a16="http://schemas.microsoft.com/office/drawing/2014/main" id="{D318540C-59B2-4B7D-A846-B334471CE373}"/>
              </a:ext>
            </a:extLst>
          </p:cNvPr>
          <p:cNvSpPr>
            <a:spLocks xmlns:a="http://schemas.openxmlformats.org/drawingml/2006/main" noGrp="1"/>
          </p:cNvSpPr>
          <p:nvPr/>
        </p:nvSpPr>
        <p:spPr>
          <a:xfrm xmlns:a="http://schemas.openxmlformats.org/drawingml/2006/main">
            <a:off x="100393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INVOICE</a:t>
            </a:r>
          </a:p>
        </p:txBody>
      </p:sp>
      <p:sp>
        <p:nvSpPr>
          <p:cNvPr id="49" name="">
            <a:extLst xmlns:a="http://schemas.openxmlformats.org/drawingml/2006/main">
              <a:ext uri="{FF2B5EF4-FFF2-40B4-BE49-F238E27FC236}">
                <a16:creationId xmlns:a16="http://schemas.microsoft.com/office/drawing/2014/main" id="{B7AA93A4-06DF-40B0-8B59-04300A045FC9}"/>
              </a:ext>
            </a:extLst>
          </p:cNvPr>
          <p:cNvSpPr>
            <a:spLocks xmlns:a="http://schemas.openxmlformats.org/drawingml/2006/main" noGrp="1"/>
          </p:cNvSpPr>
          <p:nvPr/>
        </p:nvSpPr>
        <p:spPr>
          <a:xfrm xmlns:a="http://schemas.openxmlformats.org/drawingml/2006/main">
            <a:off x="685800" y="6477000"/>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6716E"/>
                </a:solidFill>
              </a:defRPr>
            </a:pPr>
            <a:r>
              <a:rPr sz="825" b="1">
                <a:solidFill>
                  <a:srgbClr val="66716E"/>
                </a:solidFill>
              </a:rPr>
              <a:t>ORDER DESK  ·  OMNIORDER MVP</a:t>
            </a:r>
          </a:p>
        </p:txBody>
      </p:sp>
      <p:sp>
        <p:nvSpPr>
          <p:cNvPr id="50" name="">
            <a:extLst xmlns:a="http://schemas.openxmlformats.org/drawingml/2006/main">
              <a:ext uri="{FF2B5EF4-FFF2-40B4-BE49-F238E27FC236}">
                <a16:creationId xmlns:a16="http://schemas.microsoft.com/office/drawing/2014/main" id="{E822F6DA-22BF-4812-9424-4040DF2D9BA3}"/>
              </a:ext>
            </a:extLst>
          </p:cNvPr>
          <p:cNvSpPr>
            <a:spLocks xmlns:a="http://schemas.openxmlformats.org/drawingml/2006/main" noGrp="1"/>
          </p:cNvSpPr>
          <p:nvPr/>
        </p:nvSpPr>
        <p:spPr>
          <a:xfrm xmlns:a="http://schemas.openxmlformats.org/drawingml/2006/main">
            <a:off x="11049000" y="64770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6716E"/>
                </a:solidFill>
              </a:defRPr>
            </a:pPr>
            <a:r>
              <a:rPr sz="825" b="1">
                <a:solidFill>
                  <a:srgbClr val="66716E"/>
                </a:solidFill>
              </a:rPr>
              <a:t>03</a:t>
            </a:r>
          </a:p>
        </p:txBody>
      </p:sp>
    </p:spTree>
    <p:extLst>
      <p:ext uri="{BB962C8B-B14F-4D97-AF65-F5344CB8AC3E}">
        <p14:creationId xmlns:p14="http://schemas.microsoft.com/office/powerpoint/2010/main" val="1188463302"/>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E2169A2C-B8F2-4BB2-9B95-AB923D763B47}"/>
              </a:ext>
            </a:extLst>
          </p:cNvPr>
          <p:cNvSpPr>
            <a:spLocks xmlns:a="http://schemas.openxmlformats.org/drawingml/2006/main" noGrp="1"/>
          </p:cNvSpPr>
          <p:nvPr/>
        </p:nvSpPr>
        <p:spPr>
          <a:xfrm xmlns:a="http://schemas.openxmlformats.org/drawingml/2006/main">
            <a:off x="857250" y="4572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75D50"/>
                </a:solidFill>
              </a:defRPr>
            </a:pPr>
            <a:r>
              <a:rPr sz="975" b="1">
                <a:solidFill>
                  <a:srgbClr val="075D50"/>
                </a:solidFill>
              </a:rPr>
              <a:t>STEP 3 · SALES CONTROL</a:t>
            </a:r>
          </a:p>
        </p:txBody>
      </p:sp>
      <p:sp>
        <p:nvSpPr>
          <p:cNvPr id="2" name="">
            <a:extLst xmlns:a="http://schemas.openxmlformats.org/drawingml/2006/main">
              <a:ext uri="{FF2B5EF4-FFF2-40B4-BE49-F238E27FC236}">
                <a16:creationId xmlns:a16="http://schemas.microsoft.com/office/drawing/2014/main" id="{A6F91C35-1FE3-47EF-96AD-5A297B0A0927}"/>
              </a:ext>
            </a:extLst>
          </p:cNvPr>
          <p:cNvSpPr>
            <a:spLocks xmlns:a="http://schemas.openxmlformats.org/drawingml/2006/main" noGrp="1"/>
          </p:cNvSpPr>
          <p:nvPr/>
        </p:nvSpPr>
        <p:spPr>
          <a:xfrm xmlns:a="http://schemas.openxmlformats.org/drawingml/2006/main">
            <a:off x="857250" y="781050"/>
            <a:ext cx="10648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817"/>
                </a:solidFill>
              </a:defRPr>
            </a:pPr>
            <a:r>
              <a:rPr sz="2850" b="1">
                <a:solidFill>
                  <a:srgbClr val="111817"/>
                </a:solidFill>
              </a:rPr>
              <a:t>Sales owns the product list, inventory, and visibility</a:t>
            </a:r>
          </a:p>
        </p:txBody>
      </p:sp>
      <p:sp>
        <p:nvSpPr>
          <p:cNvPr id="3" name="">
            <a:extLst xmlns:a="http://schemas.openxmlformats.org/drawingml/2006/main">
              <a:ext uri="{FF2B5EF4-FFF2-40B4-BE49-F238E27FC236}">
                <a16:creationId xmlns:a16="http://schemas.microsoft.com/office/drawing/2014/main" id="{F7EBB0B5-98E6-4C18-BF7C-E1BB813F3687}"/>
              </a:ext>
            </a:extLst>
          </p:cNvPr>
          <p:cNvSpPr>
            <a:spLocks xmlns:a="http://schemas.openxmlformats.org/drawingml/2006/main" noGrp="1"/>
          </p:cNvSpPr>
          <p:nvPr/>
        </p:nvSpPr>
        <p:spPr>
          <a:xfrm xmlns:a="http://schemas.openxmlformats.org/drawingml/2006/main">
            <a:off x="857250" y="1428750"/>
            <a:ext cx="982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6716E"/>
                </a:solidFill>
              </a:defRPr>
            </a:pPr>
            <a:r>
              <a:rPr sz="1425" b="0">
                <a:solidFill>
                  <a:srgbClr val="66716E"/>
                </a:solidFill>
              </a:rPr>
              <a:t>The representative can import a CSV, correct products, publish items, and hide unavailable stock.</a:t>
            </a:r>
          </a:p>
        </p:txBody>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258b681f659f451f"/>
          <a:stretch xmlns:a="http://schemas.openxmlformats.org/drawingml/2006/main"/>
        </p:blipFill>
        <p:spPr>
          <a:xfrm xmlns:a="http://schemas.openxmlformats.org/drawingml/2006/main">
            <a:off x="3189178" y="1952625"/>
            <a:ext cx="5813645" cy="3667125"/>
          </a:xfrm>
          <a:prstGeom xmlns:a="http://schemas.openxmlformats.org/drawingml/2006/main" prst="roundRect">
            <a:avLst>
              <a:gd name="adj" fmla="val 3117"/>
            </a:avLst>
          </a:prstGeom>
        </p:spPr>
      </p:pic>
      <p:sp>
        <p:nvSpPr>
          <p:cNvPr id="5" name="">
            <a:extLst xmlns:a="http://schemas.openxmlformats.org/drawingml/2006/main">
              <a:ext uri="{FF2B5EF4-FFF2-40B4-BE49-F238E27FC236}">
                <a16:creationId xmlns:a16="http://schemas.microsoft.com/office/drawing/2014/main" id="{C13B1F86-B2D4-447E-A249-D6BABB20AEA5}"/>
              </a:ext>
            </a:extLst>
          </p:cNvPr>
          <p:cNvSpPr>
            <a:spLocks xmlns:a="http://schemas.openxmlformats.org/drawingml/2006/main" noGrp="1"/>
          </p:cNvSpPr>
          <p:nvPr/>
        </p:nvSpPr>
        <p:spPr>
          <a:xfrm xmlns:a="http://schemas.openxmlformats.org/drawingml/2006/main">
            <a:off x="6858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6" name="">
            <a:extLst xmlns:a="http://schemas.openxmlformats.org/drawingml/2006/main">
              <a:ext uri="{FF2B5EF4-FFF2-40B4-BE49-F238E27FC236}">
                <a16:creationId xmlns:a16="http://schemas.microsoft.com/office/drawing/2014/main" id="{7346B204-0F5B-4D22-A6EF-9B9ADC14C21D}"/>
              </a:ext>
            </a:extLst>
          </p:cNvPr>
          <p:cNvSpPr>
            <a:spLocks xmlns:a="http://schemas.openxmlformats.org/drawingml/2006/main" noGrp="1"/>
          </p:cNvSpPr>
          <p:nvPr/>
        </p:nvSpPr>
        <p:spPr>
          <a:xfrm xmlns:a="http://schemas.openxmlformats.org/drawingml/2006/main">
            <a:off x="10096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ACCESS</a:t>
            </a:r>
          </a:p>
        </p:txBody>
      </p:sp>
      <p:sp>
        <p:nvSpPr>
          <p:cNvPr id="7" name="">
            <a:extLst xmlns:a="http://schemas.openxmlformats.org/drawingml/2006/main">
              <a:ext uri="{FF2B5EF4-FFF2-40B4-BE49-F238E27FC236}">
                <a16:creationId xmlns:a16="http://schemas.microsoft.com/office/drawing/2014/main" id="{00C3023C-E953-48D4-911D-985BA7E8840A}"/>
              </a:ext>
            </a:extLst>
          </p:cNvPr>
          <p:cNvSpPr>
            <a:spLocks xmlns:a="http://schemas.openxmlformats.org/drawingml/2006/main" noGrp="1"/>
          </p:cNvSpPr>
          <p:nvPr/>
        </p:nvSpPr>
        <p:spPr>
          <a:xfrm xmlns:a="http://schemas.openxmlformats.org/drawingml/2006/main">
            <a:off x="95250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8" name="">
            <a:extLst xmlns:a="http://schemas.openxmlformats.org/drawingml/2006/main">
              <a:ext uri="{FF2B5EF4-FFF2-40B4-BE49-F238E27FC236}">
                <a16:creationId xmlns:a16="http://schemas.microsoft.com/office/drawing/2014/main" id="{971190E6-4864-46A3-93A2-E2E9A2F9DDA0}"/>
              </a:ext>
            </a:extLst>
          </p:cNvPr>
          <p:cNvSpPr>
            <a:spLocks xmlns:a="http://schemas.openxmlformats.org/drawingml/2006/main" noGrp="1"/>
          </p:cNvSpPr>
          <p:nvPr/>
        </p:nvSpPr>
        <p:spPr>
          <a:xfrm xmlns:a="http://schemas.openxmlformats.org/drawingml/2006/main">
            <a:off x="219075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9" name="">
            <a:extLst xmlns:a="http://schemas.openxmlformats.org/drawingml/2006/main">
              <a:ext uri="{FF2B5EF4-FFF2-40B4-BE49-F238E27FC236}">
                <a16:creationId xmlns:a16="http://schemas.microsoft.com/office/drawing/2014/main" id="{663512F6-0756-4C92-8808-493D40FBE830}"/>
              </a:ext>
            </a:extLst>
          </p:cNvPr>
          <p:cNvSpPr>
            <a:spLocks xmlns:a="http://schemas.openxmlformats.org/drawingml/2006/main" noGrp="1"/>
          </p:cNvSpPr>
          <p:nvPr/>
        </p:nvSpPr>
        <p:spPr>
          <a:xfrm xmlns:a="http://schemas.openxmlformats.org/drawingml/2006/main">
            <a:off x="25146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REQUEST</a:t>
            </a:r>
          </a:p>
        </p:txBody>
      </p:sp>
      <p:sp>
        <p:nvSpPr>
          <p:cNvPr id="10" name="">
            <a:extLst xmlns:a="http://schemas.openxmlformats.org/drawingml/2006/main">
              <a:ext uri="{FF2B5EF4-FFF2-40B4-BE49-F238E27FC236}">
                <a16:creationId xmlns:a16="http://schemas.microsoft.com/office/drawing/2014/main" id="{27999749-DD9C-4B0A-9097-B8481501C133}"/>
              </a:ext>
            </a:extLst>
          </p:cNvPr>
          <p:cNvSpPr>
            <a:spLocks xmlns:a="http://schemas.openxmlformats.org/drawingml/2006/main" noGrp="1"/>
          </p:cNvSpPr>
          <p:nvPr/>
        </p:nvSpPr>
        <p:spPr>
          <a:xfrm xmlns:a="http://schemas.openxmlformats.org/drawingml/2006/main">
            <a:off x="245745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11" name="">
            <a:extLst xmlns:a="http://schemas.openxmlformats.org/drawingml/2006/main">
              <a:ext uri="{FF2B5EF4-FFF2-40B4-BE49-F238E27FC236}">
                <a16:creationId xmlns:a16="http://schemas.microsoft.com/office/drawing/2014/main" id="{3E6E4A1E-F42C-4DA9-8657-60E6E77F6BAC}"/>
              </a:ext>
            </a:extLst>
          </p:cNvPr>
          <p:cNvSpPr>
            <a:spLocks xmlns:a="http://schemas.openxmlformats.org/drawingml/2006/main" noGrp="1"/>
          </p:cNvSpPr>
          <p:nvPr/>
        </p:nvSpPr>
        <p:spPr>
          <a:xfrm xmlns:a="http://schemas.openxmlformats.org/drawingml/2006/main">
            <a:off x="36957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12" name="">
            <a:extLst xmlns:a="http://schemas.openxmlformats.org/drawingml/2006/main">
              <a:ext uri="{FF2B5EF4-FFF2-40B4-BE49-F238E27FC236}">
                <a16:creationId xmlns:a16="http://schemas.microsoft.com/office/drawing/2014/main" id="{E78773D9-9CB1-49C4-BFAE-C525D30888F2}"/>
              </a:ext>
            </a:extLst>
          </p:cNvPr>
          <p:cNvSpPr>
            <a:spLocks xmlns:a="http://schemas.openxmlformats.org/drawingml/2006/main" noGrp="1"/>
          </p:cNvSpPr>
          <p:nvPr/>
        </p:nvSpPr>
        <p:spPr>
          <a:xfrm xmlns:a="http://schemas.openxmlformats.org/drawingml/2006/main">
            <a:off x="40195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075D50"/>
                </a:solidFill>
              </a:defRPr>
            </a:pPr>
            <a:r>
              <a:rPr sz="825" b="1">
                <a:solidFill>
                  <a:srgbClr val="075D50"/>
                </a:solidFill>
              </a:rPr>
              <a:t>REVIEW</a:t>
            </a:r>
          </a:p>
        </p:txBody>
      </p:sp>
      <p:sp>
        <p:nvSpPr>
          <p:cNvPr id="13" name="">
            <a:extLst xmlns:a="http://schemas.openxmlformats.org/drawingml/2006/main">
              <a:ext uri="{FF2B5EF4-FFF2-40B4-BE49-F238E27FC236}">
                <a16:creationId xmlns:a16="http://schemas.microsoft.com/office/drawing/2014/main" id="{D285A91F-3133-468D-A50A-0EB288E7E1BD}"/>
              </a:ext>
            </a:extLst>
          </p:cNvPr>
          <p:cNvSpPr>
            <a:spLocks xmlns:a="http://schemas.openxmlformats.org/drawingml/2006/main" noGrp="1"/>
          </p:cNvSpPr>
          <p:nvPr/>
        </p:nvSpPr>
        <p:spPr>
          <a:xfrm xmlns:a="http://schemas.openxmlformats.org/drawingml/2006/main">
            <a:off x="396240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14" name="">
            <a:extLst xmlns:a="http://schemas.openxmlformats.org/drawingml/2006/main">
              <a:ext uri="{FF2B5EF4-FFF2-40B4-BE49-F238E27FC236}">
                <a16:creationId xmlns:a16="http://schemas.microsoft.com/office/drawing/2014/main" id="{8CAD19E3-94E5-45C3-88EC-8CA0D4C0D0B0}"/>
              </a:ext>
            </a:extLst>
          </p:cNvPr>
          <p:cNvSpPr>
            <a:spLocks xmlns:a="http://schemas.openxmlformats.org/drawingml/2006/main" noGrp="1"/>
          </p:cNvSpPr>
          <p:nvPr/>
        </p:nvSpPr>
        <p:spPr>
          <a:xfrm xmlns:a="http://schemas.openxmlformats.org/drawingml/2006/main">
            <a:off x="520065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15" name="">
            <a:extLst xmlns:a="http://schemas.openxmlformats.org/drawingml/2006/main">
              <a:ext uri="{FF2B5EF4-FFF2-40B4-BE49-F238E27FC236}">
                <a16:creationId xmlns:a16="http://schemas.microsoft.com/office/drawing/2014/main" id="{2AB6781F-83A6-455E-89B2-0BD7476D95B9}"/>
              </a:ext>
            </a:extLst>
          </p:cNvPr>
          <p:cNvSpPr>
            <a:spLocks xmlns:a="http://schemas.openxmlformats.org/drawingml/2006/main" noGrp="1"/>
          </p:cNvSpPr>
          <p:nvPr/>
        </p:nvSpPr>
        <p:spPr>
          <a:xfrm xmlns:a="http://schemas.openxmlformats.org/drawingml/2006/main">
            <a:off x="55245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PRO-FORMA</a:t>
            </a:r>
          </a:p>
        </p:txBody>
      </p:sp>
      <p:sp>
        <p:nvSpPr>
          <p:cNvPr id="16" name="">
            <a:extLst xmlns:a="http://schemas.openxmlformats.org/drawingml/2006/main">
              <a:ext uri="{FF2B5EF4-FFF2-40B4-BE49-F238E27FC236}">
                <a16:creationId xmlns:a16="http://schemas.microsoft.com/office/drawing/2014/main" id="{1497356A-E137-4DBC-986D-6AB7355179BE}"/>
              </a:ext>
            </a:extLst>
          </p:cNvPr>
          <p:cNvSpPr>
            <a:spLocks xmlns:a="http://schemas.openxmlformats.org/drawingml/2006/main" noGrp="1"/>
          </p:cNvSpPr>
          <p:nvPr/>
        </p:nvSpPr>
        <p:spPr>
          <a:xfrm xmlns:a="http://schemas.openxmlformats.org/drawingml/2006/main">
            <a:off x="546735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17" name="">
            <a:extLst xmlns:a="http://schemas.openxmlformats.org/drawingml/2006/main">
              <a:ext uri="{FF2B5EF4-FFF2-40B4-BE49-F238E27FC236}">
                <a16:creationId xmlns:a16="http://schemas.microsoft.com/office/drawing/2014/main" id="{D7E781AD-8A56-4881-BCF7-F4D186727A66}"/>
              </a:ext>
            </a:extLst>
          </p:cNvPr>
          <p:cNvSpPr>
            <a:spLocks xmlns:a="http://schemas.openxmlformats.org/drawingml/2006/main" noGrp="1"/>
          </p:cNvSpPr>
          <p:nvPr/>
        </p:nvSpPr>
        <p:spPr>
          <a:xfrm xmlns:a="http://schemas.openxmlformats.org/drawingml/2006/main">
            <a:off x="670560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5</a:t>
            </a:r>
          </a:p>
        </p:txBody>
      </p:sp>
      <p:sp>
        <p:nvSpPr>
          <p:cNvPr id="18" name="">
            <a:extLst xmlns:a="http://schemas.openxmlformats.org/drawingml/2006/main">
              <a:ext uri="{FF2B5EF4-FFF2-40B4-BE49-F238E27FC236}">
                <a16:creationId xmlns:a16="http://schemas.microsoft.com/office/drawing/2014/main" id="{6157CE4B-E7FB-4BF6-9968-B56ACF3F1984}"/>
              </a:ext>
            </a:extLst>
          </p:cNvPr>
          <p:cNvSpPr>
            <a:spLocks xmlns:a="http://schemas.openxmlformats.org/drawingml/2006/main" noGrp="1"/>
          </p:cNvSpPr>
          <p:nvPr/>
        </p:nvSpPr>
        <p:spPr>
          <a:xfrm xmlns:a="http://schemas.openxmlformats.org/drawingml/2006/main">
            <a:off x="70294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APPROVAL</a:t>
            </a:r>
          </a:p>
        </p:txBody>
      </p:sp>
      <p:sp>
        <p:nvSpPr>
          <p:cNvPr id="19" name="">
            <a:extLst xmlns:a="http://schemas.openxmlformats.org/drawingml/2006/main">
              <a:ext uri="{FF2B5EF4-FFF2-40B4-BE49-F238E27FC236}">
                <a16:creationId xmlns:a16="http://schemas.microsoft.com/office/drawing/2014/main" id="{8DB09DE5-FC31-4DF5-BADB-D1C3AB91DDA6}"/>
              </a:ext>
            </a:extLst>
          </p:cNvPr>
          <p:cNvSpPr>
            <a:spLocks xmlns:a="http://schemas.openxmlformats.org/drawingml/2006/main" noGrp="1"/>
          </p:cNvSpPr>
          <p:nvPr/>
        </p:nvSpPr>
        <p:spPr>
          <a:xfrm xmlns:a="http://schemas.openxmlformats.org/drawingml/2006/main">
            <a:off x="697230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20" name="">
            <a:extLst xmlns:a="http://schemas.openxmlformats.org/drawingml/2006/main">
              <a:ext uri="{FF2B5EF4-FFF2-40B4-BE49-F238E27FC236}">
                <a16:creationId xmlns:a16="http://schemas.microsoft.com/office/drawing/2014/main" id="{E96AD8AE-C707-4E46-9581-A0CFEDF047A1}"/>
              </a:ext>
            </a:extLst>
          </p:cNvPr>
          <p:cNvSpPr>
            <a:spLocks xmlns:a="http://schemas.openxmlformats.org/drawingml/2006/main" noGrp="1"/>
          </p:cNvSpPr>
          <p:nvPr/>
        </p:nvSpPr>
        <p:spPr>
          <a:xfrm xmlns:a="http://schemas.openxmlformats.org/drawingml/2006/main">
            <a:off x="821055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6</a:t>
            </a:r>
          </a:p>
        </p:txBody>
      </p:sp>
      <p:sp>
        <p:nvSpPr>
          <p:cNvPr id="21" name="">
            <a:extLst xmlns:a="http://schemas.openxmlformats.org/drawingml/2006/main">
              <a:ext uri="{FF2B5EF4-FFF2-40B4-BE49-F238E27FC236}">
                <a16:creationId xmlns:a16="http://schemas.microsoft.com/office/drawing/2014/main" id="{1319F0F1-1249-4DDD-B47A-B09D38D38B16}"/>
              </a:ext>
            </a:extLst>
          </p:cNvPr>
          <p:cNvSpPr>
            <a:spLocks xmlns:a="http://schemas.openxmlformats.org/drawingml/2006/main" noGrp="1"/>
          </p:cNvSpPr>
          <p:nvPr/>
        </p:nvSpPr>
        <p:spPr>
          <a:xfrm xmlns:a="http://schemas.openxmlformats.org/drawingml/2006/main">
            <a:off x="85344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DISPATCH</a:t>
            </a:r>
          </a:p>
        </p:txBody>
      </p:sp>
      <p:sp>
        <p:nvSpPr>
          <p:cNvPr id="22" name="">
            <a:extLst xmlns:a="http://schemas.openxmlformats.org/drawingml/2006/main">
              <a:ext uri="{FF2B5EF4-FFF2-40B4-BE49-F238E27FC236}">
                <a16:creationId xmlns:a16="http://schemas.microsoft.com/office/drawing/2014/main" id="{A6CAF250-954F-4C11-95FF-8996DD97566F}"/>
              </a:ext>
            </a:extLst>
          </p:cNvPr>
          <p:cNvSpPr>
            <a:spLocks xmlns:a="http://schemas.openxmlformats.org/drawingml/2006/main" noGrp="1"/>
          </p:cNvSpPr>
          <p:nvPr/>
        </p:nvSpPr>
        <p:spPr>
          <a:xfrm xmlns:a="http://schemas.openxmlformats.org/drawingml/2006/main">
            <a:off x="847725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23" name="">
            <a:extLst xmlns:a="http://schemas.openxmlformats.org/drawingml/2006/main">
              <a:ext uri="{FF2B5EF4-FFF2-40B4-BE49-F238E27FC236}">
                <a16:creationId xmlns:a16="http://schemas.microsoft.com/office/drawing/2014/main" id="{A826DC64-B0E3-4726-B0DE-6FA5CD29390D}"/>
              </a:ext>
            </a:extLst>
          </p:cNvPr>
          <p:cNvSpPr>
            <a:spLocks xmlns:a="http://schemas.openxmlformats.org/drawingml/2006/main" noGrp="1"/>
          </p:cNvSpPr>
          <p:nvPr/>
        </p:nvSpPr>
        <p:spPr>
          <a:xfrm xmlns:a="http://schemas.openxmlformats.org/drawingml/2006/main">
            <a:off x="971550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7</a:t>
            </a:r>
          </a:p>
        </p:txBody>
      </p:sp>
      <p:sp>
        <p:nvSpPr>
          <p:cNvPr id="24" name="">
            <a:extLst xmlns:a="http://schemas.openxmlformats.org/drawingml/2006/main">
              <a:ext uri="{FF2B5EF4-FFF2-40B4-BE49-F238E27FC236}">
                <a16:creationId xmlns:a16="http://schemas.microsoft.com/office/drawing/2014/main" id="{36D19D75-41AE-4154-8CE9-8D39F39B729E}"/>
              </a:ext>
            </a:extLst>
          </p:cNvPr>
          <p:cNvSpPr>
            <a:spLocks xmlns:a="http://schemas.openxmlformats.org/drawingml/2006/main" noGrp="1"/>
          </p:cNvSpPr>
          <p:nvPr/>
        </p:nvSpPr>
        <p:spPr>
          <a:xfrm xmlns:a="http://schemas.openxmlformats.org/drawingml/2006/main">
            <a:off x="100393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INVOICE</a:t>
            </a:r>
          </a:p>
        </p:txBody>
      </p:sp>
      <p:sp>
        <p:nvSpPr>
          <p:cNvPr id="25" name="">
            <a:extLst xmlns:a="http://schemas.openxmlformats.org/drawingml/2006/main">
              <a:ext uri="{FF2B5EF4-FFF2-40B4-BE49-F238E27FC236}">
                <a16:creationId xmlns:a16="http://schemas.microsoft.com/office/drawing/2014/main" id="{82AC480D-57A9-478B-979C-492E4BDD3561}"/>
              </a:ext>
            </a:extLst>
          </p:cNvPr>
          <p:cNvSpPr>
            <a:spLocks xmlns:a="http://schemas.openxmlformats.org/drawingml/2006/main" noGrp="1"/>
          </p:cNvSpPr>
          <p:nvPr/>
        </p:nvSpPr>
        <p:spPr>
          <a:xfrm xmlns:a="http://schemas.openxmlformats.org/drawingml/2006/main">
            <a:off x="685800" y="6477000"/>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6716E"/>
                </a:solidFill>
              </a:defRPr>
            </a:pPr>
            <a:r>
              <a:rPr sz="825" b="1">
                <a:solidFill>
                  <a:srgbClr val="66716E"/>
                </a:solidFill>
              </a:rPr>
              <a:t>ORDER DESK  ·  OMNIORDER MVP</a:t>
            </a:r>
          </a:p>
        </p:txBody>
      </p:sp>
      <p:sp>
        <p:nvSpPr>
          <p:cNvPr id="26" name="">
            <a:extLst xmlns:a="http://schemas.openxmlformats.org/drawingml/2006/main">
              <a:ext uri="{FF2B5EF4-FFF2-40B4-BE49-F238E27FC236}">
                <a16:creationId xmlns:a16="http://schemas.microsoft.com/office/drawing/2014/main" id="{070F09F2-65B5-4DCA-BE69-05BF14BC868B}"/>
              </a:ext>
            </a:extLst>
          </p:cNvPr>
          <p:cNvSpPr>
            <a:spLocks xmlns:a="http://schemas.openxmlformats.org/drawingml/2006/main" noGrp="1"/>
          </p:cNvSpPr>
          <p:nvPr/>
        </p:nvSpPr>
        <p:spPr>
          <a:xfrm xmlns:a="http://schemas.openxmlformats.org/drawingml/2006/main">
            <a:off x="11049000" y="64770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6716E"/>
                </a:solidFill>
              </a:defRPr>
            </a:pPr>
            <a:r>
              <a:rPr sz="825" b="1">
                <a:solidFill>
                  <a:srgbClr val="66716E"/>
                </a:solidFill>
              </a:rPr>
              <a:t>04</a:t>
            </a:r>
          </a:p>
        </p:txBody>
      </p:sp>
    </p:spTree>
    <p:extLst>
      <p:ext uri="{BB962C8B-B14F-4D97-AF65-F5344CB8AC3E}">
        <p14:creationId xmlns:p14="http://schemas.microsoft.com/office/powerpoint/2010/main" val="1323595166"/>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8E5905BB-5041-478D-AFD5-C1E4C4C6F8D7}"/>
              </a:ext>
            </a:extLst>
          </p:cNvPr>
          <p:cNvSpPr>
            <a:spLocks xmlns:a="http://schemas.openxmlformats.org/drawingml/2006/main" noGrp="1"/>
          </p:cNvSpPr>
          <p:nvPr/>
        </p:nvSpPr>
        <p:spPr>
          <a:xfrm xmlns:a="http://schemas.openxmlformats.org/drawingml/2006/main">
            <a:off x="857250" y="4572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75D50"/>
                </a:solidFill>
              </a:defRPr>
            </a:pPr>
            <a:r>
              <a:rPr sz="975" b="1">
                <a:solidFill>
                  <a:srgbClr val="075D50"/>
                </a:solidFill>
              </a:rPr>
              <a:t>STEP 3 · SALES REVIEW</a:t>
            </a:r>
          </a:p>
        </p:txBody>
      </p:sp>
      <p:sp>
        <p:nvSpPr>
          <p:cNvPr id="2" name="">
            <a:extLst xmlns:a="http://schemas.openxmlformats.org/drawingml/2006/main">
              <a:ext uri="{FF2B5EF4-FFF2-40B4-BE49-F238E27FC236}">
                <a16:creationId xmlns:a16="http://schemas.microsoft.com/office/drawing/2014/main" id="{16BEB9C5-4040-4EB3-A1CE-4D78BCA3D0E3}"/>
              </a:ext>
            </a:extLst>
          </p:cNvPr>
          <p:cNvSpPr>
            <a:spLocks xmlns:a="http://schemas.openxmlformats.org/drawingml/2006/main" noGrp="1"/>
          </p:cNvSpPr>
          <p:nvPr/>
        </p:nvSpPr>
        <p:spPr>
          <a:xfrm xmlns:a="http://schemas.openxmlformats.org/drawingml/2006/main">
            <a:off x="857250" y="781050"/>
            <a:ext cx="10648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817"/>
                </a:solidFill>
              </a:defRPr>
            </a:pPr>
            <a:r>
              <a:rPr sz="2850" b="1">
                <a:solidFill>
                  <a:srgbClr val="111817"/>
                </a:solidFill>
              </a:rPr>
              <a:t>The request becomes a commercial order only after review</a:t>
            </a:r>
          </a:p>
        </p:txBody>
      </p:sp>
      <p:sp>
        <p:nvSpPr>
          <p:cNvPr id="3" name="">
            <a:extLst xmlns:a="http://schemas.openxmlformats.org/drawingml/2006/main">
              <a:ext uri="{FF2B5EF4-FFF2-40B4-BE49-F238E27FC236}">
                <a16:creationId xmlns:a16="http://schemas.microsoft.com/office/drawing/2014/main" id="{F70CFE3B-D73F-4DFC-A8B7-32E0B032FDCB}"/>
              </a:ext>
            </a:extLst>
          </p:cNvPr>
          <p:cNvSpPr>
            <a:spLocks xmlns:a="http://schemas.openxmlformats.org/drawingml/2006/main" noGrp="1"/>
          </p:cNvSpPr>
          <p:nvPr/>
        </p:nvSpPr>
        <p:spPr>
          <a:xfrm xmlns:a="http://schemas.openxmlformats.org/drawingml/2006/main">
            <a:off x="857250" y="1428750"/>
            <a:ext cx="982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6716E"/>
                </a:solidFill>
              </a:defRPr>
            </a:pPr>
            <a:r>
              <a:rPr sz="1425" b="0">
                <a:solidFill>
                  <a:srgbClr val="66716E"/>
                </a:solidFill>
              </a:rPr>
              <a:t>Sales confirms stock, adjusts quantities, adds prices, and sets delivery terms.</a:t>
            </a:r>
          </a:p>
        </p:txBody>
      </p:sp>
      <p:sp>
        <p:nvSpPr>
          <p:cNvPr id="4" name="">
            <a:extLst xmlns:a="http://schemas.openxmlformats.org/drawingml/2006/main">
              <a:ext uri="{FF2B5EF4-FFF2-40B4-BE49-F238E27FC236}">
                <a16:creationId xmlns:a16="http://schemas.microsoft.com/office/drawing/2014/main" id="{B46FD6A9-B437-43FE-851D-91E3B9C1269B}"/>
              </a:ext>
            </a:extLst>
          </p:cNvPr>
          <p:cNvSpPr>
            <a:spLocks xmlns:a="http://schemas.openxmlformats.org/drawingml/2006/main" noGrp="1"/>
          </p:cNvSpPr>
          <p:nvPr/>
        </p:nvSpPr>
        <p:spPr>
          <a:xfrm xmlns:a="http://schemas.openxmlformats.org/drawingml/2006/main">
            <a:off x="685800" y="2238375"/>
            <a:ext cx="323850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DDCD5"/>
            </a:solidFill>
            <a:prstDash val="solid"/>
          </a:ln>
        </p:spPr>
      </p:sp>
      <p:sp>
        <p:nvSpPr>
          <p:cNvPr id="5" name="">
            <a:extLst xmlns:a="http://schemas.openxmlformats.org/drawingml/2006/main">
              <a:ext uri="{FF2B5EF4-FFF2-40B4-BE49-F238E27FC236}">
                <a16:creationId xmlns:a16="http://schemas.microsoft.com/office/drawing/2014/main" id="{97A46FFB-CF05-4329-81A0-11CDBF26B0C0}"/>
              </a:ext>
            </a:extLst>
          </p:cNvPr>
          <p:cNvSpPr>
            <a:spLocks xmlns:a="http://schemas.openxmlformats.org/drawingml/2006/main" noGrp="1"/>
          </p:cNvSpPr>
          <p:nvPr/>
        </p:nvSpPr>
        <p:spPr>
          <a:xfrm xmlns:a="http://schemas.openxmlformats.org/drawingml/2006/main">
            <a:off x="933450" y="2514600"/>
            <a:ext cx="2743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75D50"/>
                </a:solidFill>
              </a:defRPr>
            </a:pPr>
            <a:r>
              <a:rPr sz="975" b="1">
                <a:solidFill>
                  <a:srgbClr val="075D50"/>
                </a:solidFill>
              </a:rPr>
              <a:t>CUSTOMER REQUEST</a:t>
            </a:r>
          </a:p>
        </p:txBody>
      </p:sp>
      <p:sp>
        <p:nvSpPr>
          <p:cNvPr id="6" name="">
            <a:extLst xmlns:a="http://schemas.openxmlformats.org/drawingml/2006/main">
              <a:ext uri="{FF2B5EF4-FFF2-40B4-BE49-F238E27FC236}">
                <a16:creationId xmlns:a16="http://schemas.microsoft.com/office/drawing/2014/main" id="{6DAB479F-22E8-4041-832B-8F4F5A9D58E5}"/>
              </a:ext>
            </a:extLst>
          </p:cNvPr>
          <p:cNvSpPr>
            <a:spLocks xmlns:a="http://schemas.openxmlformats.org/drawingml/2006/main" noGrp="1"/>
          </p:cNvSpPr>
          <p:nvPr/>
        </p:nvSpPr>
        <p:spPr>
          <a:xfrm xmlns:a="http://schemas.openxmlformats.org/drawingml/2006/main">
            <a:off x="933450" y="2952750"/>
            <a:ext cx="2743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11817"/>
                </a:solidFill>
              </a:defRPr>
            </a:pPr>
            <a:r>
              <a:rPr sz="2025" b="1">
                <a:solidFill>
                  <a:srgbClr val="111817"/>
                </a:solidFill>
              </a:rPr>
              <a:t>OR-2026-0137</a:t>
            </a:r>
          </a:p>
        </p:txBody>
      </p:sp>
      <p:sp>
        <p:nvSpPr>
          <p:cNvPr id="7" name="">
            <a:extLst xmlns:a="http://schemas.openxmlformats.org/drawingml/2006/main">
              <a:ext uri="{FF2B5EF4-FFF2-40B4-BE49-F238E27FC236}">
                <a16:creationId xmlns:a16="http://schemas.microsoft.com/office/drawing/2014/main" id="{3D6DC96C-579E-44A2-8FD1-1943430A59C9}"/>
              </a:ext>
            </a:extLst>
          </p:cNvPr>
          <p:cNvSpPr>
            <a:spLocks xmlns:a="http://schemas.openxmlformats.org/drawingml/2006/main" noGrp="1"/>
          </p:cNvSpPr>
          <p:nvPr/>
        </p:nvSpPr>
        <p:spPr>
          <a:xfrm xmlns:a="http://schemas.openxmlformats.org/drawingml/2006/main">
            <a:off x="933450" y="3476625"/>
            <a:ext cx="2743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6716E"/>
                </a:solidFill>
              </a:defRPr>
            </a:pPr>
            <a:r>
              <a:rPr sz="1200" b="0">
                <a:solidFill>
                  <a:srgbClr val="66716E"/>
                </a:solidFill>
              </a:rPr>
              <a:t>3 lines · Delivery Aug 12</a:t>
            </a:r>
          </a:p>
        </p:txBody>
      </p:sp>
      <p:sp>
        <p:nvSpPr>
          <p:cNvPr id="8" name="">
            <a:extLst xmlns:a="http://schemas.openxmlformats.org/drawingml/2006/main">
              <a:ext uri="{FF2B5EF4-FFF2-40B4-BE49-F238E27FC236}">
                <a16:creationId xmlns:a16="http://schemas.microsoft.com/office/drawing/2014/main" id="{21D7FB2D-D088-4FC9-8A33-9319ED4180B1}"/>
              </a:ext>
            </a:extLst>
          </p:cNvPr>
          <p:cNvSpPr>
            <a:spLocks xmlns:a="http://schemas.openxmlformats.org/drawingml/2006/main" noGrp="1"/>
          </p:cNvSpPr>
          <p:nvPr/>
        </p:nvSpPr>
        <p:spPr>
          <a:xfrm xmlns:a="http://schemas.openxmlformats.org/drawingml/2006/main">
            <a:off x="4476750" y="2238375"/>
            <a:ext cx="3238500" cy="1809750"/>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9525">
            <a:solidFill>
              <a:srgbClr val="DDDCD5"/>
            </a:solidFill>
            <a:prstDash val="solid"/>
          </a:ln>
        </p:spPr>
      </p:sp>
      <p:sp>
        <p:nvSpPr>
          <p:cNvPr id="9" name="">
            <a:extLst xmlns:a="http://schemas.openxmlformats.org/drawingml/2006/main">
              <a:ext uri="{FF2B5EF4-FFF2-40B4-BE49-F238E27FC236}">
                <a16:creationId xmlns:a16="http://schemas.microsoft.com/office/drawing/2014/main" id="{BEE1AD66-74F7-499D-946D-350E1E597CB3}"/>
              </a:ext>
            </a:extLst>
          </p:cNvPr>
          <p:cNvSpPr>
            <a:spLocks xmlns:a="http://schemas.openxmlformats.org/drawingml/2006/main" noGrp="1"/>
          </p:cNvSpPr>
          <p:nvPr/>
        </p:nvSpPr>
        <p:spPr>
          <a:xfrm xmlns:a="http://schemas.openxmlformats.org/drawingml/2006/main">
            <a:off x="4724400" y="2514600"/>
            <a:ext cx="2743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75D50"/>
                </a:solidFill>
              </a:defRPr>
            </a:pPr>
            <a:r>
              <a:rPr sz="975" b="1">
                <a:solidFill>
                  <a:srgbClr val="075D50"/>
                </a:solidFill>
              </a:rPr>
              <a:t>AVAILABILITY</a:t>
            </a:r>
          </a:p>
        </p:txBody>
      </p:sp>
      <p:sp>
        <p:nvSpPr>
          <p:cNvPr id="10" name="">
            <a:extLst xmlns:a="http://schemas.openxmlformats.org/drawingml/2006/main">
              <a:ext uri="{FF2B5EF4-FFF2-40B4-BE49-F238E27FC236}">
                <a16:creationId xmlns:a16="http://schemas.microsoft.com/office/drawing/2014/main" id="{EDEDA58D-CD7E-42BB-97EE-25F81F44A9D4}"/>
              </a:ext>
            </a:extLst>
          </p:cNvPr>
          <p:cNvSpPr>
            <a:spLocks xmlns:a="http://schemas.openxmlformats.org/drawingml/2006/main" noGrp="1"/>
          </p:cNvSpPr>
          <p:nvPr/>
        </p:nvSpPr>
        <p:spPr>
          <a:xfrm xmlns:a="http://schemas.openxmlformats.org/drawingml/2006/main">
            <a:off x="4724400" y="2952750"/>
            <a:ext cx="2743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11817"/>
                </a:solidFill>
              </a:defRPr>
            </a:pPr>
            <a:r>
              <a:rPr sz="2025" b="1">
                <a:solidFill>
                  <a:srgbClr val="111817"/>
                </a:solidFill>
              </a:rPr>
              <a:t>All lines confirmed</a:t>
            </a:r>
          </a:p>
        </p:txBody>
      </p:sp>
      <p:sp>
        <p:nvSpPr>
          <p:cNvPr id="11" name="">
            <a:extLst xmlns:a="http://schemas.openxmlformats.org/drawingml/2006/main">
              <a:ext uri="{FF2B5EF4-FFF2-40B4-BE49-F238E27FC236}">
                <a16:creationId xmlns:a16="http://schemas.microsoft.com/office/drawing/2014/main" id="{387F1CEE-EA1F-473A-A68D-FE09DF6FCDD9}"/>
              </a:ext>
            </a:extLst>
          </p:cNvPr>
          <p:cNvSpPr>
            <a:spLocks xmlns:a="http://schemas.openxmlformats.org/drawingml/2006/main" noGrp="1"/>
          </p:cNvSpPr>
          <p:nvPr/>
        </p:nvSpPr>
        <p:spPr>
          <a:xfrm xmlns:a="http://schemas.openxmlformats.org/drawingml/2006/main">
            <a:off x="4724400" y="3476625"/>
            <a:ext cx="2743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6716E"/>
                </a:solidFill>
              </a:defRPr>
            </a:pPr>
            <a:r>
              <a:rPr sz="1200" b="0">
                <a:solidFill>
                  <a:srgbClr val="66716E"/>
                </a:solidFill>
              </a:rPr>
              <a:t>Exact warehouse stock stays internal</a:t>
            </a:r>
          </a:p>
        </p:txBody>
      </p:sp>
      <p:sp>
        <p:nvSpPr>
          <p:cNvPr id="12" name="">
            <a:extLst xmlns:a="http://schemas.openxmlformats.org/drawingml/2006/main">
              <a:ext uri="{FF2B5EF4-FFF2-40B4-BE49-F238E27FC236}">
                <a16:creationId xmlns:a16="http://schemas.microsoft.com/office/drawing/2014/main" id="{DC37C41B-1D54-4797-854D-C00D4C644C3C}"/>
              </a:ext>
            </a:extLst>
          </p:cNvPr>
          <p:cNvSpPr>
            <a:spLocks xmlns:a="http://schemas.openxmlformats.org/drawingml/2006/main" noGrp="1"/>
          </p:cNvSpPr>
          <p:nvPr/>
        </p:nvSpPr>
        <p:spPr>
          <a:xfrm xmlns:a="http://schemas.openxmlformats.org/drawingml/2006/main">
            <a:off x="8267700" y="2238375"/>
            <a:ext cx="3238500" cy="1809750"/>
          </a:xfrm>
          <a:prstGeom xmlns:a="http://schemas.openxmlformats.org/drawingml/2006/main" prst="roundRect">
            <a:avLst>
              <a:gd name="adj" fmla="val 8421"/>
            </a:avLst>
          </a:prstGeom>
          <a:solidFill xmlns:a="http://schemas.openxmlformats.org/drawingml/2006/main">
            <a:srgbClr val="03473E"/>
          </a:solidFill>
          <a:ln xmlns:a="http://schemas.openxmlformats.org/drawingml/2006/main" w="9525">
            <a:solidFill>
              <a:srgbClr val="03473E"/>
            </a:solidFill>
            <a:prstDash val="solid"/>
          </a:ln>
        </p:spPr>
      </p:sp>
      <p:sp>
        <p:nvSpPr>
          <p:cNvPr id="13" name="">
            <a:extLst xmlns:a="http://schemas.openxmlformats.org/drawingml/2006/main">
              <a:ext uri="{FF2B5EF4-FFF2-40B4-BE49-F238E27FC236}">
                <a16:creationId xmlns:a16="http://schemas.microsoft.com/office/drawing/2014/main" id="{3C5CC069-01A3-49AD-B0DF-A7BC6FE78D8B}"/>
              </a:ext>
            </a:extLst>
          </p:cNvPr>
          <p:cNvSpPr>
            <a:spLocks xmlns:a="http://schemas.openxmlformats.org/drawingml/2006/main" noGrp="1"/>
          </p:cNvSpPr>
          <p:nvPr/>
        </p:nvSpPr>
        <p:spPr>
          <a:xfrm xmlns:a="http://schemas.openxmlformats.org/drawingml/2006/main">
            <a:off x="8515350" y="2514600"/>
            <a:ext cx="2743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B9DED6"/>
                </a:solidFill>
              </a:defRPr>
            </a:pPr>
            <a:r>
              <a:rPr sz="975" b="1">
                <a:solidFill>
                  <a:srgbClr val="B9DED6"/>
                </a:solidFill>
              </a:rPr>
              <a:t>ESTIMATED TOTAL</a:t>
            </a:r>
          </a:p>
        </p:txBody>
      </p:sp>
      <p:sp>
        <p:nvSpPr>
          <p:cNvPr id="14" name="">
            <a:extLst xmlns:a="http://schemas.openxmlformats.org/drawingml/2006/main">
              <a:ext uri="{FF2B5EF4-FFF2-40B4-BE49-F238E27FC236}">
                <a16:creationId xmlns:a16="http://schemas.microsoft.com/office/drawing/2014/main" id="{472B8498-AE46-4E84-BE28-3837346B0284}"/>
              </a:ext>
            </a:extLst>
          </p:cNvPr>
          <p:cNvSpPr>
            <a:spLocks xmlns:a="http://schemas.openxmlformats.org/drawingml/2006/main" noGrp="1"/>
          </p:cNvSpPr>
          <p:nvPr/>
        </p:nvSpPr>
        <p:spPr>
          <a:xfrm xmlns:a="http://schemas.openxmlformats.org/drawingml/2006/main">
            <a:off x="8515350" y="2952750"/>
            <a:ext cx="2743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FFFF"/>
                </a:solidFill>
              </a:defRPr>
            </a:pPr>
            <a:r>
              <a:rPr sz="2550" b="1">
                <a:solidFill>
                  <a:srgbClr val="FFFFFF"/>
                </a:solidFill>
              </a:rPr>
              <a:t>$486.38</a:t>
            </a:r>
          </a:p>
        </p:txBody>
      </p:sp>
      <p:sp>
        <p:nvSpPr>
          <p:cNvPr id="15" name="">
            <a:extLst xmlns:a="http://schemas.openxmlformats.org/drawingml/2006/main">
              <a:ext uri="{FF2B5EF4-FFF2-40B4-BE49-F238E27FC236}">
                <a16:creationId xmlns:a16="http://schemas.microsoft.com/office/drawing/2014/main" id="{C76DB4FD-2E70-4BBD-A919-DB11A7D7C910}"/>
              </a:ext>
            </a:extLst>
          </p:cNvPr>
          <p:cNvSpPr>
            <a:spLocks xmlns:a="http://schemas.openxmlformats.org/drawingml/2006/main" noGrp="1"/>
          </p:cNvSpPr>
          <p:nvPr/>
        </p:nvSpPr>
        <p:spPr>
          <a:xfrm xmlns:a="http://schemas.openxmlformats.org/drawingml/2006/main">
            <a:off x="8515350" y="3476625"/>
            <a:ext cx="2743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DDEAE7"/>
                </a:solidFill>
              </a:defRPr>
            </a:pPr>
            <a:r>
              <a:rPr sz="1200" b="0">
                <a:solidFill>
                  <a:srgbClr val="DDEAE7"/>
                </a:solidFill>
              </a:rPr>
              <a:t>Visible to sales only at this stage</a:t>
            </a:r>
          </a:p>
        </p:txBody>
      </p:sp>
      <p:sp>
        <p:nvSpPr>
          <p:cNvPr id="16" name="">
            <a:extLst xmlns:a="http://schemas.openxmlformats.org/drawingml/2006/main">
              <a:ext uri="{FF2B5EF4-FFF2-40B4-BE49-F238E27FC236}">
                <a16:creationId xmlns:a16="http://schemas.microsoft.com/office/drawing/2014/main" id="{DA52D752-BD08-4C0C-A64E-EC089340C244}"/>
              </a:ext>
            </a:extLst>
          </p:cNvPr>
          <p:cNvSpPr>
            <a:spLocks xmlns:a="http://schemas.openxmlformats.org/drawingml/2006/main" noGrp="1"/>
          </p:cNvSpPr>
          <p:nvPr/>
        </p:nvSpPr>
        <p:spPr>
          <a:xfrm xmlns:a="http://schemas.openxmlformats.org/drawingml/2006/main">
            <a:off x="1524000" y="4514850"/>
            <a:ext cx="9144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111817"/>
                </a:solidFill>
              </a:defRPr>
            </a:pPr>
            <a:r>
              <a:rPr sz="1650" b="1">
                <a:solidFill>
                  <a:srgbClr val="111817"/>
                </a:solidFill>
              </a:rPr>
              <a:t>Sales can revise quantities before the quote—but the customer’s original request remains traceable.</a:t>
            </a:r>
          </a:p>
        </p:txBody>
      </p:sp>
      <p:sp>
        <p:nvSpPr>
          <p:cNvPr id="17" name="">
            <a:extLst xmlns:a="http://schemas.openxmlformats.org/drawingml/2006/main">
              <a:ext uri="{FF2B5EF4-FFF2-40B4-BE49-F238E27FC236}">
                <a16:creationId xmlns:a16="http://schemas.microsoft.com/office/drawing/2014/main" id="{A10455B6-9650-4029-841D-AE5EDE5B5AF3}"/>
              </a:ext>
            </a:extLst>
          </p:cNvPr>
          <p:cNvSpPr>
            <a:spLocks xmlns:a="http://schemas.openxmlformats.org/drawingml/2006/main" noGrp="1"/>
          </p:cNvSpPr>
          <p:nvPr/>
        </p:nvSpPr>
        <p:spPr>
          <a:xfrm xmlns:a="http://schemas.openxmlformats.org/drawingml/2006/main">
            <a:off x="6858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18" name="">
            <a:extLst xmlns:a="http://schemas.openxmlformats.org/drawingml/2006/main">
              <a:ext uri="{FF2B5EF4-FFF2-40B4-BE49-F238E27FC236}">
                <a16:creationId xmlns:a16="http://schemas.microsoft.com/office/drawing/2014/main" id="{C0F97ED3-6BE9-4CD8-A39B-0ACBEF9FA47B}"/>
              </a:ext>
            </a:extLst>
          </p:cNvPr>
          <p:cNvSpPr>
            <a:spLocks xmlns:a="http://schemas.openxmlformats.org/drawingml/2006/main" noGrp="1"/>
          </p:cNvSpPr>
          <p:nvPr/>
        </p:nvSpPr>
        <p:spPr>
          <a:xfrm xmlns:a="http://schemas.openxmlformats.org/drawingml/2006/main">
            <a:off x="10096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ACCESS</a:t>
            </a:r>
          </a:p>
        </p:txBody>
      </p:sp>
      <p:sp>
        <p:nvSpPr>
          <p:cNvPr id="19" name="">
            <a:extLst xmlns:a="http://schemas.openxmlformats.org/drawingml/2006/main">
              <a:ext uri="{FF2B5EF4-FFF2-40B4-BE49-F238E27FC236}">
                <a16:creationId xmlns:a16="http://schemas.microsoft.com/office/drawing/2014/main" id="{1507986B-B5B5-4795-8DC9-D8A97D248322}"/>
              </a:ext>
            </a:extLst>
          </p:cNvPr>
          <p:cNvSpPr>
            <a:spLocks xmlns:a="http://schemas.openxmlformats.org/drawingml/2006/main" noGrp="1"/>
          </p:cNvSpPr>
          <p:nvPr/>
        </p:nvSpPr>
        <p:spPr>
          <a:xfrm xmlns:a="http://schemas.openxmlformats.org/drawingml/2006/main">
            <a:off x="95250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20" name="">
            <a:extLst xmlns:a="http://schemas.openxmlformats.org/drawingml/2006/main">
              <a:ext uri="{FF2B5EF4-FFF2-40B4-BE49-F238E27FC236}">
                <a16:creationId xmlns:a16="http://schemas.microsoft.com/office/drawing/2014/main" id="{FC4239F6-DC76-4F8D-A94F-91D675210F4C}"/>
              </a:ext>
            </a:extLst>
          </p:cNvPr>
          <p:cNvSpPr>
            <a:spLocks xmlns:a="http://schemas.openxmlformats.org/drawingml/2006/main" noGrp="1"/>
          </p:cNvSpPr>
          <p:nvPr/>
        </p:nvSpPr>
        <p:spPr>
          <a:xfrm xmlns:a="http://schemas.openxmlformats.org/drawingml/2006/main">
            <a:off x="219075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21" name="">
            <a:extLst xmlns:a="http://schemas.openxmlformats.org/drawingml/2006/main">
              <a:ext uri="{FF2B5EF4-FFF2-40B4-BE49-F238E27FC236}">
                <a16:creationId xmlns:a16="http://schemas.microsoft.com/office/drawing/2014/main" id="{E1482DE6-1C57-46E7-814C-0FAC51C8457A}"/>
              </a:ext>
            </a:extLst>
          </p:cNvPr>
          <p:cNvSpPr>
            <a:spLocks xmlns:a="http://schemas.openxmlformats.org/drawingml/2006/main" noGrp="1"/>
          </p:cNvSpPr>
          <p:nvPr/>
        </p:nvSpPr>
        <p:spPr>
          <a:xfrm xmlns:a="http://schemas.openxmlformats.org/drawingml/2006/main">
            <a:off x="25146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REQUEST</a:t>
            </a:r>
          </a:p>
        </p:txBody>
      </p:sp>
      <p:sp>
        <p:nvSpPr>
          <p:cNvPr id="22" name="">
            <a:extLst xmlns:a="http://schemas.openxmlformats.org/drawingml/2006/main">
              <a:ext uri="{FF2B5EF4-FFF2-40B4-BE49-F238E27FC236}">
                <a16:creationId xmlns:a16="http://schemas.microsoft.com/office/drawing/2014/main" id="{978B3E31-7F22-47B6-897F-5EB0D869F848}"/>
              </a:ext>
            </a:extLst>
          </p:cNvPr>
          <p:cNvSpPr>
            <a:spLocks xmlns:a="http://schemas.openxmlformats.org/drawingml/2006/main" noGrp="1"/>
          </p:cNvSpPr>
          <p:nvPr/>
        </p:nvSpPr>
        <p:spPr>
          <a:xfrm xmlns:a="http://schemas.openxmlformats.org/drawingml/2006/main">
            <a:off x="245745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23" name="">
            <a:extLst xmlns:a="http://schemas.openxmlformats.org/drawingml/2006/main">
              <a:ext uri="{FF2B5EF4-FFF2-40B4-BE49-F238E27FC236}">
                <a16:creationId xmlns:a16="http://schemas.microsoft.com/office/drawing/2014/main" id="{904FDF09-AD55-4520-A00C-05A26B8D14E7}"/>
              </a:ext>
            </a:extLst>
          </p:cNvPr>
          <p:cNvSpPr>
            <a:spLocks xmlns:a="http://schemas.openxmlformats.org/drawingml/2006/main" noGrp="1"/>
          </p:cNvSpPr>
          <p:nvPr/>
        </p:nvSpPr>
        <p:spPr>
          <a:xfrm xmlns:a="http://schemas.openxmlformats.org/drawingml/2006/main">
            <a:off x="36957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24" name="">
            <a:extLst xmlns:a="http://schemas.openxmlformats.org/drawingml/2006/main">
              <a:ext uri="{FF2B5EF4-FFF2-40B4-BE49-F238E27FC236}">
                <a16:creationId xmlns:a16="http://schemas.microsoft.com/office/drawing/2014/main" id="{6C4A4D28-156E-413F-B541-5547A52CFD6F}"/>
              </a:ext>
            </a:extLst>
          </p:cNvPr>
          <p:cNvSpPr>
            <a:spLocks xmlns:a="http://schemas.openxmlformats.org/drawingml/2006/main" noGrp="1"/>
          </p:cNvSpPr>
          <p:nvPr/>
        </p:nvSpPr>
        <p:spPr>
          <a:xfrm xmlns:a="http://schemas.openxmlformats.org/drawingml/2006/main">
            <a:off x="40195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075D50"/>
                </a:solidFill>
              </a:defRPr>
            </a:pPr>
            <a:r>
              <a:rPr sz="825" b="1">
                <a:solidFill>
                  <a:srgbClr val="075D50"/>
                </a:solidFill>
              </a:rPr>
              <a:t>REVIEW</a:t>
            </a:r>
          </a:p>
        </p:txBody>
      </p:sp>
      <p:sp>
        <p:nvSpPr>
          <p:cNvPr id="25" name="">
            <a:extLst xmlns:a="http://schemas.openxmlformats.org/drawingml/2006/main">
              <a:ext uri="{FF2B5EF4-FFF2-40B4-BE49-F238E27FC236}">
                <a16:creationId xmlns:a16="http://schemas.microsoft.com/office/drawing/2014/main" id="{9D118997-BF8E-4696-9247-2C707A3CB510}"/>
              </a:ext>
            </a:extLst>
          </p:cNvPr>
          <p:cNvSpPr>
            <a:spLocks xmlns:a="http://schemas.openxmlformats.org/drawingml/2006/main" noGrp="1"/>
          </p:cNvSpPr>
          <p:nvPr/>
        </p:nvSpPr>
        <p:spPr>
          <a:xfrm xmlns:a="http://schemas.openxmlformats.org/drawingml/2006/main">
            <a:off x="396240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26" name="">
            <a:extLst xmlns:a="http://schemas.openxmlformats.org/drawingml/2006/main">
              <a:ext uri="{FF2B5EF4-FFF2-40B4-BE49-F238E27FC236}">
                <a16:creationId xmlns:a16="http://schemas.microsoft.com/office/drawing/2014/main" id="{5189F335-6C95-4C73-809C-C117A9551C06}"/>
              </a:ext>
            </a:extLst>
          </p:cNvPr>
          <p:cNvSpPr>
            <a:spLocks xmlns:a="http://schemas.openxmlformats.org/drawingml/2006/main" noGrp="1"/>
          </p:cNvSpPr>
          <p:nvPr/>
        </p:nvSpPr>
        <p:spPr>
          <a:xfrm xmlns:a="http://schemas.openxmlformats.org/drawingml/2006/main">
            <a:off x="520065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27" name="">
            <a:extLst xmlns:a="http://schemas.openxmlformats.org/drawingml/2006/main">
              <a:ext uri="{FF2B5EF4-FFF2-40B4-BE49-F238E27FC236}">
                <a16:creationId xmlns:a16="http://schemas.microsoft.com/office/drawing/2014/main" id="{56E25675-31FF-4A9F-8A23-FBE3EDDC5ABD}"/>
              </a:ext>
            </a:extLst>
          </p:cNvPr>
          <p:cNvSpPr>
            <a:spLocks xmlns:a="http://schemas.openxmlformats.org/drawingml/2006/main" noGrp="1"/>
          </p:cNvSpPr>
          <p:nvPr/>
        </p:nvSpPr>
        <p:spPr>
          <a:xfrm xmlns:a="http://schemas.openxmlformats.org/drawingml/2006/main">
            <a:off x="55245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PRO-FORMA</a:t>
            </a:r>
          </a:p>
        </p:txBody>
      </p:sp>
      <p:sp>
        <p:nvSpPr>
          <p:cNvPr id="28" name="">
            <a:extLst xmlns:a="http://schemas.openxmlformats.org/drawingml/2006/main">
              <a:ext uri="{FF2B5EF4-FFF2-40B4-BE49-F238E27FC236}">
                <a16:creationId xmlns:a16="http://schemas.microsoft.com/office/drawing/2014/main" id="{8E1B5AA6-9141-4591-AB6D-D893676A242E}"/>
              </a:ext>
            </a:extLst>
          </p:cNvPr>
          <p:cNvSpPr>
            <a:spLocks xmlns:a="http://schemas.openxmlformats.org/drawingml/2006/main" noGrp="1"/>
          </p:cNvSpPr>
          <p:nvPr/>
        </p:nvSpPr>
        <p:spPr>
          <a:xfrm xmlns:a="http://schemas.openxmlformats.org/drawingml/2006/main">
            <a:off x="546735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29" name="">
            <a:extLst xmlns:a="http://schemas.openxmlformats.org/drawingml/2006/main">
              <a:ext uri="{FF2B5EF4-FFF2-40B4-BE49-F238E27FC236}">
                <a16:creationId xmlns:a16="http://schemas.microsoft.com/office/drawing/2014/main" id="{7120D75F-A353-473E-B59E-D69132A0B0DB}"/>
              </a:ext>
            </a:extLst>
          </p:cNvPr>
          <p:cNvSpPr>
            <a:spLocks xmlns:a="http://schemas.openxmlformats.org/drawingml/2006/main" noGrp="1"/>
          </p:cNvSpPr>
          <p:nvPr/>
        </p:nvSpPr>
        <p:spPr>
          <a:xfrm xmlns:a="http://schemas.openxmlformats.org/drawingml/2006/main">
            <a:off x="670560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5</a:t>
            </a:r>
          </a:p>
        </p:txBody>
      </p:sp>
      <p:sp>
        <p:nvSpPr>
          <p:cNvPr id="30" name="">
            <a:extLst xmlns:a="http://schemas.openxmlformats.org/drawingml/2006/main">
              <a:ext uri="{FF2B5EF4-FFF2-40B4-BE49-F238E27FC236}">
                <a16:creationId xmlns:a16="http://schemas.microsoft.com/office/drawing/2014/main" id="{30932DD5-2CF2-43CD-8D2D-91005F09D07D}"/>
              </a:ext>
            </a:extLst>
          </p:cNvPr>
          <p:cNvSpPr>
            <a:spLocks xmlns:a="http://schemas.openxmlformats.org/drawingml/2006/main" noGrp="1"/>
          </p:cNvSpPr>
          <p:nvPr/>
        </p:nvSpPr>
        <p:spPr>
          <a:xfrm xmlns:a="http://schemas.openxmlformats.org/drawingml/2006/main">
            <a:off x="70294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APPROVAL</a:t>
            </a:r>
          </a:p>
        </p:txBody>
      </p:sp>
      <p:sp>
        <p:nvSpPr>
          <p:cNvPr id="31" name="">
            <a:extLst xmlns:a="http://schemas.openxmlformats.org/drawingml/2006/main">
              <a:ext uri="{FF2B5EF4-FFF2-40B4-BE49-F238E27FC236}">
                <a16:creationId xmlns:a16="http://schemas.microsoft.com/office/drawing/2014/main" id="{0EB86096-E123-49D5-8ED6-D052F997845A}"/>
              </a:ext>
            </a:extLst>
          </p:cNvPr>
          <p:cNvSpPr>
            <a:spLocks xmlns:a="http://schemas.openxmlformats.org/drawingml/2006/main" noGrp="1"/>
          </p:cNvSpPr>
          <p:nvPr/>
        </p:nvSpPr>
        <p:spPr>
          <a:xfrm xmlns:a="http://schemas.openxmlformats.org/drawingml/2006/main">
            <a:off x="697230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32" name="">
            <a:extLst xmlns:a="http://schemas.openxmlformats.org/drawingml/2006/main">
              <a:ext uri="{FF2B5EF4-FFF2-40B4-BE49-F238E27FC236}">
                <a16:creationId xmlns:a16="http://schemas.microsoft.com/office/drawing/2014/main" id="{2A186B60-78C2-4935-8C21-AC4EA7473BA7}"/>
              </a:ext>
            </a:extLst>
          </p:cNvPr>
          <p:cNvSpPr>
            <a:spLocks xmlns:a="http://schemas.openxmlformats.org/drawingml/2006/main" noGrp="1"/>
          </p:cNvSpPr>
          <p:nvPr/>
        </p:nvSpPr>
        <p:spPr>
          <a:xfrm xmlns:a="http://schemas.openxmlformats.org/drawingml/2006/main">
            <a:off x="821055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6</a:t>
            </a:r>
          </a:p>
        </p:txBody>
      </p:sp>
      <p:sp>
        <p:nvSpPr>
          <p:cNvPr id="33" name="">
            <a:extLst xmlns:a="http://schemas.openxmlformats.org/drawingml/2006/main">
              <a:ext uri="{FF2B5EF4-FFF2-40B4-BE49-F238E27FC236}">
                <a16:creationId xmlns:a16="http://schemas.microsoft.com/office/drawing/2014/main" id="{E532F7E6-A318-47F4-8E5D-DDC90AC184F2}"/>
              </a:ext>
            </a:extLst>
          </p:cNvPr>
          <p:cNvSpPr>
            <a:spLocks xmlns:a="http://schemas.openxmlformats.org/drawingml/2006/main" noGrp="1"/>
          </p:cNvSpPr>
          <p:nvPr/>
        </p:nvSpPr>
        <p:spPr>
          <a:xfrm xmlns:a="http://schemas.openxmlformats.org/drawingml/2006/main">
            <a:off x="85344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DISPATCH</a:t>
            </a:r>
          </a:p>
        </p:txBody>
      </p:sp>
      <p:sp>
        <p:nvSpPr>
          <p:cNvPr id="34" name="">
            <a:extLst xmlns:a="http://schemas.openxmlformats.org/drawingml/2006/main">
              <a:ext uri="{FF2B5EF4-FFF2-40B4-BE49-F238E27FC236}">
                <a16:creationId xmlns:a16="http://schemas.microsoft.com/office/drawing/2014/main" id="{1F91A500-5729-42D9-B3A6-6DA94EDF0314}"/>
              </a:ext>
            </a:extLst>
          </p:cNvPr>
          <p:cNvSpPr>
            <a:spLocks xmlns:a="http://schemas.openxmlformats.org/drawingml/2006/main" noGrp="1"/>
          </p:cNvSpPr>
          <p:nvPr/>
        </p:nvSpPr>
        <p:spPr>
          <a:xfrm xmlns:a="http://schemas.openxmlformats.org/drawingml/2006/main">
            <a:off x="847725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35" name="">
            <a:extLst xmlns:a="http://schemas.openxmlformats.org/drawingml/2006/main">
              <a:ext uri="{FF2B5EF4-FFF2-40B4-BE49-F238E27FC236}">
                <a16:creationId xmlns:a16="http://schemas.microsoft.com/office/drawing/2014/main" id="{A039461D-E954-4A9D-88DF-E552C0979967}"/>
              </a:ext>
            </a:extLst>
          </p:cNvPr>
          <p:cNvSpPr>
            <a:spLocks xmlns:a="http://schemas.openxmlformats.org/drawingml/2006/main" noGrp="1"/>
          </p:cNvSpPr>
          <p:nvPr/>
        </p:nvSpPr>
        <p:spPr>
          <a:xfrm xmlns:a="http://schemas.openxmlformats.org/drawingml/2006/main">
            <a:off x="971550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7</a:t>
            </a:r>
          </a:p>
        </p:txBody>
      </p:sp>
      <p:sp>
        <p:nvSpPr>
          <p:cNvPr id="36" name="">
            <a:extLst xmlns:a="http://schemas.openxmlformats.org/drawingml/2006/main">
              <a:ext uri="{FF2B5EF4-FFF2-40B4-BE49-F238E27FC236}">
                <a16:creationId xmlns:a16="http://schemas.microsoft.com/office/drawing/2014/main" id="{C590261F-A746-4EED-9D09-40DF57F52E43}"/>
              </a:ext>
            </a:extLst>
          </p:cNvPr>
          <p:cNvSpPr>
            <a:spLocks xmlns:a="http://schemas.openxmlformats.org/drawingml/2006/main" noGrp="1"/>
          </p:cNvSpPr>
          <p:nvPr/>
        </p:nvSpPr>
        <p:spPr>
          <a:xfrm xmlns:a="http://schemas.openxmlformats.org/drawingml/2006/main">
            <a:off x="100393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INVOICE</a:t>
            </a:r>
          </a:p>
        </p:txBody>
      </p:sp>
      <p:sp>
        <p:nvSpPr>
          <p:cNvPr id="37" name="">
            <a:extLst xmlns:a="http://schemas.openxmlformats.org/drawingml/2006/main">
              <a:ext uri="{FF2B5EF4-FFF2-40B4-BE49-F238E27FC236}">
                <a16:creationId xmlns:a16="http://schemas.microsoft.com/office/drawing/2014/main" id="{F942D1A7-ACE2-4B9F-823D-4F712C7F7C55}"/>
              </a:ext>
            </a:extLst>
          </p:cNvPr>
          <p:cNvSpPr>
            <a:spLocks xmlns:a="http://schemas.openxmlformats.org/drawingml/2006/main" noGrp="1"/>
          </p:cNvSpPr>
          <p:nvPr/>
        </p:nvSpPr>
        <p:spPr>
          <a:xfrm xmlns:a="http://schemas.openxmlformats.org/drawingml/2006/main">
            <a:off x="685800" y="6477000"/>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6716E"/>
                </a:solidFill>
              </a:defRPr>
            </a:pPr>
            <a:r>
              <a:rPr sz="825" b="1">
                <a:solidFill>
                  <a:srgbClr val="66716E"/>
                </a:solidFill>
              </a:rPr>
              <a:t>ORDER DESK  ·  OMNIORDER MVP</a:t>
            </a:r>
          </a:p>
        </p:txBody>
      </p:sp>
      <p:sp>
        <p:nvSpPr>
          <p:cNvPr id="38" name="">
            <a:extLst xmlns:a="http://schemas.openxmlformats.org/drawingml/2006/main">
              <a:ext uri="{FF2B5EF4-FFF2-40B4-BE49-F238E27FC236}">
                <a16:creationId xmlns:a16="http://schemas.microsoft.com/office/drawing/2014/main" id="{34427C98-F293-41FB-9274-4D18676AAB5C}"/>
              </a:ext>
            </a:extLst>
          </p:cNvPr>
          <p:cNvSpPr>
            <a:spLocks xmlns:a="http://schemas.openxmlformats.org/drawingml/2006/main" noGrp="1"/>
          </p:cNvSpPr>
          <p:nvPr/>
        </p:nvSpPr>
        <p:spPr>
          <a:xfrm xmlns:a="http://schemas.openxmlformats.org/drawingml/2006/main">
            <a:off x="11049000" y="64770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6716E"/>
                </a:solidFill>
              </a:defRPr>
            </a:pPr>
            <a:r>
              <a:rPr sz="825" b="1">
                <a:solidFill>
                  <a:srgbClr val="66716E"/>
                </a:solidFill>
              </a:rPr>
              <a:t>05</a:t>
            </a:r>
          </a:p>
        </p:txBody>
      </p:sp>
    </p:spTree>
    <p:extLst>
      <p:ext uri="{BB962C8B-B14F-4D97-AF65-F5344CB8AC3E}">
        <p14:creationId xmlns:p14="http://schemas.microsoft.com/office/powerpoint/2010/main" val="1647563475"/>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BC9C6ACA-DA7C-48DA-942C-A6FC24D5CA9F}"/>
              </a:ext>
            </a:extLst>
          </p:cNvPr>
          <p:cNvSpPr>
            <a:spLocks xmlns:a="http://schemas.openxmlformats.org/drawingml/2006/main" noGrp="1"/>
          </p:cNvSpPr>
          <p:nvPr/>
        </p:nvSpPr>
        <p:spPr>
          <a:xfrm xmlns:a="http://schemas.openxmlformats.org/drawingml/2006/main">
            <a:off x="857250" y="4572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75D50"/>
                </a:solidFill>
              </a:defRPr>
            </a:pPr>
            <a:r>
              <a:rPr sz="975" b="1">
                <a:solidFill>
                  <a:srgbClr val="075D50"/>
                </a:solidFill>
              </a:rPr>
              <a:t>STEP 4 · PRO-FORMA</a:t>
            </a:r>
          </a:p>
        </p:txBody>
      </p:sp>
      <p:sp>
        <p:nvSpPr>
          <p:cNvPr id="2" name="">
            <a:extLst xmlns:a="http://schemas.openxmlformats.org/drawingml/2006/main">
              <a:ext uri="{FF2B5EF4-FFF2-40B4-BE49-F238E27FC236}">
                <a16:creationId xmlns:a16="http://schemas.microsoft.com/office/drawing/2014/main" id="{0CD4DC98-A2AF-4EBE-A0D5-7D5FCE15B25A}"/>
              </a:ext>
            </a:extLst>
          </p:cNvPr>
          <p:cNvSpPr>
            <a:spLocks xmlns:a="http://schemas.openxmlformats.org/drawingml/2006/main" noGrp="1"/>
          </p:cNvSpPr>
          <p:nvPr/>
        </p:nvSpPr>
        <p:spPr>
          <a:xfrm xmlns:a="http://schemas.openxmlformats.org/drawingml/2006/main">
            <a:off x="857250" y="781050"/>
            <a:ext cx="10648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817"/>
                </a:solidFill>
              </a:defRPr>
            </a:pPr>
            <a:r>
              <a:rPr sz="2850" b="1">
                <a:solidFill>
                  <a:srgbClr val="111817"/>
                </a:solidFill>
              </a:rPr>
              <a:t>A frozen pro-forma introduces pricing for the first time</a:t>
            </a:r>
          </a:p>
        </p:txBody>
      </p:sp>
      <p:sp>
        <p:nvSpPr>
          <p:cNvPr id="3" name="">
            <a:extLst xmlns:a="http://schemas.openxmlformats.org/drawingml/2006/main">
              <a:ext uri="{FF2B5EF4-FFF2-40B4-BE49-F238E27FC236}">
                <a16:creationId xmlns:a16="http://schemas.microsoft.com/office/drawing/2014/main" id="{7A58F8A0-D56C-4D86-B4A8-2A574C43CC03}"/>
              </a:ext>
            </a:extLst>
          </p:cNvPr>
          <p:cNvSpPr>
            <a:spLocks xmlns:a="http://schemas.openxmlformats.org/drawingml/2006/main" noGrp="1"/>
          </p:cNvSpPr>
          <p:nvPr/>
        </p:nvSpPr>
        <p:spPr>
          <a:xfrm xmlns:a="http://schemas.openxmlformats.org/drawingml/2006/main">
            <a:off x="857250" y="1428750"/>
            <a:ext cx="982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6716E"/>
                </a:solidFill>
              </a:defRPr>
            </a:pPr>
            <a:r>
              <a:rPr sz="1425" b="0">
                <a:solidFill>
                  <a:srgbClr val="66716E"/>
                </a:solidFill>
              </a:rPr>
              <a:t>The numbered document captures confirmed quantities, prices, tax, shipping, validity, and terms.</a:t>
            </a:r>
          </a:p>
        </p:txBody>
      </p:sp>
      <p:sp>
        <p:nvSpPr>
          <p:cNvPr id="4" name="">
            <a:extLst xmlns:a="http://schemas.openxmlformats.org/drawingml/2006/main">
              <a:ext uri="{FF2B5EF4-FFF2-40B4-BE49-F238E27FC236}">
                <a16:creationId xmlns:a16="http://schemas.microsoft.com/office/drawing/2014/main" id="{FE66FE4A-85BB-416C-AD1B-319C64525C4C}"/>
              </a:ext>
            </a:extLst>
          </p:cNvPr>
          <p:cNvSpPr>
            <a:spLocks xmlns:a="http://schemas.openxmlformats.org/drawingml/2006/main" noGrp="1"/>
          </p:cNvSpPr>
          <p:nvPr/>
        </p:nvSpPr>
        <p:spPr>
          <a:xfrm xmlns:a="http://schemas.openxmlformats.org/drawingml/2006/main">
            <a:off x="1095375" y="2047875"/>
            <a:ext cx="6858000" cy="3429000"/>
          </a:xfrm>
          <a:prstGeom xmlns:a="http://schemas.openxmlformats.org/drawingml/2006/main" prst="roundRect">
            <a:avLst>
              <a:gd name="adj" fmla="val 2222"/>
            </a:avLst>
          </a:prstGeom>
          <a:solidFill xmlns:a="http://schemas.openxmlformats.org/drawingml/2006/main">
            <a:srgbClr val="FFFFFF"/>
          </a:solidFill>
          <a:ln xmlns:a="http://schemas.openxmlformats.org/drawingml/2006/main" w="9525">
            <a:solidFill>
              <a:srgbClr val="DDDCD5"/>
            </a:solidFill>
            <a:prstDash val="solid"/>
          </a:ln>
        </p:spPr>
      </p:sp>
      <p:sp>
        <p:nvSpPr>
          <p:cNvPr id="5" name="">
            <a:extLst xmlns:a="http://schemas.openxmlformats.org/drawingml/2006/main">
              <a:ext uri="{FF2B5EF4-FFF2-40B4-BE49-F238E27FC236}">
                <a16:creationId xmlns:a16="http://schemas.microsoft.com/office/drawing/2014/main" id="{ED4E2E19-0C0B-462E-A9B4-7C3740059108}"/>
              </a:ext>
            </a:extLst>
          </p:cNvPr>
          <p:cNvSpPr>
            <a:spLocks xmlns:a="http://schemas.openxmlformats.org/drawingml/2006/main" noGrp="1"/>
          </p:cNvSpPr>
          <p:nvPr/>
        </p:nvSpPr>
        <p:spPr>
          <a:xfrm xmlns:a="http://schemas.openxmlformats.org/drawingml/2006/main">
            <a:off x="1428750" y="2324100"/>
            <a:ext cx="304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75D50"/>
                </a:solidFill>
              </a:defRPr>
            </a:pPr>
            <a:r>
              <a:rPr sz="1050" b="1">
                <a:solidFill>
                  <a:srgbClr val="075D50"/>
                </a:solidFill>
              </a:rPr>
              <a:t>ORDER DESK WHOLESALE</a:t>
            </a:r>
          </a:p>
        </p:txBody>
      </p:sp>
      <p:sp>
        <p:nvSpPr>
          <p:cNvPr id="6" name="">
            <a:extLst xmlns:a="http://schemas.openxmlformats.org/drawingml/2006/main">
              <a:ext uri="{FF2B5EF4-FFF2-40B4-BE49-F238E27FC236}">
                <a16:creationId xmlns:a16="http://schemas.microsoft.com/office/drawing/2014/main" id="{9D86B822-39EE-4230-BA4A-DE345DED7E74}"/>
              </a:ext>
            </a:extLst>
          </p:cNvPr>
          <p:cNvSpPr>
            <a:spLocks xmlns:a="http://schemas.openxmlformats.org/drawingml/2006/main" noGrp="1"/>
          </p:cNvSpPr>
          <p:nvPr/>
        </p:nvSpPr>
        <p:spPr>
          <a:xfrm xmlns:a="http://schemas.openxmlformats.org/drawingml/2006/main">
            <a:off x="5619750" y="23050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100" b="1">
                <a:solidFill>
                  <a:srgbClr val="111817"/>
                </a:solidFill>
              </a:defRPr>
            </a:pPr>
            <a:r>
              <a:rPr sz="2100" b="1">
                <a:solidFill>
                  <a:srgbClr val="111817"/>
                </a:solidFill>
              </a:rPr>
              <a:t>PRO-FORMA</a:t>
            </a:r>
          </a:p>
        </p:txBody>
      </p:sp>
      <p:sp>
        <p:nvSpPr>
          <p:cNvPr id="7" name="">
            <a:extLst xmlns:a="http://schemas.openxmlformats.org/drawingml/2006/main">
              <a:ext uri="{FF2B5EF4-FFF2-40B4-BE49-F238E27FC236}">
                <a16:creationId xmlns:a16="http://schemas.microsoft.com/office/drawing/2014/main" id="{A420E162-D0DD-4E54-A673-F4B6E197C95F}"/>
              </a:ext>
            </a:extLst>
          </p:cNvPr>
          <p:cNvSpPr>
            <a:spLocks xmlns:a="http://schemas.openxmlformats.org/drawingml/2006/main" noGrp="1"/>
          </p:cNvSpPr>
          <p:nvPr/>
        </p:nvSpPr>
        <p:spPr>
          <a:xfrm xmlns:a="http://schemas.openxmlformats.org/drawingml/2006/main">
            <a:off x="5905500" y="2686050"/>
            <a:ext cx="1666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0">
                <a:solidFill>
                  <a:srgbClr val="66716E"/>
                </a:solidFill>
              </a:defRPr>
            </a:pPr>
            <a:r>
              <a:rPr sz="1050" b="0">
                <a:solidFill>
                  <a:srgbClr val="66716E"/>
                </a:solidFill>
              </a:rPr>
              <a:t>PF-2026-0042</a:t>
            </a:r>
          </a:p>
        </p:txBody>
      </p:sp>
      <p:sp>
        <p:nvSpPr>
          <p:cNvPr id="8" name="">
            <a:extLst xmlns:a="http://schemas.openxmlformats.org/drawingml/2006/main">
              <a:ext uri="{FF2B5EF4-FFF2-40B4-BE49-F238E27FC236}">
                <a16:creationId xmlns:a16="http://schemas.microsoft.com/office/drawing/2014/main" id="{B0C8F6D0-B1A1-418C-A3C5-53E8C9D00599}"/>
              </a:ext>
            </a:extLst>
          </p:cNvPr>
          <p:cNvSpPr>
            <a:spLocks xmlns:a="http://schemas.openxmlformats.org/drawingml/2006/main" noGrp="1"/>
          </p:cNvSpPr>
          <p:nvPr/>
        </p:nvSpPr>
        <p:spPr>
          <a:xfrm xmlns:a="http://schemas.openxmlformats.org/drawingml/2006/main">
            <a:off x="1428750" y="2914650"/>
            <a:ext cx="114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6716E"/>
                </a:solidFill>
              </a:defRPr>
            </a:pPr>
            <a:r>
              <a:rPr sz="900" b="1">
                <a:solidFill>
                  <a:srgbClr val="66716E"/>
                </a:solidFill>
              </a:rPr>
              <a:t>BILL TO</a:t>
            </a:r>
          </a:p>
        </p:txBody>
      </p:sp>
      <p:sp>
        <p:nvSpPr>
          <p:cNvPr id="9" name="">
            <a:extLst xmlns:a="http://schemas.openxmlformats.org/drawingml/2006/main">
              <a:ext uri="{FF2B5EF4-FFF2-40B4-BE49-F238E27FC236}">
                <a16:creationId xmlns:a16="http://schemas.microsoft.com/office/drawing/2014/main" id="{51CDC85B-CEB6-4BA1-9D4F-0C01351C97BC}"/>
              </a:ext>
            </a:extLst>
          </p:cNvPr>
          <p:cNvSpPr>
            <a:spLocks xmlns:a="http://schemas.openxmlformats.org/drawingml/2006/main" noGrp="1"/>
          </p:cNvSpPr>
          <p:nvPr/>
        </p:nvSpPr>
        <p:spPr>
          <a:xfrm xmlns:a="http://schemas.openxmlformats.org/drawingml/2006/main">
            <a:off x="1428750" y="31432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111817"/>
                </a:solidFill>
              </a:defRPr>
            </a:pPr>
            <a:r>
              <a:rPr sz="1425" b="1">
                <a:solidFill>
                  <a:srgbClr val="111817"/>
                </a:solidFill>
              </a:rPr>
              <a:t>Valley Market</a:t>
            </a:r>
          </a:p>
        </p:txBody>
      </p:sp>
      <p:sp>
        <p:nvSpPr>
          <p:cNvPr id="10" name="">
            <a:extLst xmlns:a="http://schemas.openxmlformats.org/drawingml/2006/main">
              <a:ext uri="{FF2B5EF4-FFF2-40B4-BE49-F238E27FC236}">
                <a16:creationId xmlns:a16="http://schemas.microsoft.com/office/drawing/2014/main" id="{D40D25C7-D690-4C7B-BA6E-2805EE73277A}"/>
              </a:ext>
            </a:extLst>
          </p:cNvPr>
          <p:cNvSpPr>
            <a:spLocks xmlns:a="http://schemas.openxmlformats.org/drawingml/2006/main" noGrp="1"/>
          </p:cNvSpPr>
          <p:nvPr/>
        </p:nvSpPr>
        <p:spPr>
          <a:xfrm xmlns:a="http://schemas.openxmlformats.org/drawingml/2006/main">
            <a:off x="1428750" y="3638550"/>
            <a:ext cx="209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6716E"/>
                </a:solidFill>
              </a:defRPr>
            </a:pPr>
            <a:r>
              <a:rPr sz="900" b="1">
                <a:solidFill>
                  <a:srgbClr val="66716E"/>
                </a:solidFill>
              </a:rPr>
              <a:t>ITEM</a:t>
            </a:r>
          </a:p>
        </p:txBody>
      </p:sp>
      <p:sp>
        <p:nvSpPr>
          <p:cNvPr id="11" name="">
            <a:extLst xmlns:a="http://schemas.openxmlformats.org/drawingml/2006/main">
              <a:ext uri="{FF2B5EF4-FFF2-40B4-BE49-F238E27FC236}">
                <a16:creationId xmlns:a16="http://schemas.microsoft.com/office/drawing/2014/main" id="{19207555-4EB5-429F-BF1D-9139F0F9D815}"/>
              </a:ext>
            </a:extLst>
          </p:cNvPr>
          <p:cNvSpPr>
            <a:spLocks xmlns:a="http://schemas.openxmlformats.org/drawingml/2006/main" noGrp="1"/>
          </p:cNvSpPr>
          <p:nvPr/>
        </p:nvSpPr>
        <p:spPr>
          <a:xfrm xmlns:a="http://schemas.openxmlformats.org/drawingml/2006/main">
            <a:off x="4552950" y="3638550"/>
            <a:ext cx="571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6716E"/>
                </a:solidFill>
              </a:defRPr>
            </a:pPr>
            <a:r>
              <a:rPr sz="900" b="1">
                <a:solidFill>
                  <a:srgbClr val="66716E"/>
                </a:solidFill>
              </a:rPr>
              <a:t>QTY</a:t>
            </a:r>
          </a:p>
        </p:txBody>
      </p:sp>
      <p:sp>
        <p:nvSpPr>
          <p:cNvPr id="12" name="">
            <a:extLst xmlns:a="http://schemas.openxmlformats.org/drawingml/2006/main">
              <a:ext uri="{FF2B5EF4-FFF2-40B4-BE49-F238E27FC236}">
                <a16:creationId xmlns:a16="http://schemas.microsoft.com/office/drawing/2014/main" id="{56A261BA-3CC2-4429-AD68-41BE5DF8A8AF}"/>
              </a:ext>
            </a:extLst>
          </p:cNvPr>
          <p:cNvSpPr>
            <a:spLocks xmlns:a="http://schemas.openxmlformats.org/drawingml/2006/main" noGrp="1"/>
          </p:cNvSpPr>
          <p:nvPr/>
        </p:nvSpPr>
        <p:spPr>
          <a:xfrm xmlns:a="http://schemas.openxmlformats.org/drawingml/2006/main">
            <a:off x="5429250" y="3638550"/>
            <a:ext cx="952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66716E"/>
                </a:solidFill>
              </a:defRPr>
            </a:pPr>
            <a:r>
              <a:rPr sz="900" b="1">
                <a:solidFill>
                  <a:srgbClr val="66716E"/>
                </a:solidFill>
              </a:rPr>
              <a:t>UNIT PRICE</a:t>
            </a:r>
          </a:p>
        </p:txBody>
      </p:sp>
      <p:sp>
        <p:nvSpPr>
          <p:cNvPr id="13" name="">
            <a:extLst xmlns:a="http://schemas.openxmlformats.org/drawingml/2006/main">
              <a:ext uri="{FF2B5EF4-FFF2-40B4-BE49-F238E27FC236}">
                <a16:creationId xmlns:a16="http://schemas.microsoft.com/office/drawing/2014/main" id="{3CC07B7E-1832-421D-916F-88166DC4CC0B}"/>
              </a:ext>
            </a:extLst>
          </p:cNvPr>
          <p:cNvSpPr>
            <a:spLocks xmlns:a="http://schemas.openxmlformats.org/drawingml/2006/main" noGrp="1"/>
          </p:cNvSpPr>
          <p:nvPr/>
        </p:nvSpPr>
        <p:spPr>
          <a:xfrm xmlns:a="http://schemas.openxmlformats.org/drawingml/2006/main">
            <a:off x="6800850" y="3638550"/>
            <a:ext cx="666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66716E"/>
                </a:solidFill>
              </a:defRPr>
            </a:pPr>
            <a:r>
              <a:rPr sz="900" b="1">
                <a:solidFill>
                  <a:srgbClr val="66716E"/>
                </a:solidFill>
              </a:rPr>
              <a:t>TOTAL</a:t>
            </a:r>
          </a:p>
        </p:txBody>
      </p:sp>
      <p:sp>
        <p:nvSpPr>
          <p:cNvPr id="14" name="">
            <a:extLst xmlns:a="http://schemas.openxmlformats.org/drawingml/2006/main">
              <a:ext uri="{FF2B5EF4-FFF2-40B4-BE49-F238E27FC236}">
                <a16:creationId xmlns:a16="http://schemas.microsoft.com/office/drawing/2014/main" id="{73382D9C-E3B8-4C43-9A0B-F761F46EF03C}"/>
              </a:ext>
            </a:extLst>
          </p:cNvPr>
          <p:cNvSpPr>
            <a:spLocks xmlns:a="http://schemas.openxmlformats.org/drawingml/2006/main" noGrp="1"/>
          </p:cNvSpPr>
          <p:nvPr/>
        </p:nvSpPr>
        <p:spPr>
          <a:xfrm xmlns:a="http://schemas.openxmlformats.org/drawingml/2006/main">
            <a:off x="1428750" y="39433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111817"/>
                </a:solidFill>
              </a:defRPr>
            </a:pPr>
            <a:r>
              <a:rPr sz="1125" b="1">
                <a:solidFill>
                  <a:srgbClr val="111817"/>
                </a:solidFill>
              </a:rPr>
              <a:t>Turmeric Ground 3oz</a:t>
            </a:r>
          </a:p>
        </p:txBody>
      </p:sp>
      <p:sp>
        <p:nvSpPr>
          <p:cNvPr id="15" name="">
            <a:extLst xmlns:a="http://schemas.openxmlformats.org/drawingml/2006/main">
              <a:ext uri="{FF2B5EF4-FFF2-40B4-BE49-F238E27FC236}">
                <a16:creationId xmlns:a16="http://schemas.microsoft.com/office/drawing/2014/main" id="{759D9CD7-7CB1-4B2F-B83D-E55A0C6CA2BC}"/>
              </a:ext>
            </a:extLst>
          </p:cNvPr>
          <p:cNvSpPr>
            <a:spLocks xmlns:a="http://schemas.openxmlformats.org/drawingml/2006/main" noGrp="1"/>
          </p:cNvSpPr>
          <p:nvPr/>
        </p:nvSpPr>
        <p:spPr>
          <a:xfrm xmlns:a="http://schemas.openxmlformats.org/drawingml/2006/main">
            <a:off x="4667250" y="39433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817"/>
                </a:solidFill>
              </a:defRPr>
            </a:pPr>
            <a:r>
              <a:rPr sz="1125" b="0">
                <a:solidFill>
                  <a:srgbClr val="111817"/>
                </a:solidFill>
              </a:rPr>
              <a:t>6</a:t>
            </a:r>
          </a:p>
        </p:txBody>
      </p:sp>
      <p:sp>
        <p:nvSpPr>
          <p:cNvPr id="16" name="">
            <a:extLst xmlns:a="http://schemas.openxmlformats.org/drawingml/2006/main">
              <a:ext uri="{FF2B5EF4-FFF2-40B4-BE49-F238E27FC236}">
                <a16:creationId xmlns:a16="http://schemas.microsoft.com/office/drawing/2014/main" id="{4527E17F-C8D5-43EE-BE6B-71A4C14A340F}"/>
              </a:ext>
            </a:extLst>
          </p:cNvPr>
          <p:cNvSpPr>
            <a:spLocks xmlns:a="http://schemas.openxmlformats.org/drawingml/2006/main" noGrp="1"/>
          </p:cNvSpPr>
          <p:nvPr/>
        </p:nvSpPr>
        <p:spPr>
          <a:xfrm xmlns:a="http://schemas.openxmlformats.org/drawingml/2006/main">
            <a:off x="5524500" y="39433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817"/>
                </a:solidFill>
              </a:defRPr>
            </a:pPr>
            <a:r>
              <a:rPr sz="1125" b="0">
                <a:solidFill>
                  <a:srgbClr val="111817"/>
                </a:solidFill>
              </a:rPr>
              <a:t>$2.49</a:t>
            </a:r>
          </a:p>
        </p:txBody>
      </p:sp>
      <p:sp>
        <p:nvSpPr>
          <p:cNvPr id="17" name="">
            <a:extLst xmlns:a="http://schemas.openxmlformats.org/drawingml/2006/main">
              <a:ext uri="{FF2B5EF4-FFF2-40B4-BE49-F238E27FC236}">
                <a16:creationId xmlns:a16="http://schemas.microsoft.com/office/drawing/2014/main" id="{D0E37634-A2CE-4834-87CC-96A18C549E2A}"/>
              </a:ext>
            </a:extLst>
          </p:cNvPr>
          <p:cNvSpPr>
            <a:spLocks xmlns:a="http://schemas.openxmlformats.org/drawingml/2006/main" noGrp="1"/>
          </p:cNvSpPr>
          <p:nvPr/>
        </p:nvSpPr>
        <p:spPr>
          <a:xfrm xmlns:a="http://schemas.openxmlformats.org/drawingml/2006/main">
            <a:off x="6667500" y="39433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817"/>
                </a:solidFill>
              </a:defRPr>
            </a:pPr>
            <a:r>
              <a:rPr sz="1125" b="0">
                <a:solidFill>
                  <a:srgbClr val="111817"/>
                </a:solidFill>
              </a:rPr>
              <a:t>$14.94</a:t>
            </a:r>
          </a:p>
        </p:txBody>
      </p:sp>
      <p:sp>
        <p:nvSpPr>
          <p:cNvPr id="18" name="">
            <a:extLst xmlns:a="http://schemas.openxmlformats.org/drawingml/2006/main">
              <a:ext uri="{FF2B5EF4-FFF2-40B4-BE49-F238E27FC236}">
                <a16:creationId xmlns:a16="http://schemas.microsoft.com/office/drawing/2014/main" id="{43DB534E-E226-438E-A10A-2979F23E2A8B}"/>
              </a:ext>
            </a:extLst>
          </p:cNvPr>
          <p:cNvSpPr>
            <a:spLocks xmlns:a="http://schemas.openxmlformats.org/drawingml/2006/main" noGrp="1"/>
          </p:cNvSpPr>
          <p:nvPr/>
        </p:nvSpPr>
        <p:spPr>
          <a:xfrm xmlns:a="http://schemas.openxmlformats.org/drawingml/2006/main">
            <a:off x="1428750" y="42862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817"/>
                </a:solidFill>
              </a:defRPr>
            </a:pPr>
            <a:r>
              <a:rPr sz="1125" b="0">
                <a:solidFill>
                  <a:srgbClr val="111817"/>
                </a:solidFill>
              </a:rPr>
              <a:t>Cumin Seeds 3oz</a:t>
            </a:r>
          </a:p>
        </p:txBody>
      </p:sp>
      <p:sp>
        <p:nvSpPr>
          <p:cNvPr id="19" name="">
            <a:extLst xmlns:a="http://schemas.openxmlformats.org/drawingml/2006/main">
              <a:ext uri="{FF2B5EF4-FFF2-40B4-BE49-F238E27FC236}">
                <a16:creationId xmlns:a16="http://schemas.microsoft.com/office/drawing/2014/main" id="{123E62C7-DACC-47D0-AAFD-BD3F177BCA17}"/>
              </a:ext>
            </a:extLst>
          </p:cNvPr>
          <p:cNvSpPr>
            <a:spLocks xmlns:a="http://schemas.openxmlformats.org/drawingml/2006/main" noGrp="1"/>
          </p:cNvSpPr>
          <p:nvPr/>
        </p:nvSpPr>
        <p:spPr>
          <a:xfrm xmlns:a="http://schemas.openxmlformats.org/drawingml/2006/main">
            <a:off x="4667250" y="42862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817"/>
                </a:solidFill>
              </a:defRPr>
            </a:pPr>
            <a:r>
              <a:rPr sz="1125" b="0">
                <a:solidFill>
                  <a:srgbClr val="111817"/>
                </a:solidFill>
              </a:rPr>
              <a:t>8</a:t>
            </a:r>
          </a:p>
        </p:txBody>
      </p:sp>
      <p:sp>
        <p:nvSpPr>
          <p:cNvPr id="20" name="">
            <a:extLst xmlns:a="http://schemas.openxmlformats.org/drawingml/2006/main">
              <a:ext uri="{FF2B5EF4-FFF2-40B4-BE49-F238E27FC236}">
                <a16:creationId xmlns:a16="http://schemas.microsoft.com/office/drawing/2014/main" id="{CB482746-2A7D-40B9-BFBC-F23D4B3EC4CB}"/>
              </a:ext>
            </a:extLst>
          </p:cNvPr>
          <p:cNvSpPr>
            <a:spLocks xmlns:a="http://schemas.openxmlformats.org/drawingml/2006/main" noGrp="1"/>
          </p:cNvSpPr>
          <p:nvPr/>
        </p:nvSpPr>
        <p:spPr>
          <a:xfrm xmlns:a="http://schemas.openxmlformats.org/drawingml/2006/main">
            <a:off x="5524500" y="42862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817"/>
                </a:solidFill>
              </a:defRPr>
            </a:pPr>
            <a:r>
              <a:rPr sz="1125" b="0">
                <a:solidFill>
                  <a:srgbClr val="111817"/>
                </a:solidFill>
              </a:rPr>
              <a:t>$2.69</a:t>
            </a:r>
          </a:p>
        </p:txBody>
      </p:sp>
      <p:sp>
        <p:nvSpPr>
          <p:cNvPr id="21" name="">
            <a:extLst xmlns:a="http://schemas.openxmlformats.org/drawingml/2006/main">
              <a:ext uri="{FF2B5EF4-FFF2-40B4-BE49-F238E27FC236}">
                <a16:creationId xmlns:a16="http://schemas.microsoft.com/office/drawing/2014/main" id="{F3BA3F50-EC24-4307-A933-6F4F5B167D4A}"/>
              </a:ext>
            </a:extLst>
          </p:cNvPr>
          <p:cNvSpPr>
            <a:spLocks xmlns:a="http://schemas.openxmlformats.org/drawingml/2006/main" noGrp="1"/>
          </p:cNvSpPr>
          <p:nvPr/>
        </p:nvSpPr>
        <p:spPr>
          <a:xfrm xmlns:a="http://schemas.openxmlformats.org/drawingml/2006/main">
            <a:off x="6667500" y="42862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817"/>
                </a:solidFill>
              </a:defRPr>
            </a:pPr>
            <a:r>
              <a:rPr sz="1125" b="0">
                <a:solidFill>
                  <a:srgbClr val="111817"/>
                </a:solidFill>
              </a:rPr>
              <a:t>$21.52</a:t>
            </a:r>
          </a:p>
        </p:txBody>
      </p:sp>
      <p:sp>
        <p:nvSpPr>
          <p:cNvPr id="22" name="">
            <a:extLst xmlns:a="http://schemas.openxmlformats.org/drawingml/2006/main">
              <a:ext uri="{FF2B5EF4-FFF2-40B4-BE49-F238E27FC236}">
                <a16:creationId xmlns:a16="http://schemas.microsoft.com/office/drawing/2014/main" id="{E2B867A4-249A-4D75-8F37-7C517304DB42}"/>
              </a:ext>
            </a:extLst>
          </p:cNvPr>
          <p:cNvSpPr>
            <a:spLocks xmlns:a="http://schemas.openxmlformats.org/drawingml/2006/main" noGrp="1"/>
          </p:cNvSpPr>
          <p:nvPr/>
        </p:nvSpPr>
        <p:spPr>
          <a:xfrm xmlns:a="http://schemas.openxmlformats.org/drawingml/2006/main">
            <a:off x="1428750" y="4629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817"/>
                </a:solidFill>
              </a:defRPr>
            </a:pPr>
            <a:r>
              <a:rPr sz="1125" b="0">
                <a:solidFill>
                  <a:srgbClr val="111817"/>
                </a:solidFill>
              </a:rPr>
              <a:t>Cardamom Green 2oz</a:t>
            </a:r>
          </a:p>
        </p:txBody>
      </p:sp>
      <p:sp>
        <p:nvSpPr>
          <p:cNvPr id="23" name="">
            <a:extLst xmlns:a="http://schemas.openxmlformats.org/drawingml/2006/main">
              <a:ext uri="{FF2B5EF4-FFF2-40B4-BE49-F238E27FC236}">
                <a16:creationId xmlns:a16="http://schemas.microsoft.com/office/drawing/2014/main" id="{9807F60D-B4EC-4B17-88E1-AE8A0436BFE5}"/>
              </a:ext>
            </a:extLst>
          </p:cNvPr>
          <p:cNvSpPr>
            <a:spLocks xmlns:a="http://schemas.openxmlformats.org/drawingml/2006/main" noGrp="1"/>
          </p:cNvSpPr>
          <p:nvPr/>
        </p:nvSpPr>
        <p:spPr>
          <a:xfrm xmlns:a="http://schemas.openxmlformats.org/drawingml/2006/main">
            <a:off x="4667250" y="4629150"/>
            <a:ext cx="38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817"/>
                </a:solidFill>
              </a:defRPr>
            </a:pPr>
            <a:r>
              <a:rPr sz="1125" b="0">
                <a:solidFill>
                  <a:srgbClr val="111817"/>
                </a:solidFill>
              </a:rPr>
              <a:t>4</a:t>
            </a:r>
          </a:p>
        </p:txBody>
      </p:sp>
      <p:sp>
        <p:nvSpPr>
          <p:cNvPr id="24" name="">
            <a:extLst xmlns:a="http://schemas.openxmlformats.org/drawingml/2006/main">
              <a:ext uri="{FF2B5EF4-FFF2-40B4-BE49-F238E27FC236}">
                <a16:creationId xmlns:a16="http://schemas.microsoft.com/office/drawing/2014/main" id="{8B1F3818-36D9-49A9-B036-F75309504B71}"/>
              </a:ext>
            </a:extLst>
          </p:cNvPr>
          <p:cNvSpPr>
            <a:spLocks xmlns:a="http://schemas.openxmlformats.org/drawingml/2006/main" noGrp="1"/>
          </p:cNvSpPr>
          <p:nvPr/>
        </p:nvSpPr>
        <p:spPr>
          <a:xfrm xmlns:a="http://schemas.openxmlformats.org/drawingml/2006/main">
            <a:off x="5524500" y="462915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11817"/>
                </a:solidFill>
              </a:defRPr>
            </a:pPr>
            <a:r>
              <a:rPr sz="1125" b="0">
                <a:solidFill>
                  <a:srgbClr val="111817"/>
                </a:solidFill>
              </a:rPr>
              <a:t>$7.99</a:t>
            </a:r>
          </a:p>
        </p:txBody>
      </p:sp>
      <p:sp>
        <p:nvSpPr>
          <p:cNvPr id="25" name="">
            <a:extLst xmlns:a="http://schemas.openxmlformats.org/drawingml/2006/main">
              <a:ext uri="{FF2B5EF4-FFF2-40B4-BE49-F238E27FC236}">
                <a16:creationId xmlns:a16="http://schemas.microsoft.com/office/drawing/2014/main" id="{666B5745-66A1-4C54-A8B3-02ECA526E69F}"/>
              </a:ext>
            </a:extLst>
          </p:cNvPr>
          <p:cNvSpPr>
            <a:spLocks xmlns:a="http://schemas.openxmlformats.org/drawingml/2006/main" noGrp="1"/>
          </p:cNvSpPr>
          <p:nvPr/>
        </p:nvSpPr>
        <p:spPr>
          <a:xfrm xmlns:a="http://schemas.openxmlformats.org/drawingml/2006/main">
            <a:off x="6667500" y="4629150"/>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125" b="0">
                <a:solidFill>
                  <a:srgbClr val="111817"/>
                </a:solidFill>
              </a:defRPr>
            </a:pPr>
            <a:r>
              <a:rPr sz="1125" b="0">
                <a:solidFill>
                  <a:srgbClr val="111817"/>
                </a:solidFill>
              </a:rPr>
              <a:t>$31.96</a:t>
            </a:r>
          </a:p>
        </p:txBody>
      </p:sp>
      <p:sp>
        <p:nvSpPr>
          <p:cNvPr id="26" name="">
            <a:extLst xmlns:a="http://schemas.openxmlformats.org/drawingml/2006/main">
              <a:ext uri="{FF2B5EF4-FFF2-40B4-BE49-F238E27FC236}">
                <a16:creationId xmlns:a16="http://schemas.microsoft.com/office/drawing/2014/main" id="{4F6E5420-48EF-49C9-837A-303A4901F15B}"/>
              </a:ext>
            </a:extLst>
          </p:cNvPr>
          <p:cNvSpPr>
            <a:spLocks xmlns:a="http://schemas.openxmlformats.org/drawingml/2006/main" noGrp="1"/>
          </p:cNvSpPr>
          <p:nvPr/>
        </p:nvSpPr>
        <p:spPr>
          <a:xfrm xmlns:a="http://schemas.openxmlformats.org/drawingml/2006/main">
            <a:off x="8524875" y="2590800"/>
            <a:ext cx="2381250" cy="1714500"/>
          </a:xfrm>
          <a:prstGeom xmlns:a="http://schemas.openxmlformats.org/drawingml/2006/main" prst="roundRect">
            <a:avLst>
              <a:gd name="adj" fmla="val 8889"/>
            </a:avLst>
          </a:prstGeom>
          <a:solidFill xmlns:a="http://schemas.openxmlformats.org/drawingml/2006/main">
            <a:srgbClr val="E8F4EF"/>
          </a:solidFill>
          <a:ln xmlns:a="http://schemas.openxmlformats.org/drawingml/2006/main" w="9525">
            <a:solidFill>
              <a:srgbClr val="E8F4EF"/>
            </a:solidFill>
            <a:prstDash val="solid"/>
          </a:ln>
        </p:spPr>
      </p:sp>
      <p:sp>
        <p:nvSpPr>
          <p:cNvPr id="27" name="">
            <a:extLst xmlns:a="http://schemas.openxmlformats.org/drawingml/2006/main">
              <a:ext uri="{FF2B5EF4-FFF2-40B4-BE49-F238E27FC236}">
                <a16:creationId xmlns:a16="http://schemas.microsoft.com/office/drawing/2014/main" id="{3BB2589B-6E87-4D15-9AED-B16624EB9879}"/>
              </a:ext>
            </a:extLst>
          </p:cNvPr>
          <p:cNvSpPr>
            <a:spLocks xmlns:a="http://schemas.openxmlformats.org/drawingml/2006/main" noGrp="1"/>
          </p:cNvSpPr>
          <p:nvPr/>
        </p:nvSpPr>
        <p:spPr>
          <a:xfrm xmlns:a="http://schemas.openxmlformats.org/drawingml/2006/main">
            <a:off x="8810625" y="2876550"/>
            <a:ext cx="1809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75D50"/>
                </a:solidFill>
              </a:defRPr>
            </a:pPr>
            <a:r>
              <a:rPr sz="1125" b="1">
                <a:solidFill>
                  <a:srgbClr val="075D50"/>
                </a:solidFill>
              </a:rPr>
              <a:t>FIRST CUSTOMER</a:t>
            </a:r>
          </a:p>
          <a:p xmlns:a="http://schemas.openxmlformats.org/drawingml/2006/main">
            <a:pPr algn="ctr">
              <a:defRPr sz="1125" b="1">
                <a:solidFill>
                  <a:srgbClr val="075D50"/>
                </a:solidFill>
              </a:defRPr>
            </a:pPr>
            <a:r>
              <a:rPr sz="1125" b="1">
                <a:solidFill>
                  <a:srgbClr val="075D50"/>
                </a:solidFill>
              </a:rPr>
              <a:t>PRICE VIEW</a:t>
            </a:r>
          </a:p>
        </p:txBody>
      </p:sp>
      <p:sp>
        <p:nvSpPr>
          <p:cNvPr id="28" name="">
            <a:extLst xmlns:a="http://schemas.openxmlformats.org/drawingml/2006/main">
              <a:ext uri="{FF2B5EF4-FFF2-40B4-BE49-F238E27FC236}">
                <a16:creationId xmlns:a16="http://schemas.microsoft.com/office/drawing/2014/main" id="{E72AD215-4AA9-4BF6-B221-D9135F9516FA}"/>
              </a:ext>
            </a:extLst>
          </p:cNvPr>
          <p:cNvSpPr>
            <a:spLocks xmlns:a="http://schemas.openxmlformats.org/drawingml/2006/main" noGrp="1"/>
          </p:cNvSpPr>
          <p:nvPr/>
        </p:nvSpPr>
        <p:spPr>
          <a:xfrm xmlns:a="http://schemas.openxmlformats.org/drawingml/2006/main">
            <a:off x="8810625" y="3524250"/>
            <a:ext cx="180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111817"/>
                </a:solidFill>
              </a:defRPr>
            </a:pPr>
            <a:r>
              <a:rPr sz="2550" b="1">
                <a:solidFill>
                  <a:srgbClr val="111817"/>
                </a:solidFill>
              </a:rPr>
              <a:t>$486.38</a:t>
            </a:r>
          </a:p>
        </p:txBody>
      </p:sp>
      <p:sp>
        <p:nvSpPr>
          <p:cNvPr id="29" name="">
            <a:extLst xmlns:a="http://schemas.openxmlformats.org/drawingml/2006/main">
              <a:ext uri="{FF2B5EF4-FFF2-40B4-BE49-F238E27FC236}">
                <a16:creationId xmlns:a16="http://schemas.microsoft.com/office/drawing/2014/main" id="{A16DEB6F-4878-46F8-ABAE-B4FBD7D97304}"/>
              </a:ext>
            </a:extLst>
          </p:cNvPr>
          <p:cNvSpPr>
            <a:spLocks xmlns:a="http://schemas.openxmlformats.org/drawingml/2006/main" noGrp="1"/>
          </p:cNvSpPr>
          <p:nvPr/>
        </p:nvSpPr>
        <p:spPr>
          <a:xfrm xmlns:a="http://schemas.openxmlformats.org/drawingml/2006/main">
            <a:off x="8477250" y="4552950"/>
            <a:ext cx="247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66716E"/>
                </a:solidFill>
              </a:defRPr>
            </a:pPr>
            <a:r>
              <a:rPr sz="1350" b="0">
                <a:solidFill>
                  <a:srgbClr val="66716E"/>
                </a:solidFill>
              </a:rPr>
              <a:t>Pricing remains hidden until this document is sent.</a:t>
            </a:r>
          </a:p>
        </p:txBody>
      </p:sp>
      <p:sp>
        <p:nvSpPr>
          <p:cNvPr id="30" name="">
            <a:extLst xmlns:a="http://schemas.openxmlformats.org/drawingml/2006/main">
              <a:ext uri="{FF2B5EF4-FFF2-40B4-BE49-F238E27FC236}">
                <a16:creationId xmlns:a16="http://schemas.microsoft.com/office/drawing/2014/main" id="{2B54B551-662D-4B83-9EAD-F563C803AE94}"/>
              </a:ext>
            </a:extLst>
          </p:cNvPr>
          <p:cNvSpPr>
            <a:spLocks xmlns:a="http://schemas.openxmlformats.org/drawingml/2006/main" noGrp="1"/>
          </p:cNvSpPr>
          <p:nvPr/>
        </p:nvSpPr>
        <p:spPr>
          <a:xfrm xmlns:a="http://schemas.openxmlformats.org/drawingml/2006/main">
            <a:off x="6858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31" name="">
            <a:extLst xmlns:a="http://schemas.openxmlformats.org/drawingml/2006/main">
              <a:ext uri="{FF2B5EF4-FFF2-40B4-BE49-F238E27FC236}">
                <a16:creationId xmlns:a16="http://schemas.microsoft.com/office/drawing/2014/main" id="{D28B85C7-BAB7-4252-90FF-15A1BC118EB3}"/>
              </a:ext>
            </a:extLst>
          </p:cNvPr>
          <p:cNvSpPr>
            <a:spLocks xmlns:a="http://schemas.openxmlformats.org/drawingml/2006/main" noGrp="1"/>
          </p:cNvSpPr>
          <p:nvPr/>
        </p:nvSpPr>
        <p:spPr>
          <a:xfrm xmlns:a="http://schemas.openxmlformats.org/drawingml/2006/main">
            <a:off x="10096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ACCESS</a:t>
            </a:r>
          </a:p>
        </p:txBody>
      </p:sp>
      <p:sp>
        <p:nvSpPr>
          <p:cNvPr id="32" name="">
            <a:extLst xmlns:a="http://schemas.openxmlformats.org/drawingml/2006/main">
              <a:ext uri="{FF2B5EF4-FFF2-40B4-BE49-F238E27FC236}">
                <a16:creationId xmlns:a16="http://schemas.microsoft.com/office/drawing/2014/main" id="{06DAE28A-7260-4D6B-852C-D95709586131}"/>
              </a:ext>
            </a:extLst>
          </p:cNvPr>
          <p:cNvSpPr>
            <a:spLocks xmlns:a="http://schemas.openxmlformats.org/drawingml/2006/main" noGrp="1"/>
          </p:cNvSpPr>
          <p:nvPr/>
        </p:nvSpPr>
        <p:spPr>
          <a:xfrm xmlns:a="http://schemas.openxmlformats.org/drawingml/2006/main">
            <a:off x="95250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33" name="">
            <a:extLst xmlns:a="http://schemas.openxmlformats.org/drawingml/2006/main">
              <a:ext uri="{FF2B5EF4-FFF2-40B4-BE49-F238E27FC236}">
                <a16:creationId xmlns:a16="http://schemas.microsoft.com/office/drawing/2014/main" id="{240D161C-A8F5-4D2E-8153-8FE1533062F6}"/>
              </a:ext>
            </a:extLst>
          </p:cNvPr>
          <p:cNvSpPr>
            <a:spLocks xmlns:a="http://schemas.openxmlformats.org/drawingml/2006/main" noGrp="1"/>
          </p:cNvSpPr>
          <p:nvPr/>
        </p:nvSpPr>
        <p:spPr>
          <a:xfrm xmlns:a="http://schemas.openxmlformats.org/drawingml/2006/main">
            <a:off x="219075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34" name="">
            <a:extLst xmlns:a="http://schemas.openxmlformats.org/drawingml/2006/main">
              <a:ext uri="{FF2B5EF4-FFF2-40B4-BE49-F238E27FC236}">
                <a16:creationId xmlns:a16="http://schemas.microsoft.com/office/drawing/2014/main" id="{E555CE27-D1C9-405A-9F8E-BF1ACF0F61AE}"/>
              </a:ext>
            </a:extLst>
          </p:cNvPr>
          <p:cNvSpPr>
            <a:spLocks xmlns:a="http://schemas.openxmlformats.org/drawingml/2006/main" noGrp="1"/>
          </p:cNvSpPr>
          <p:nvPr/>
        </p:nvSpPr>
        <p:spPr>
          <a:xfrm xmlns:a="http://schemas.openxmlformats.org/drawingml/2006/main">
            <a:off x="25146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REQUEST</a:t>
            </a:r>
          </a:p>
        </p:txBody>
      </p:sp>
      <p:sp>
        <p:nvSpPr>
          <p:cNvPr id="35" name="">
            <a:extLst xmlns:a="http://schemas.openxmlformats.org/drawingml/2006/main">
              <a:ext uri="{FF2B5EF4-FFF2-40B4-BE49-F238E27FC236}">
                <a16:creationId xmlns:a16="http://schemas.microsoft.com/office/drawing/2014/main" id="{7A8B3E2A-F323-4FB8-8099-61E9F0527732}"/>
              </a:ext>
            </a:extLst>
          </p:cNvPr>
          <p:cNvSpPr>
            <a:spLocks xmlns:a="http://schemas.openxmlformats.org/drawingml/2006/main" noGrp="1"/>
          </p:cNvSpPr>
          <p:nvPr/>
        </p:nvSpPr>
        <p:spPr>
          <a:xfrm xmlns:a="http://schemas.openxmlformats.org/drawingml/2006/main">
            <a:off x="245745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36" name="">
            <a:extLst xmlns:a="http://schemas.openxmlformats.org/drawingml/2006/main">
              <a:ext uri="{FF2B5EF4-FFF2-40B4-BE49-F238E27FC236}">
                <a16:creationId xmlns:a16="http://schemas.microsoft.com/office/drawing/2014/main" id="{2BE0F7CC-7109-4045-AC01-3CDE90C98443}"/>
              </a:ext>
            </a:extLst>
          </p:cNvPr>
          <p:cNvSpPr>
            <a:spLocks xmlns:a="http://schemas.openxmlformats.org/drawingml/2006/main" noGrp="1"/>
          </p:cNvSpPr>
          <p:nvPr/>
        </p:nvSpPr>
        <p:spPr>
          <a:xfrm xmlns:a="http://schemas.openxmlformats.org/drawingml/2006/main">
            <a:off x="36957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37" name="">
            <a:extLst xmlns:a="http://schemas.openxmlformats.org/drawingml/2006/main">
              <a:ext uri="{FF2B5EF4-FFF2-40B4-BE49-F238E27FC236}">
                <a16:creationId xmlns:a16="http://schemas.microsoft.com/office/drawing/2014/main" id="{DE63F300-3AD2-42A6-A375-334FF9F66E3C}"/>
              </a:ext>
            </a:extLst>
          </p:cNvPr>
          <p:cNvSpPr>
            <a:spLocks xmlns:a="http://schemas.openxmlformats.org/drawingml/2006/main" noGrp="1"/>
          </p:cNvSpPr>
          <p:nvPr/>
        </p:nvSpPr>
        <p:spPr>
          <a:xfrm xmlns:a="http://schemas.openxmlformats.org/drawingml/2006/main">
            <a:off x="40195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REVIEW</a:t>
            </a:r>
          </a:p>
        </p:txBody>
      </p:sp>
      <p:sp>
        <p:nvSpPr>
          <p:cNvPr id="38" name="">
            <a:extLst xmlns:a="http://schemas.openxmlformats.org/drawingml/2006/main">
              <a:ext uri="{FF2B5EF4-FFF2-40B4-BE49-F238E27FC236}">
                <a16:creationId xmlns:a16="http://schemas.microsoft.com/office/drawing/2014/main" id="{0F5E68AB-68B7-4A79-A9A9-A08E9394BE95}"/>
              </a:ext>
            </a:extLst>
          </p:cNvPr>
          <p:cNvSpPr>
            <a:spLocks xmlns:a="http://schemas.openxmlformats.org/drawingml/2006/main" noGrp="1"/>
          </p:cNvSpPr>
          <p:nvPr/>
        </p:nvSpPr>
        <p:spPr>
          <a:xfrm xmlns:a="http://schemas.openxmlformats.org/drawingml/2006/main">
            <a:off x="396240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39" name="">
            <a:extLst xmlns:a="http://schemas.openxmlformats.org/drawingml/2006/main">
              <a:ext uri="{FF2B5EF4-FFF2-40B4-BE49-F238E27FC236}">
                <a16:creationId xmlns:a16="http://schemas.microsoft.com/office/drawing/2014/main" id="{C3A229E1-B54E-4507-AD80-1000C935378F}"/>
              </a:ext>
            </a:extLst>
          </p:cNvPr>
          <p:cNvSpPr>
            <a:spLocks xmlns:a="http://schemas.openxmlformats.org/drawingml/2006/main" noGrp="1"/>
          </p:cNvSpPr>
          <p:nvPr/>
        </p:nvSpPr>
        <p:spPr>
          <a:xfrm xmlns:a="http://schemas.openxmlformats.org/drawingml/2006/main">
            <a:off x="520065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40" name="">
            <a:extLst xmlns:a="http://schemas.openxmlformats.org/drawingml/2006/main">
              <a:ext uri="{FF2B5EF4-FFF2-40B4-BE49-F238E27FC236}">
                <a16:creationId xmlns:a16="http://schemas.microsoft.com/office/drawing/2014/main" id="{F10473AD-641C-440D-981F-790BE53CA904}"/>
              </a:ext>
            </a:extLst>
          </p:cNvPr>
          <p:cNvSpPr>
            <a:spLocks xmlns:a="http://schemas.openxmlformats.org/drawingml/2006/main" noGrp="1"/>
          </p:cNvSpPr>
          <p:nvPr/>
        </p:nvSpPr>
        <p:spPr>
          <a:xfrm xmlns:a="http://schemas.openxmlformats.org/drawingml/2006/main">
            <a:off x="55245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075D50"/>
                </a:solidFill>
              </a:defRPr>
            </a:pPr>
            <a:r>
              <a:rPr sz="825" b="1">
                <a:solidFill>
                  <a:srgbClr val="075D50"/>
                </a:solidFill>
              </a:rPr>
              <a:t>PRO-FORMA</a:t>
            </a:r>
          </a:p>
        </p:txBody>
      </p:sp>
      <p:sp>
        <p:nvSpPr>
          <p:cNvPr id="41" name="">
            <a:extLst xmlns:a="http://schemas.openxmlformats.org/drawingml/2006/main">
              <a:ext uri="{FF2B5EF4-FFF2-40B4-BE49-F238E27FC236}">
                <a16:creationId xmlns:a16="http://schemas.microsoft.com/office/drawing/2014/main" id="{C645E9E2-FBA6-4CAE-B016-CE1721EF4761}"/>
              </a:ext>
            </a:extLst>
          </p:cNvPr>
          <p:cNvSpPr>
            <a:spLocks xmlns:a="http://schemas.openxmlformats.org/drawingml/2006/main" noGrp="1"/>
          </p:cNvSpPr>
          <p:nvPr/>
        </p:nvSpPr>
        <p:spPr>
          <a:xfrm xmlns:a="http://schemas.openxmlformats.org/drawingml/2006/main">
            <a:off x="546735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42" name="">
            <a:extLst xmlns:a="http://schemas.openxmlformats.org/drawingml/2006/main">
              <a:ext uri="{FF2B5EF4-FFF2-40B4-BE49-F238E27FC236}">
                <a16:creationId xmlns:a16="http://schemas.microsoft.com/office/drawing/2014/main" id="{6187DDB7-19BE-4DC7-BDBC-5EFDB3326F5B}"/>
              </a:ext>
            </a:extLst>
          </p:cNvPr>
          <p:cNvSpPr>
            <a:spLocks xmlns:a="http://schemas.openxmlformats.org/drawingml/2006/main" noGrp="1"/>
          </p:cNvSpPr>
          <p:nvPr/>
        </p:nvSpPr>
        <p:spPr>
          <a:xfrm xmlns:a="http://schemas.openxmlformats.org/drawingml/2006/main">
            <a:off x="670560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5</a:t>
            </a:r>
          </a:p>
        </p:txBody>
      </p:sp>
      <p:sp>
        <p:nvSpPr>
          <p:cNvPr id="43" name="">
            <a:extLst xmlns:a="http://schemas.openxmlformats.org/drawingml/2006/main">
              <a:ext uri="{FF2B5EF4-FFF2-40B4-BE49-F238E27FC236}">
                <a16:creationId xmlns:a16="http://schemas.microsoft.com/office/drawing/2014/main" id="{C34C7C92-93D1-466A-B83F-1F75836E31A1}"/>
              </a:ext>
            </a:extLst>
          </p:cNvPr>
          <p:cNvSpPr>
            <a:spLocks xmlns:a="http://schemas.openxmlformats.org/drawingml/2006/main" noGrp="1"/>
          </p:cNvSpPr>
          <p:nvPr/>
        </p:nvSpPr>
        <p:spPr>
          <a:xfrm xmlns:a="http://schemas.openxmlformats.org/drawingml/2006/main">
            <a:off x="70294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APPROVAL</a:t>
            </a:r>
          </a:p>
        </p:txBody>
      </p:sp>
      <p:sp>
        <p:nvSpPr>
          <p:cNvPr id="44" name="">
            <a:extLst xmlns:a="http://schemas.openxmlformats.org/drawingml/2006/main">
              <a:ext uri="{FF2B5EF4-FFF2-40B4-BE49-F238E27FC236}">
                <a16:creationId xmlns:a16="http://schemas.microsoft.com/office/drawing/2014/main" id="{26583140-1FDD-4FA8-9819-7D7C9289D441}"/>
              </a:ext>
            </a:extLst>
          </p:cNvPr>
          <p:cNvSpPr>
            <a:spLocks xmlns:a="http://schemas.openxmlformats.org/drawingml/2006/main" noGrp="1"/>
          </p:cNvSpPr>
          <p:nvPr/>
        </p:nvSpPr>
        <p:spPr>
          <a:xfrm xmlns:a="http://schemas.openxmlformats.org/drawingml/2006/main">
            <a:off x="697230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45" name="">
            <a:extLst xmlns:a="http://schemas.openxmlformats.org/drawingml/2006/main">
              <a:ext uri="{FF2B5EF4-FFF2-40B4-BE49-F238E27FC236}">
                <a16:creationId xmlns:a16="http://schemas.microsoft.com/office/drawing/2014/main" id="{B7518BFD-B5C5-4B50-8F0E-D6815A2B47F5}"/>
              </a:ext>
            </a:extLst>
          </p:cNvPr>
          <p:cNvSpPr>
            <a:spLocks xmlns:a="http://schemas.openxmlformats.org/drawingml/2006/main" noGrp="1"/>
          </p:cNvSpPr>
          <p:nvPr/>
        </p:nvSpPr>
        <p:spPr>
          <a:xfrm xmlns:a="http://schemas.openxmlformats.org/drawingml/2006/main">
            <a:off x="821055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6</a:t>
            </a:r>
          </a:p>
        </p:txBody>
      </p:sp>
      <p:sp>
        <p:nvSpPr>
          <p:cNvPr id="46" name="">
            <a:extLst xmlns:a="http://schemas.openxmlformats.org/drawingml/2006/main">
              <a:ext uri="{FF2B5EF4-FFF2-40B4-BE49-F238E27FC236}">
                <a16:creationId xmlns:a16="http://schemas.microsoft.com/office/drawing/2014/main" id="{D38B39D1-4875-4D2D-89F0-DFFC16040EBE}"/>
              </a:ext>
            </a:extLst>
          </p:cNvPr>
          <p:cNvSpPr>
            <a:spLocks xmlns:a="http://schemas.openxmlformats.org/drawingml/2006/main" noGrp="1"/>
          </p:cNvSpPr>
          <p:nvPr/>
        </p:nvSpPr>
        <p:spPr>
          <a:xfrm xmlns:a="http://schemas.openxmlformats.org/drawingml/2006/main">
            <a:off x="85344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DISPATCH</a:t>
            </a:r>
          </a:p>
        </p:txBody>
      </p:sp>
      <p:sp>
        <p:nvSpPr>
          <p:cNvPr id="47" name="">
            <a:extLst xmlns:a="http://schemas.openxmlformats.org/drawingml/2006/main">
              <a:ext uri="{FF2B5EF4-FFF2-40B4-BE49-F238E27FC236}">
                <a16:creationId xmlns:a16="http://schemas.microsoft.com/office/drawing/2014/main" id="{68AC99A0-1C33-4D40-BF0C-00ECABA44D8B}"/>
              </a:ext>
            </a:extLst>
          </p:cNvPr>
          <p:cNvSpPr>
            <a:spLocks xmlns:a="http://schemas.openxmlformats.org/drawingml/2006/main" noGrp="1"/>
          </p:cNvSpPr>
          <p:nvPr/>
        </p:nvSpPr>
        <p:spPr>
          <a:xfrm xmlns:a="http://schemas.openxmlformats.org/drawingml/2006/main">
            <a:off x="847725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48" name="">
            <a:extLst xmlns:a="http://schemas.openxmlformats.org/drawingml/2006/main">
              <a:ext uri="{FF2B5EF4-FFF2-40B4-BE49-F238E27FC236}">
                <a16:creationId xmlns:a16="http://schemas.microsoft.com/office/drawing/2014/main" id="{ED8F8F0B-B2C2-46A3-96CE-56E798F54442}"/>
              </a:ext>
            </a:extLst>
          </p:cNvPr>
          <p:cNvSpPr>
            <a:spLocks xmlns:a="http://schemas.openxmlformats.org/drawingml/2006/main" noGrp="1"/>
          </p:cNvSpPr>
          <p:nvPr/>
        </p:nvSpPr>
        <p:spPr>
          <a:xfrm xmlns:a="http://schemas.openxmlformats.org/drawingml/2006/main">
            <a:off x="971550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7</a:t>
            </a:r>
          </a:p>
        </p:txBody>
      </p:sp>
      <p:sp>
        <p:nvSpPr>
          <p:cNvPr id="49" name="">
            <a:extLst xmlns:a="http://schemas.openxmlformats.org/drawingml/2006/main">
              <a:ext uri="{FF2B5EF4-FFF2-40B4-BE49-F238E27FC236}">
                <a16:creationId xmlns:a16="http://schemas.microsoft.com/office/drawing/2014/main" id="{D5877DA8-5991-4E3A-89C7-65ED192A47A5}"/>
              </a:ext>
            </a:extLst>
          </p:cNvPr>
          <p:cNvSpPr>
            <a:spLocks xmlns:a="http://schemas.openxmlformats.org/drawingml/2006/main" noGrp="1"/>
          </p:cNvSpPr>
          <p:nvPr/>
        </p:nvSpPr>
        <p:spPr>
          <a:xfrm xmlns:a="http://schemas.openxmlformats.org/drawingml/2006/main">
            <a:off x="100393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INVOICE</a:t>
            </a:r>
          </a:p>
        </p:txBody>
      </p:sp>
      <p:sp>
        <p:nvSpPr>
          <p:cNvPr id="50" name="">
            <a:extLst xmlns:a="http://schemas.openxmlformats.org/drawingml/2006/main">
              <a:ext uri="{FF2B5EF4-FFF2-40B4-BE49-F238E27FC236}">
                <a16:creationId xmlns:a16="http://schemas.microsoft.com/office/drawing/2014/main" id="{A00C3E3D-1F07-468B-B9BE-6D447A835973}"/>
              </a:ext>
            </a:extLst>
          </p:cNvPr>
          <p:cNvSpPr>
            <a:spLocks xmlns:a="http://schemas.openxmlformats.org/drawingml/2006/main" noGrp="1"/>
          </p:cNvSpPr>
          <p:nvPr/>
        </p:nvSpPr>
        <p:spPr>
          <a:xfrm xmlns:a="http://schemas.openxmlformats.org/drawingml/2006/main">
            <a:off x="685800" y="6477000"/>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6716E"/>
                </a:solidFill>
              </a:defRPr>
            </a:pPr>
            <a:r>
              <a:rPr sz="825" b="1">
                <a:solidFill>
                  <a:srgbClr val="66716E"/>
                </a:solidFill>
              </a:rPr>
              <a:t>ORDER DESK  ·  OMNIORDER MVP</a:t>
            </a:r>
          </a:p>
        </p:txBody>
      </p:sp>
      <p:sp>
        <p:nvSpPr>
          <p:cNvPr id="51" name="">
            <a:extLst xmlns:a="http://schemas.openxmlformats.org/drawingml/2006/main">
              <a:ext uri="{FF2B5EF4-FFF2-40B4-BE49-F238E27FC236}">
                <a16:creationId xmlns:a16="http://schemas.microsoft.com/office/drawing/2014/main" id="{1B2B0F74-EC37-4EC3-849B-F040A0713D8A}"/>
              </a:ext>
            </a:extLst>
          </p:cNvPr>
          <p:cNvSpPr>
            <a:spLocks xmlns:a="http://schemas.openxmlformats.org/drawingml/2006/main" noGrp="1"/>
          </p:cNvSpPr>
          <p:nvPr/>
        </p:nvSpPr>
        <p:spPr>
          <a:xfrm xmlns:a="http://schemas.openxmlformats.org/drawingml/2006/main">
            <a:off x="11049000" y="64770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6716E"/>
                </a:solidFill>
              </a:defRPr>
            </a:pPr>
            <a:r>
              <a:rPr sz="825" b="1">
                <a:solidFill>
                  <a:srgbClr val="66716E"/>
                </a:solidFill>
              </a:rPr>
              <a:t>06</a:t>
            </a:r>
          </a:p>
        </p:txBody>
      </p:sp>
    </p:spTree>
    <p:extLst>
      <p:ext uri="{BB962C8B-B14F-4D97-AF65-F5344CB8AC3E}">
        <p14:creationId xmlns:p14="http://schemas.microsoft.com/office/powerpoint/2010/main" val="453685103"/>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C17BB4C4-1BF2-4650-B51A-B8F7CAB45056}"/>
              </a:ext>
            </a:extLst>
          </p:cNvPr>
          <p:cNvSpPr>
            <a:spLocks xmlns:a="http://schemas.openxmlformats.org/drawingml/2006/main" noGrp="1"/>
          </p:cNvSpPr>
          <p:nvPr/>
        </p:nvSpPr>
        <p:spPr>
          <a:xfrm xmlns:a="http://schemas.openxmlformats.org/drawingml/2006/main">
            <a:off x="857250" y="4572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75D50"/>
                </a:solidFill>
              </a:defRPr>
            </a:pPr>
            <a:r>
              <a:rPr sz="975" b="1">
                <a:solidFill>
                  <a:srgbClr val="075D50"/>
                </a:solidFill>
              </a:rPr>
              <a:t>STEP 5 · CUSTOMER APPROVAL</a:t>
            </a:r>
          </a:p>
        </p:txBody>
      </p:sp>
      <p:sp>
        <p:nvSpPr>
          <p:cNvPr id="2" name="">
            <a:extLst xmlns:a="http://schemas.openxmlformats.org/drawingml/2006/main">
              <a:ext uri="{FF2B5EF4-FFF2-40B4-BE49-F238E27FC236}">
                <a16:creationId xmlns:a16="http://schemas.microsoft.com/office/drawing/2014/main" id="{CF30DF2C-BEA4-45F8-A221-9F88D23A034D}"/>
              </a:ext>
            </a:extLst>
          </p:cNvPr>
          <p:cNvSpPr>
            <a:spLocks xmlns:a="http://schemas.openxmlformats.org/drawingml/2006/main" noGrp="1"/>
          </p:cNvSpPr>
          <p:nvPr/>
        </p:nvSpPr>
        <p:spPr>
          <a:xfrm xmlns:a="http://schemas.openxmlformats.org/drawingml/2006/main">
            <a:off x="857250" y="781050"/>
            <a:ext cx="10648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817"/>
                </a:solidFill>
              </a:defRPr>
            </a:pPr>
            <a:r>
              <a:rPr sz="2850" b="1">
                <a:solidFill>
                  <a:srgbClr val="111817"/>
                </a:solidFill>
              </a:rPr>
              <a:t>Approval is explicit, traceable, and easy</a:t>
            </a:r>
          </a:p>
        </p:txBody>
      </p:sp>
      <p:sp>
        <p:nvSpPr>
          <p:cNvPr id="3" name="">
            <a:extLst xmlns:a="http://schemas.openxmlformats.org/drawingml/2006/main">
              <a:ext uri="{FF2B5EF4-FFF2-40B4-BE49-F238E27FC236}">
                <a16:creationId xmlns:a16="http://schemas.microsoft.com/office/drawing/2014/main" id="{63813C29-8F2C-483E-A004-F31C9B145CB3}"/>
              </a:ext>
            </a:extLst>
          </p:cNvPr>
          <p:cNvSpPr>
            <a:spLocks xmlns:a="http://schemas.openxmlformats.org/drawingml/2006/main" noGrp="1"/>
          </p:cNvSpPr>
          <p:nvPr/>
        </p:nvSpPr>
        <p:spPr>
          <a:xfrm xmlns:a="http://schemas.openxmlformats.org/drawingml/2006/main">
            <a:off x="857250" y="1428750"/>
            <a:ext cx="982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6716E"/>
                </a:solidFill>
              </a:defRPr>
            </a:pPr>
            <a:r>
              <a:rPr sz="1425" b="0">
                <a:solidFill>
                  <a:srgbClr val="66716E"/>
                </a:solidFill>
              </a:rPr>
              <a:t>The customer can approve the pro-forma or request changes without creating an account.</a:t>
            </a:r>
          </a:p>
        </p:txBody>
      </p:sp>
      <p:sp>
        <p:nvSpPr>
          <p:cNvPr id="4" name="">
            <a:extLst xmlns:a="http://schemas.openxmlformats.org/drawingml/2006/main">
              <a:ext uri="{FF2B5EF4-FFF2-40B4-BE49-F238E27FC236}">
                <a16:creationId xmlns:a16="http://schemas.microsoft.com/office/drawing/2014/main" id="{40FFAD67-E457-40F4-B4BC-C9A10CBA2448}"/>
              </a:ext>
            </a:extLst>
          </p:cNvPr>
          <p:cNvSpPr>
            <a:spLocks xmlns:a="http://schemas.openxmlformats.org/drawingml/2006/main" noGrp="1"/>
          </p:cNvSpPr>
          <p:nvPr/>
        </p:nvSpPr>
        <p:spPr>
          <a:xfrm xmlns:a="http://schemas.openxmlformats.org/drawingml/2006/main">
            <a:off x="1238250" y="2381250"/>
            <a:ext cx="1047750" cy="104775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3900" b="1">
                <a:solidFill>
                  <a:srgbClr val="FFFFFF"/>
                </a:solidFill>
              </a:defRPr>
            </a:pPr>
            <a:r>
              <a:rPr sz="3900" b="1">
                <a:solidFill>
                  <a:srgbClr val="FFFFFF"/>
                </a:solidFill>
              </a:rPr>
              <a:t>✓</a:t>
            </a:r>
          </a:p>
        </p:txBody>
      </p:sp>
      <p:sp>
        <p:nvSpPr>
          <p:cNvPr id="5" name="">
            <a:extLst xmlns:a="http://schemas.openxmlformats.org/drawingml/2006/main">
              <a:ext uri="{FF2B5EF4-FFF2-40B4-BE49-F238E27FC236}">
                <a16:creationId xmlns:a16="http://schemas.microsoft.com/office/drawing/2014/main" id="{3BE67B1E-2BB4-4428-9BB5-D94ECA0E2B10}"/>
              </a:ext>
            </a:extLst>
          </p:cNvPr>
          <p:cNvSpPr>
            <a:spLocks xmlns:a="http://schemas.openxmlformats.org/drawingml/2006/main" noGrp="1"/>
          </p:cNvSpPr>
          <p:nvPr/>
        </p:nvSpPr>
        <p:spPr>
          <a:xfrm xmlns:a="http://schemas.openxmlformats.org/drawingml/2006/main">
            <a:off x="2762250" y="224790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075D50"/>
                </a:solidFill>
              </a:defRPr>
            </a:pPr>
            <a:r>
              <a:rPr sz="1275" b="1">
                <a:solidFill>
                  <a:srgbClr val="075D50"/>
                </a:solidFill>
              </a:rPr>
              <a:t>PF-2026-0042</a:t>
            </a:r>
          </a:p>
        </p:txBody>
      </p:sp>
      <p:sp>
        <p:nvSpPr>
          <p:cNvPr id="6" name="">
            <a:extLst xmlns:a="http://schemas.openxmlformats.org/drawingml/2006/main">
              <a:ext uri="{FF2B5EF4-FFF2-40B4-BE49-F238E27FC236}">
                <a16:creationId xmlns:a16="http://schemas.microsoft.com/office/drawing/2014/main" id="{3E1DD1C9-8BDF-4CFF-8477-7071405C8E41}"/>
              </a:ext>
            </a:extLst>
          </p:cNvPr>
          <p:cNvSpPr>
            <a:spLocks xmlns:a="http://schemas.openxmlformats.org/drawingml/2006/main" noGrp="1"/>
          </p:cNvSpPr>
          <p:nvPr/>
        </p:nvSpPr>
        <p:spPr>
          <a:xfrm xmlns:a="http://schemas.openxmlformats.org/drawingml/2006/main">
            <a:off x="2762250" y="2667000"/>
            <a:ext cx="571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75" b="1">
                <a:solidFill>
                  <a:srgbClr val="111817"/>
                </a:solidFill>
              </a:defRPr>
            </a:pPr>
            <a:r>
              <a:rPr sz="2775" b="1">
                <a:solidFill>
                  <a:srgbClr val="111817"/>
                </a:solidFill>
              </a:rPr>
              <a:t>Your pro-forma is ready</a:t>
            </a:r>
          </a:p>
        </p:txBody>
      </p:sp>
      <p:sp>
        <p:nvSpPr>
          <p:cNvPr id="7" name="">
            <a:extLst xmlns:a="http://schemas.openxmlformats.org/drawingml/2006/main">
              <a:ext uri="{FF2B5EF4-FFF2-40B4-BE49-F238E27FC236}">
                <a16:creationId xmlns:a16="http://schemas.microsoft.com/office/drawing/2014/main" id="{36EDE790-8021-4840-B0A2-A694CA11C5B4}"/>
              </a:ext>
            </a:extLst>
          </p:cNvPr>
          <p:cNvSpPr>
            <a:spLocks xmlns:a="http://schemas.openxmlformats.org/drawingml/2006/main" noGrp="1"/>
          </p:cNvSpPr>
          <p:nvPr/>
        </p:nvSpPr>
        <p:spPr>
          <a:xfrm xmlns:a="http://schemas.openxmlformats.org/drawingml/2006/main">
            <a:off x="2762250" y="3257550"/>
            <a:ext cx="571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6716E"/>
                </a:solidFill>
              </a:defRPr>
            </a:pPr>
            <a:r>
              <a:rPr sz="1500" b="0">
                <a:solidFill>
                  <a:srgbClr val="66716E"/>
                </a:solidFill>
              </a:rPr>
              <a:t>Valley Market · Valid through Aug 21 · $486.38</a:t>
            </a:r>
          </a:p>
        </p:txBody>
      </p:sp>
      <p:sp>
        <p:nvSpPr>
          <p:cNvPr id="8" name="">
            <a:extLst xmlns:a="http://schemas.openxmlformats.org/drawingml/2006/main">
              <a:ext uri="{FF2B5EF4-FFF2-40B4-BE49-F238E27FC236}">
                <a16:creationId xmlns:a16="http://schemas.microsoft.com/office/drawing/2014/main" id="{9BA4D0B9-B39E-40C1-AD9C-DDEA32A33DA4}"/>
              </a:ext>
            </a:extLst>
          </p:cNvPr>
          <p:cNvSpPr>
            <a:spLocks xmlns:a="http://schemas.openxmlformats.org/drawingml/2006/main" noGrp="1"/>
          </p:cNvSpPr>
          <p:nvPr/>
        </p:nvSpPr>
        <p:spPr>
          <a:xfrm xmlns:a="http://schemas.openxmlformats.org/drawingml/2006/main">
            <a:off x="2762250" y="4000500"/>
            <a:ext cx="2000250" cy="53340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DDCD5"/>
            </a:solidFill>
            <a:prstDash val="solid"/>
          </a:ln>
        </p:spPr>
      </p:sp>
      <p:sp>
        <p:nvSpPr>
          <p:cNvPr id="9" name="">
            <a:extLst xmlns:a="http://schemas.openxmlformats.org/drawingml/2006/main">
              <a:ext uri="{FF2B5EF4-FFF2-40B4-BE49-F238E27FC236}">
                <a16:creationId xmlns:a16="http://schemas.microsoft.com/office/drawing/2014/main" id="{56876DCA-0DC6-4958-BFE0-9E65C5C7259D}"/>
              </a:ext>
            </a:extLst>
          </p:cNvPr>
          <p:cNvSpPr>
            <a:spLocks xmlns:a="http://schemas.openxmlformats.org/drawingml/2006/main" noGrp="1"/>
          </p:cNvSpPr>
          <p:nvPr/>
        </p:nvSpPr>
        <p:spPr>
          <a:xfrm xmlns:a="http://schemas.openxmlformats.org/drawingml/2006/main">
            <a:off x="2952750" y="41529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111817"/>
                </a:solidFill>
              </a:defRPr>
            </a:pPr>
            <a:r>
              <a:rPr sz="1350" b="1">
                <a:solidFill>
                  <a:srgbClr val="111817"/>
                </a:solidFill>
              </a:rPr>
              <a:t>Request changes</a:t>
            </a:r>
          </a:p>
        </p:txBody>
      </p:sp>
      <p:sp>
        <p:nvSpPr>
          <p:cNvPr id="10" name="">
            <a:extLst xmlns:a="http://schemas.openxmlformats.org/drawingml/2006/main">
              <a:ext uri="{FF2B5EF4-FFF2-40B4-BE49-F238E27FC236}">
                <a16:creationId xmlns:a16="http://schemas.microsoft.com/office/drawing/2014/main" id="{0C42200A-6125-427A-A692-9ACE2EE75797}"/>
              </a:ext>
            </a:extLst>
          </p:cNvPr>
          <p:cNvSpPr>
            <a:spLocks xmlns:a="http://schemas.openxmlformats.org/drawingml/2006/main" noGrp="1"/>
          </p:cNvSpPr>
          <p:nvPr/>
        </p:nvSpPr>
        <p:spPr>
          <a:xfrm xmlns:a="http://schemas.openxmlformats.org/drawingml/2006/main">
            <a:off x="4953000" y="4000500"/>
            <a:ext cx="2476500" cy="533400"/>
          </a:xfrm>
          <a:prstGeom xmlns:a="http://schemas.openxmlformats.org/drawingml/2006/main" prst="roundRect">
            <a:avLst>
              <a:gd name="adj" fmla="val 14286"/>
            </a:avLst>
          </a:prstGeom>
          <a:solidFill xmlns:a="http://schemas.openxmlformats.org/drawingml/2006/main">
            <a:srgbClr val="E66A00"/>
          </a:solidFill>
          <a:ln xmlns:a="http://schemas.openxmlformats.org/drawingml/2006/main" w="9525">
            <a:solidFill>
              <a:srgbClr val="E66A00"/>
            </a:solidFill>
            <a:prstDash val="solid"/>
          </a:ln>
        </p:spPr>
      </p:sp>
      <p:sp>
        <p:nvSpPr>
          <p:cNvPr id="11" name="">
            <a:extLst xmlns:a="http://schemas.openxmlformats.org/drawingml/2006/main">
              <a:ext uri="{FF2B5EF4-FFF2-40B4-BE49-F238E27FC236}">
                <a16:creationId xmlns:a16="http://schemas.microsoft.com/office/drawing/2014/main" id="{9AEF9EE2-8A5C-4746-8B4B-57679E2681E9}"/>
              </a:ext>
            </a:extLst>
          </p:cNvPr>
          <p:cNvSpPr>
            <a:spLocks xmlns:a="http://schemas.openxmlformats.org/drawingml/2006/main" noGrp="1"/>
          </p:cNvSpPr>
          <p:nvPr/>
        </p:nvSpPr>
        <p:spPr>
          <a:xfrm xmlns:a="http://schemas.openxmlformats.org/drawingml/2006/main">
            <a:off x="5191125" y="4152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Approve pro-forma</a:t>
            </a:r>
          </a:p>
        </p:txBody>
      </p:sp>
      <p:sp>
        <p:nvSpPr>
          <p:cNvPr id="12" name="">
            <a:extLst xmlns:a="http://schemas.openxmlformats.org/drawingml/2006/main">
              <a:ext uri="{FF2B5EF4-FFF2-40B4-BE49-F238E27FC236}">
                <a16:creationId xmlns:a16="http://schemas.microsoft.com/office/drawing/2014/main" id="{5C05D481-4779-4C03-9C05-989C8F16D465}"/>
              </a:ext>
            </a:extLst>
          </p:cNvPr>
          <p:cNvSpPr>
            <a:spLocks xmlns:a="http://schemas.openxmlformats.org/drawingml/2006/main" noGrp="1"/>
          </p:cNvSpPr>
          <p:nvPr/>
        </p:nvSpPr>
        <p:spPr>
          <a:xfrm xmlns:a="http://schemas.openxmlformats.org/drawingml/2006/main">
            <a:off x="2762250" y="4810125"/>
            <a:ext cx="619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66716E"/>
                </a:solidFill>
              </a:defRPr>
            </a:pPr>
            <a:r>
              <a:rPr sz="1350" b="0">
                <a:solidFill>
                  <a:srgbClr val="66716E"/>
                </a:solidFill>
              </a:rPr>
              <a:t>Offline approval can also be recorded by sales, preserving the same status history.</a:t>
            </a:r>
          </a:p>
        </p:txBody>
      </p:sp>
      <p:sp>
        <p:nvSpPr>
          <p:cNvPr id="13" name="">
            <a:extLst xmlns:a="http://schemas.openxmlformats.org/drawingml/2006/main">
              <a:ext uri="{FF2B5EF4-FFF2-40B4-BE49-F238E27FC236}">
                <a16:creationId xmlns:a16="http://schemas.microsoft.com/office/drawing/2014/main" id="{C2398845-456E-473A-AAFC-8B3D4D398EEA}"/>
              </a:ext>
            </a:extLst>
          </p:cNvPr>
          <p:cNvSpPr>
            <a:spLocks xmlns:a="http://schemas.openxmlformats.org/drawingml/2006/main" noGrp="1"/>
          </p:cNvSpPr>
          <p:nvPr/>
        </p:nvSpPr>
        <p:spPr>
          <a:xfrm xmlns:a="http://schemas.openxmlformats.org/drawingml/2006/main">
            <a:off x="6858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14" name="">
            <a:extLst xmlns:a="http://schemas.openxmlformats.org/drawingml/2006/main">
              <a:ext uri="{FF2B5EF4-FFF2-40B4-BE49-F238E27FC236}">
                <a16:creationId xmlns:a16="http://schemas.microsoft.com/office/drawing/2014/main" id="{16B47DBA-4D83-4441-A9C6-7183DACA848D}"/>
              </a:ext>
            </a:extLst>
          </p:cNvPr>
          <p:cNvSpPr>
            <a:spLocks xmlns:a="http://schemas.openxmlformats.org/drawingml/2006/main" noGrp="1"/>
          </p:cNvSpPr>
          <p:nvPr/>
        </p:nvSpPr>
        <p:spPr>
          <a:xfrm xmlns:a="http://schemas.openxmlformats.org/drawingml/2006/main">
            <a:off x="10096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ACCESS</a:t>
            </a:r>
          </a:p>
        </p:txBody>
      </p:sp>
      <p:sp>
        <p:nvSpPr>
          <p:cNvPr id="15" name="">
            <a:extLst xmlns:a="http://schemas.openxmlformats.org/drawingml/2006/main">
              <a:ext uri="{FF2B5EF4-FFF2-40B4-BE49-F238E27FC236}">
                <a16:creationId xmlns:a16="http://schemas.microsoft.com/office/drawing/2014/main" id="{53B934E3-6936-453D-8C93-1A8A24502DBC}"/>
              </a:ext>
            </a:extLst>
          </p:cNvPr>
          <p:cNvSpPr>
            <a:spLocks xmlns:a="http://schemas.openxmlformats.org/drawingml/2006/main" noGrp="1"/>
          </p:cNvSpPr>
          <p:nvPr/>
        </p:nvSpPr>
        <p:spPr>
          <a:xfrm xmlns:a="http://schemas.openxmlformats.org/drawingml/2006/main">
            <a:off x="95250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16" name="">
            <a:extLst xmlns:a="http://schemas.openxmlformats.org/drawingml/2006/main">
              <a:ext uri="{FF2B5EF4-FFF2-40B4-BE49-F238E27FC236}">
                <a16:creationId xmlns:a16="http://schemas.microsoft.com/office/drawing/2014/main" id="{3D13AC55-E3B3-46B9-A12E-EC921A030B1D}"/>
              </a:ext>
            </a:extLst>
          </p:cNvPr>
          <p:cNvSpPr>
            <a:spLocks xmlns:a="http://schemas.openxmlformats.org/drawingml/2006/main" noGrp="1"/>
          </p:cNvSpPr>
          <p:nvPr/>
        </p:nvSpPr>
        <p:spPr>
          <a:xfrm xmlns:a="http://schemas.openxmlformats.org/drawingml/2006/main">
            <a:off x="219075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17" name="">
            <a:extLst xmlns:a="http://schemas.openxmlformats.org/drawingml/2006/main">
              <a:ext uri="{FF2B5EF4-FFF2-40B4-BE49-F238E27FC236}">
                <a16:creationId xmlns:a16="http://schemas.microsoft.com/office/drawing/2014/main" id="{6B5F95CB-89DB-431E-A45C-A33E3E54FED9}"/>
              </a:ext>
            </a:extLst>
          </p:cNvPr>
          <p:cNvSpPr>
            <a:spLocks xmlns:a="http://schemas.openxmlformats.org/drawingml/2006/main" noGrp="1"/>
          </p:cNvSpPr>
          <p:nvPr/>
        </p:nvSpPr>
        <p:spPr>
          <a:xfrm xmlns:a="http://schemas.openxmlformats.org/drawingml/2006/main">
            <a:off x="25146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REQUEST</a:t>
            </a:r>
          </a:p>
        </p:txBody>
      </p:sp>
      <p:sp>
        <p:nvSpPr>
          <p:cNvPr id="18" name="">
            <a:extLst xmlns:a="http://schemas.openxmlformats.org/drawingml/2006/main">
              <a:ext uri="{FF2B5EF4-FFF2-40B4-BE49-F238E27FC236}">
                <a16:creationId xmlns:a16="http://schemas.microsoft.com/office/drawing/2014/main" id="{84C5EF22-C560-4DC2-A69D-E757FEE37294}"/>
              </a:ext>
            </a:extLst>
          </p:cNvPr>
          <p:cNvSpPr>
            <a:spLocks xmlns:a="http://schemas.openxmlformats.org/drawingml/2006/main" noGrp="1"/>
          </p:cNvSpPr>
          <p:nvPr/>
        </p:nvSpPr>
        <p:spPr>
          <a:xfrm xmlns:a="http://schemas.openxmlformats.org/drawingml/2006/main">
            <a:off x="245745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19" name="">
            <a:extLst xmlns:a="http://schemas.openxmlformats.org/drawingml/2006/main">
              <a:ext uri="{FF2B5EF4-FFF2-40B4-BE49-F238E27FC236}">
                <a16:creationId xmlns:a16="http://schemas.microsoft.com/office/drawing/2014/main" id="{B4C4A627-73CB-400A-9323-E66BAFA70A50}"/>
              </a:ext>
            </a:extLst>
          </p:cNvPr>
          <p:cNvSpPr>
            <a:spLocks xmlns:a="http://schemas.openxmlformats.org/drawingml/2006/main" noGrp="1"/>
          </p:cNvSpPr>
          <p:nvPr/>
        </p:nvSpPr>
        <p:spPr>
          <a:xfrm xmlns:a="http://schemas.openxmlformats.org/drawingml/2006/main">
            <a:off x="36957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20" name="">
            <a:extLst xmlns:a="http://schemas.openxmlformats.org/drawingml/2006/main">
              <a:ext uri="{FF2B5EF4-FFF2-40B4-BE49-F238E27FC236}">
                <a16:creationId xmlns:a16="http://schemas.microsoft.com/office/drawing/2014/main" id="{898FC1EC-C517-4E96-BC3D-F2CFFA77901D}"/>
              </a:ext>
            </a:extLst>
          </p:cNvPr>
          <p:cNvSpPr>
            <a:spLocks xmlns:a="http://schemas.openxmlformats.org/drawingml/2006/main" noGrp="1"/>
          </p:cNvSpPr>
          <p:nvPr/>
        </p:nvSpPr>
        <p:spPr>
          <a:xfrm xmlns:a="http://schemas.openxmlformats.org/drawingml/2006/main">
            <a:off x="40195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REVIEW</a:t>
            </a:r>
          </a:p>
        </p:txBody>
      </p:sp>
      <p:sp>
        <p:nvSpPr>
          <p:cNvPr id="21" name="">
            <a:extLst xmlns:a="http://schemas.openxmlformats.org/drawingml/2006/main">
              <a:ext uri="{FF2B5EF4-FFF2-40B4-BE49-F238E27FC236}">
                <a16:creationId xmlns:a16="http://schemas.microsoft.com/office/drawing/2014/main" id="{4F2070F8-0096-47C4-997D-DB5959C1FDBA}"/>
              </a:ext>
            </a:extLst>
          </p:cNvPr>
          <p:cNvSpPr>
            <a:spLocks xmlns:a="http://schemas.openxmlformats.org/drawingml/2006/main" noGrp="1"/>
          </p:cNvSpPr>
          <p:nvPr/>
        </p:nvSpPr>
        <p:spPr>
          <a:xfrm xmlns:a="http://schemas.openxmlformats.org/drawingml/2006/main">
            <a:off x="396240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22" name="">
            <a:extLst xmlns:a="http://schemas.openxmlformats.org/drawingml/2006/main">
              <a:ext uri="{FF2B5EF4-FFF2-40B4-BE49-F238E27FC236}">
                <a16:creationId xmlns:a16="http://schemas.microsoft.com/office/drawing/2014/main" id="{E6D5669E-521B-4290-918E-C639A430465A}"/>
              </a:ext>
            </a:extLst>
          </p:cNvPr>
          <p:cNvSpPr>
            <a:spLocks xmlns:a="http://schemas.openxmlformats.org/drawingml/2006/main" noGrp="1"/>
          </p:cNvSpPr>
          <p:nvPr/>
        </p:nvSpPr>
        <p:spPr>
          <a:xfrm xmlns:a="http://schemas.openxmlformats.org/drawingml/2006/main">
            <a:off x="520065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23" name="">
            <a:extLst xmlns:a="http://schemas.openxmlformats.org/drawingml/2006/main">
              <a:ext uri="{FF2B5EF4-FFF2-40B4-BE49-F238E27FC236}">
                <a16:creationId xmlns:a16="http://schemas.microsoft.com/office/drawing/2014/main" id="{F8838579-9EC6-463C-ACC1-CE01B20E408F}"/>
              </a:ext>
            </a:extLst>
          </p:cNvPr>
          <p:cNvSpPr>
            <a:spLocks xmlns:a="http://schemas.openxmlformats.org/drawingml/2006/main" noGrp="1"/>
          </p:cNvSpPr>
          <p:nvPr/>
        </p:nvSpPr>
        <p:spPr>
          <a:xfrm xmlns:a="http://schemas.openxmlformats.org/drawingml/2006/main">
            <a:off x="55245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PRO-FORMA</a:t>
            </a:r>
          </a:p>
        </p:txBody>
      </p:sp>
      <p:sp>
        <p:nvSpPr>
          <p:cNvPr id="24" name="">
            <a:extLst xmlns:a="http://schemas.openxmlformats.org/drawingml/2006/main">
              <a:ext uri="{FF2B5EF4-FFF2-40B4-BE49-F238E27FC236}">
                <a16:creationId xmlns:a16="http://schemas.microsoft.com/office/drawing/2014/main" id="{C457BDD5-27D1-4AED-AEB1-D31D6B88F54B}"/>
              </a:ext>
            </a:extLst>
          </p:cNvPr>
          <p:cNvSpPr>
            <a:spLocks xmlns:a="http://schemas.openxmlformats.org/drawingml/2006/main" noGrp="1"/>
          </p:cNvSpPr>
          <p:nvPr/>
        </p:nvSpPr>
        <p:spPr>
          <a:xfrm xmlns:a="http://schemas.openxmlformats.org/drawingml/2006/main">
            <a:off x="546735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25" name="">
            <a:extLst xmlns:a="http://schemas.openxmlformats.org/drawingml/2006/main">
              <a:ext uri="{FF2B5EF4-FFF2-40B4-BE49-F238E27FC236}">
                <a16:creationId xmlns:a16="http://schemas.microsoft.com/office/drawing/2014/main" id="{FA44EF52-6CA8-4401-9725-152D8BDF9F2C}"/>
              </a:ext>
            </a:extLst>
          </p:cNvPr>
          <p:cNvSpPr>
            <a:spLocks xmlns:a="http://schemas.openxmlformats.org/drawingml/2006/main" noGrp="1"/>
          </p:cNvSpPr>
          <p:nvPr/>
        </p:nvSpPr>
        <p:spPr>
          <a:xfrm xmlns:a="http://schemas.openxmlformats.org/drawingml/2006/main">
            <a:off x="67056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5</a:t>
            </a:r>
          </a:p>
        </p:txBody>
      </p:sp>
      <p:sp>
        <p:nvSpPr>
          <p:cNvPr id="26" name="">
            <a:extLst xmlns:a="http://schemas.openxmlformats.org/drawingml/2006/main">
              <a:ext uri="{FF2B5EF4-FFF2-40B4-BE49-F238E27FC236}">
                <a16:creationId xmlns:a16="http://schemas.microsoft.com/office/drawing/2014/main" id="{1B1C4CDA-DDC1-4C69-82E7-80113948AB58}"/>
              </a:ext>
            </a:extLst>
          </p:cNvPr>
          <p:cNvSpPr>
            <a:spLocks xmlns:a="http://schemas.openxmlformats.org/drawingml/2006/main" noGrp="1"/>
          </p:cNvSpPr>
          <p:nvPr/>
        </p:nvSpPr>
        <p:spPr>
          <a:xfrm xmlns:a="http://schemas.openxmlformats.org/drawingml/2006/main">
            <a:off x="70294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075D50"/>
                </a:solidFill>
              </a:defRPr>
            </a:pPr>
            <a:r>
              <a:rPr sz="825" b="1">
                <a:solidFill>
                  <a:srgbClr val="075D50"/>
                </a:solidFill>
              </a:rPr>
              <a:t>APPROVAL</a:t>
            </a:r>
          </a:p>
        </p:txBody>
      </p:sp>
      <p:sp>
        <p:nvSpPr>
          <p:cNvPr id="27" name="">
            <a:extLst xmlns:a="http://schemas.openxmlformats.org/drawingml/2006/main">
              <a:ext uri="{FF2B5EF4-FFF2-40B4-BE49-F238E27FC236}">
                <a16:creationId xmlns:a16="http://schemas.microsoft.com/office/drawing/2014/main" id="{7661206A-A9AA-4585-B0C9-0AD44627F0A5}"/>
              </a:ext>
            </a:extLst>
          </p:cNvPr>
          <p:cNvSpPr>
            <a:spLocks xmlns:a="http://schemas.openxmlformats.org/drawingml/2006/main" noGrp="1"/>
          </p:cNvSpPr>
          <p:nvPr/>
        </p:nvSpPr>
        <p:spPr>
          <a:xfrm xmlns:a="http://schemas.openxmlformats.org/drawingml/2006/main">
            <a:off x="697230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28" name="">
            <a:extLst xmlns:a="http://schemas.openxmlformats.org/drawingml/2006/main">
              <a:ext uri="{FF2B5EF4-FFF2-40B4-BE49-F238E27FC236}">
                <a16:creationId xmlns:a16="http://schemas.microsoft.com/office/drawing/2014/main" id="{243E31EA-9343-4688-B676-DE321EA3FCCC}"/>
              </a:ext>
            </a:extLst>
          </p:cNvPr>
          <p:cNvSpPr>
            <a:spLocks xmlns:a="http://schemas.openxmlformats.org/drawingml/2006/main" noGrp="1"/>
          </p:cNvSpPr>
          <p:nvPr/>
        </p:nvSpPr>
        <p:spPr>
          <a:xfrm xmlns:a="http://schemas.openxmlformats.org/drawingml/2006/main">
            <a:off x="821055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6</a:t>
            </a:r>
          </a:p>
        </p:txBody>
      </p:sp>
      <p:sp>
        <p:nvSpPr>
          <p:cNvPr id="29" name="">
            <a:extLst xmlns:a="http://schemas.openxmlformats.org/drawingml/2006/main">
              <a:ext uri="{FF2B5EF4-FFF2-40B4-BE49-F238E27FC236}">
                <a16:creationId xmlns:a16="http://schemas.microsoft.com/office/drawing/2014/main" id="{493DF658-E798-4392-A5C5-9911FB5B39E7}"/>
              </a:ext>
            </a:extLst>
          </p:cNvPr>
          <p:cNvSpPr>
            <a:spLocks xmlns:a="http://schemas.openxmlformats.org/drawingml/2006/main" noGrp="1"/>
          </p:cNvSpPr>
          <p:nvPr/>
        </p:nvSpPr>
        <p:spPr>
          <a:xfrm xmlns:a="http://schemas.openxmlformats.org/drawingml/2006/main">
            <a:off x="85344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DISPATCH</a:t>
            </a:r>
          </a:p>
        </p:txBody>
      </p:sp>
      <p:sp>
        <p:nvSpPr>
          <p:cNvPr id="30" name="">
            <a:extLst xmlns:a="http://schemas.openxmlformats.org/drawingml/2006/main">
              <a:ext uri="{FF2B5EF4-FFF2-40B4-BE49-F238E27FC236}">
                <a16:creationId xmlns:a16="http://schemas.microsoft.com/office/drawing/2014/main" id="{DA1C9D38-CE71-447F-B3E0-088AF982212C}"/>
              </a:ext>
            </a:extLst>
          </p:cNvPr>
          <p:cNvSpPr>
            <a:spLocks xmlns:a="http://schemas.openxmlformats.org/drawingml/2006/main" noGrp="1"/>
          </p:cNvSpPr>
          <p:nvPr/>
        </p:nvSpPr>
        <p:spPr>
          <a:xfrm xmlns:a="http://schemas.openxmlformats.org/drawingml/2006/main">
            <a:off x="847725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31" name="">
            <a:extLst xmlns:a="http://schemas.openxmlformats.org/drawingml/2006/main">
              <a:ext uri="{FF2B5EF4-FFF2-40B4-BE49-F238E27FC236}">
                <a16:creationId xmlns:a16="http://schemas.microsoft.com/office/drawing/2014/main" id="{B17C85D9-87D3-40E4-A32C-2E0631F1B71F}"/>
              </a:ext>
            </a:extLst>
          </p:cNvPr>
          <p:cNvSpPr>
            <a:spLocks xmlns:a="http://schemas.openxmlformats.org/drawingml/2006/main" noGrp="1"/>
          </p:cNvSpPr>
          <p:nvPr/>
        </p:nvSpPr>
        <p:spPr>
          <a:xfrm xmlns:a="http://schemas.openxmlformats.org/drawingml/2006/main">
            <a:off x="971550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7</a:t>
            </a:r>
          </a:p>
        </p:txBody>
      </p:sp>
      <p:sp>
        <p:nvSpPr>
          <p:cNvPr id="32" name="">
            <a:extLst xmlns:a="http://schemas.openxmlformats.org/drawingml/2006/main">
              <a:ext uri="{FF2B5EF4-FFF2-40B4-BE49-F238E27FC236}">
                <a16:creationId xmlns:a16="http://schemas.microsoft.com/office/drawing/2014/main" id="{8C2E6CC2-D0E0-456A-A674-7F01A5EF937B}"/>
              </a:ext>
            </a:extLst>
          </p:cNvPr>
          <p:cNvSpPr>
            <a:spLocks xmlns:a="http://schemas.openxmlformats.org/drawingml/2006/main" noGrp="1"/>
          </p:cNvSpPr>
          <p:nvPr/>
        </p:nvSpPr>
        <p:spPr>
          <a:xfrm xmlns:a="http://schemas.openxmlformats.org/drawingml/2006/main">
            <a:off x="100393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INVOICE</a:t>
            </a:r>
          </a:p>
        </p:txBody>
      </p:sp>
      <p:sp>
        <p:nvSpPr>
          <p:cNvPr id="33" name="">
            <a:extLst xmlns:a="http://schemas.openxmlformats.org/drawingml/2006/main">
              <a:ext uri="{FF2B5EF4-FFF2-40B4-BE49-F238E27FC236}">
                <a16:creationId xmlns:a16="http://schemas.microsoft.com/office/drawing/2014/main" id="{0E83292C-8F6D-4695-A321-CB5450001ABD}"/>
              </a:ext>
            </a:extLst>
          </p:cNvPr>
          <p:cNvSpPr>
            <a:spLocks xmlns:a="http://schemas.openxmlformats.org/drawingml/2006/main" noGrp="1"/>
          </p:cNvSpPr>
          <p:nvPr/>
        </p:nvSpPr>
        <p:spPr>
          <a:xfrm xmlns:a="http://schemas.openxmlformats.org/drawingml/2006/main">
            <a:off x="685800" y="6477000"/>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6716E"/>
                </a:solidFill>
              </a:defRPr>
            </a:pPr>
            <a:r>
              <a:rPr sz="825" b="1">
                <a:solidFill>
                  <a:srgbClr val="66716E"/>
                </a:solidFill>
              </a:rPr>
              <a:t>ORDER DESK  ·  OMNIORDER MVP</a:t>
            </a:r>
          </a:p>
        </p:txBody>
      </p:sp>
      <p:sp>
        <p:nvSpPr>
          <p:cNvPr id="34" name="">
            <a:extLst xmlns:a="http://schemas.openxmlformats.org/drawingml/2006/main">
              <a:ext uri="{FF2B5EF4-FFF2-40B4-BE49-F238E27FC236}">
                <a16:creationId xmlns:a16="http://schemas.microsoft.com/office/drawing/2014/main" id="{0425F614-2F37-4FBD-9DC2-81546C093203}"/>
              </a:ext>
            </a:extLst>
          </p:cNvPr>
          <p:cNvSpPr>
            <a:spLocks xmlns:a="http://schemas.openxmlformats.org/drawingml/2006/main" noGrp="1"/>
          </p:cNvSpPr>
          <p:nvPr/>
        </p:nvSpPr>
        <p:spPr>
          <a:xfrm xmlns:a="http://schemas.openxmlformats.org/drawingml/2006/main">
            <a:off x="11049000" y="64770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6716E"/>
                </a:solidFill>
              </a:defRPr>
            </a:pPr>
            <a:r>
              <a:rPr sz="825" b="1">
                <a:solidFill>
                  <a:srgbClr val="66716E"/>
                </a:solidFill>
              </a:rPr>
              <a:t>07</a:t>
            </a:r>
          </a:p>
        </p:txBody>
      </p:sp>
    </p:spTree>
    <p:extLst>
      <p:ext uri="{BB962C8B-B14F-4D97-AF65-F5344CB8AC3E}">
        <p14:creationId xmlns:p14="http://schemas.microsoft.com/office/powerpoint/2010/main" val="1276314473"/>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04BEF160-277D-4E11-AE87-5B19DF770254}"/>
              </a:ext>
            </a:extLst>
          </p:cNvPr>
          <p:cNvSpPr>
            <a:spLocks xmlns:a="http://schemas.openxmlformats.org/drawingml/2006/main" noGrp="1"/>
          </p:cNvSpPr>
          <p:nvPr/>
        </p:nvSpPr>
        <p:spPr>
          <a:xfrm xmlns:a="http://schemas.openxmlformats.org/drawingml/2006/main">
            <a:off x="857250" y="4572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75D50"/>
                </a:solidFill>
              </a:defRPr>
            </a:pPr>
            <a:r>
              <a:rPr sz="975" b="1">
                <a:solidFill>
                  <a:srgbClr val="075D50"/>
                </a:solidFill>
              </a:rPr>
              <a:t>STEP 6 · DISTRIBUTION</a:t>
            </a:r>
          </a:p>
        </p:txBody>
      </p:sp>
      <p:sp>
        <p:nvSpPr>
          <p:cNvPr id="2" name="">
            <a:extLst xmlns:a="http://schemas.openxmlformats.org/drawingml/2006/main">
              <a:ext uri="{FF2B5EF4-FFF2-40B4-BE49-F238E27FC236}">
                <a16:creationId xmlns:a16="http://schemas.microsoft.com/office/drawing/2014/main" id="{6CB17B97-8972-4DDF-A4F4-6EA346842BA4}"/>
              </a:ext>
            </a:extLst>
          </p:cNvPr>
          <p:cNvSpPr>
            <a:spLocks xmlns:a="http://schemas.openxmlformats.org/drawingml/2006/main" noGrp="1"/>
          </p:cNvSpPr>
          <p:nvPr/>
        </p:nvSpPr>
        <p:spPr>
          <a:xfrm xmlns:a="http://schemas.openxmlformats.org/drawingml/2006/main">
            <a:off x="857250" y="781050"/>
            <a:ext cx="10648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817"/>
                </a:solidFill>
              </a:defRPr>
            </a:pPr>
            <a:r>
              <a:rPr sz="2850" b="1">
                <a:solidFill>
                  <a:srgbClr val="111817"/>
                </a:solidFill>
              </a:rPr>
              <a:t>Only approved work moves to fulfillment</a:t>
            </a:r>
          </a:p>
        </p:txBody>
      </p:sp>
      <p:sp>
        <p:nvSpPr>
          <p:cNvPr id="3" name="">
            <a:extLst xmlns:a="http://schemas.openxmlformats.org/drawingml/2006/main">
              <a:ext uri="{FF2B5EF4-FFF2-40B4-BE49-F238E27FC236}">
                <a16:creationId xmlns:a16="http://schemas.microsoft.com/office/drawing/2014/main" id="{B076EB1C-FDA6-4551-A02A-AE8F79EAE76A}"/>
              </a:ext>
            </a:extLst>
          </p:cNvPr>
          <p:cNvSpPr>
            <a:spLocks xmlns:a="http://schemas.openxmlformats.org/drawingml/2006/main" noGrp="1"/>
          </p:cNvSpPr>
          <p:nvPr/>
        </p:nvSpPr>
        <p:spPr>
          <a:xfrm xmlns:a="http://schemas.openxmlformats.org/drawingml/2006/main">
            <a:off x="857250" y="1428750"/>
            <a:ext cx="982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6716E"/>
                </a:solidFill>
              </a:defRPr>
            </a:pPr>
            <a:r>
              <a:rPr sz="1425" b="0">
                <a:solidFill>
                  <a:srgbClr val="66716E"/>
                </a:solidFill>
              </a:rPr>
              <a:t>Distribution sees agreed quantities and terms, then records dispatch when products leave the warehouse.</a:t>
            </a:r>
          </a:p>
        </p:txBody>
      </p:sp>
      <p:sp>
        <p:nvSpPr>
          <p:cNvPr id="4" name="">
            <a:extLst xmlns:a="http://schemas.openxmlformats.org/drawingml/2006/main">
              <a:ext uri="{FF2B5EF4-FFF2-40B4-BE49-F238E27FC236}">
                <a16:creationId xmlns:a16="http://schemas.microsoft.com/office/drawing/2014/main" id="{2C9E58B0-A9C2-47B3-A289-6B086EC2BD5F}"/>
              </a:ext>
            </a:extLst>
          </p:cNvPr>
          <p:cNvSpPr>
            <a:spLocks xmlns:a="http://schemas.openxmlformats.org/drawingml/2006/main" noGrp="1"/>
          </p:cNvSpPr>
          <p:nvPr/>
        </p:nvSpPr>
        <p:spPr>
          <a:xfrm xmlns:a="http://schemas.openxmlformats.org/drawingml/2006/main">
            <a:off x="1685925" y="3362325"/>
            <a:ext cx="2124075" cy="0"/>
          </a:xfrm>
          <a:prstGeom xmlns:a="http://schemas.openxmlformats.org/drawingml/2006/main" prst="line">
            <a:avLst/>
          </a:prstGeom>
          <a:noFill xmlns:a="http://schemas.openxmlformats.org/drawingml/2006/main"/>
          <a:ln xmlns:a="http://schemas.openxmlformats.org/drawingml/2006/main" w="47625">
            <a:solidFill>
              <a:srgbClr val="075D50"/>
            </a:solidFill>
            <a:prstDash val="solid"/>
          </a:ln>
        </p:spPr>
      </p:sp>
      <p:sp>
        <p:nvSpPr>
          <p:cNvPr id="5" name="">
            <a:extLst xmlns:a="http://schemas.openxmlformats.org/drawingml/2006/main">
              <a:ext uri="{FF2B5EF4-FFF2-40B4-BE49-F238E27FC236}">
                <a16:creationId xmlns:a16="http://schemas.microsoft.com/office/drawing/2014/main" id="{19F70AB3-030A-4EDE-A0BA-778902460417}"/>
              </a:ext>
            </a:extLst>
          </p:cNvPr>
          <p:cNvSpPr>
            <a:spLocks xmlns:a="http://schemas.openxmlformats.org/drawingml/2006/main" noGrp="1"/>
          </p:cNvSpPr>
          <p:nvPr/>
        </p:nvSpPr>
        <p:spPr>
          <a:xfrm xmlns:a="http://schemas.openxmlformats.org/drawingml/2006/main">
            <a:off x="1095375" y="3048000"/>
            <a:ext cx="628650" cy="62865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a:t>
            </a:r>
          </a:p>
        </p:txBody>
      </p:sp>
      <p:sp>
        <p:nvSpPr>
          <p:cNvPr id="6" name="">
            <a:extLst xmlns:a="http://schemas.openxmlformats.org/drawingml/2006/main">
              <a:ext uri="{FF2B5EF4-FFF2-40B4-BE49-F238E27FC236}">
                <a16:creationId xmlns:a16="http://schemas.microsoft.com/office/drawing/2014/main" id="{F3733A2B-B86A-43B5-955E-CEFD3467C713}"/>
              </a:ext>
            </a:extLst>
          </p:cNvPr>
          <p:cNvSpPr>
            <a:spLocks xmlns:a="http://schemas.openxmlformats.org/drawingml/2006/main" noGrp="1"/>
          </p:cNvSpPr>
          <p:nvPr/>
        </p:nvSpPr>
        <p:spPr>
          <a:xfrm xmlns:a="http://schemas.openxmlformats.org/drawingml/2006/main">
            <a:off x="809625" y="38481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11817"/>
                </a:solidFill>
              </a:defRPr>
            </a:pPr>
            <a:r>
              <a:rPr sz="1425" b="1">
                <a:solidFill>
                  <a:srgbClr val="111817"/>
                </a:solidFill>
              </a:rPr>
              <a:t>Approved</a:t>
            </a:r>
          </a:p>
        </p:txBody>
      </p:sp>
      <p:sp>
        <p:nvSpPr>
          <p:cNvPr id="7" name="">
            <a:extLst xmlns:a="http://schemas.openxmlformats.org/drawingml/2006/main">
              <a:ext uri="{FF2B5EF4-FFF2-40B4-BE49-F238E27FC236}">
                <a16:creationId xmlns:a16="http://schemas.microsoft.com/office/drawing/2014/main" id="{783AE5FD-B5C1-49E4-87A5-D0CFEC22E016}"/>
              </a:ext>
            </a:extLst>
          </p:cNvPr>
          <p:cNvSpPr>
            <a:spLocks xmlns:a="http://schemas.openxmlformats.org/drawingml/2006/main" noGrp="1"/>
          </p:cNvSpPr>
          <p:nvPr/>
        </p:nvSpPr>
        <p:spPr>
          <a:xfrm xmlns:a="http://schemas.openxmlformats.org/drawingml/2006/main">
            <a:off x="542925" y="4229100"/>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66716E"/>
                </a:solidFill>
              </a:defRPr>
            </a:pPr>
            <a:r>
              <a:rPr sz="1125" b="0">
                <a:solidFill>
                  <a:srgbClr val="66716E"/>
                </a:solidFill>
              </a:rPr>
              <a:t>Customer accepted</a:t>
            </a:r>
          </a:p>
        </p:txBody>
      </p:sp>
      <p:sp>
        <p:nvSpPr>
          <p:cNvPr id="8" name="">
            <a:extLst xmlns:a="http://schemas.openxmlformats.org/drawingml/2006/main">
              <a:ext uri="{FF2B5EF4-FFF2-40B4-BE49-F238E27FC236}">
                <a16:creationId xmlns:a16="http://schemas.microsoft.com/office/drawing/2014/main" id="{3796BFFF-6112-4A30-8617-CB898EA915E8}"/>
              </a:ext>
            </a:extLst>
          </p:cNvPr>
          <p:cNvSpPr>
            <a:spLocks xmlns:a="http://schemas.openxmlformats.org/drawingml/2006/main" noGrp="1"/>
          </p:cNvSpPr>
          <p:nvPr/>
        </p:nvSpPr>
        <p:spPr>
          <a:xfrm xmlns:a="http://schemas.openxmlformats.org/drawingml/2006/main">
            <a:off x="4400550" y="3362325"/>
            <a:ext cx="2124075" cy="0"/>
          </a:xfrm>
          <a:prstGeom xmlns:a="http://schemas.openxmlformats.org/drawingml/2006/main" prst="line">
            <a:avLst/>
          </a:prstGeom>
          <a:noFill xmlns:a="http://schemas.openxmlformats.org/drawingml/2006/main"/>
          <a:ln xmlns:a="http://schemas.openxmlformats.org/drawingml/2006/main" w="47625">
            <a:solidFill>
              <a:srgbClr val="075D50"/>
            </a:solidFill>
            <a:prstDash val="solid"/>
          </a:ln>
        </p:spPr>
      </p:sp>
      <p:sp>
        <p:nvSpPr>
          <p:cNvPr id="9" name="">
            <a:extLst xmlns:a="http://schemas.openxmlformats.org/drawingml/2006/main">
              <a:ext uri="{FF2B5EF4-FFF2-40B4-BE49-F238E27FC236}">
                <a16:creationId xmlns:a16="http://schemas.microsoft.com/office/drawing/2014/main" id="{80ACA49E-9B4D-4E44-B8D3-13895CC9CACD}"/>
              </a:ext>
            </a:extLst>
          </p:cNvPr>
          <p:cNvSpPr>
            <a:spLocks xmlns:a="http://schemas.openxmlformats.org/drawingml/2006/main" noGrp="1"/>
          </p:cNvSpPr>
          <p:nvPr/>
        </p:nvSpPr>
        <p:spPr>
          <a:xfrm xmlns:a="http://schemas.openxmlformats.org/drawingml/2006/main">
            <a:off x="3810000" y="3048000"/>
            <a:ext cx="628650" cy="62865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a:t>
            </a:r>
          </a:p>
        </p:txBody>
      </p:sp>
      <p:sp>
        <p:nvSpPr>
          <p:cNvPr id="10" name="">
            <a:extLst xmlns:a="http://schemas.openxmlformats.org/drawingml/2006/main">
              <a:ext uri="{FF2B5EF4-FFF2-40B4-BE49-F238E27FC236}">
                <a16:creationId xmlns:a16="http://schemas.microsoft.com/office/drawing/2014/main" id="{B87FA539-93CD-4C09-88D9-9E229ECDBC31}"/>
              </a:ext>
            </a:extLst>
          </p:cNvPr>
          <p:cNvSpPr>
            <a:spLocks xmlns:a="http://schemas.openxmlformats.org/drawingml/2006/main" noGrp="1"/>
          </p:cNvSpPr>
          <p:nvPr/>
        </p:nvSpPr>
        <p:spPr>
          <a:xfrm xmlns:a="http://schemas.openxmlformats.org/drawingml/2006/main">
            <a:off x="3524250" y="38481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11817"/>
                </a:solidFill>
              </a:defRPr>
            </a:pPr>
            <a:r>
              <a:rPr sz="1425" b="1">
                <a:solidFill>
                  <a:srgbClr val="111817"/>
                </a:solidFill>
              </a:rPr>
              <a:t>Ready to pick</a:t>
            </a:r>
          </a:p>
        </p:txBody>
      </p:sp>
      <p:sp>
        <p:nvSpPr>
          <p:cNvPr id="11" name="">
            <a:extLst xmlns:a="http://schemas.openxmlformats.org/drawingml/2006/main">
              <a:ext uri="{FF2B5EF4-FFF2-40B4-BE49-F238E27FC236}">
                <a16:creationId xmlns:a16="http://schemas.microsoft.com/office/drawing/2014/main" id="{F2D393B6-7F0B-4A29-838E-6FDC58C3BA3D}"/>
              </a:ext>
            </a:extLst>
          </p:cNvPr>
          <p:cNvSpPr>
            <a:spLocks xmlns:a="http://schemas.openxmlformats.org/drawingml/2006/main" noGrp="1"/>
          </p:cNvSpPr>
          <p:nvPr/>
        </p:nvSpPr>
        <p:spPr>
          <a:xfrm xmlns:a="http://schemas.openxmlformats.org/drawingml/2006/main">
            <a:off x="3257550" y="4229100"/>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66716E"/>
                </a:solidFill>
              </a:defRPr>
            </a:pPr>
            <a:r>
              <a:rPr sz="1125" b="0">
                <a:solidFill>
                  <a:srgbClr val="66716E"/>
                </a:solidFill>
              </a:rPr>
              <a:t>Queued for warehouse</a:t>
            </a:r>
          </a:p>
        </p:txBody>
      </p:sp>
      <p:sp>
        <p:nvSpPr>
          <p:cNvPr id="12" name="">
            <a:extLst xmlns:a="http://schemas.openxmlformats.org/drawingml/2006/main">
              <a:ext uri="{FF2B5EF4-FFF2-40B4-BE49-F238E27FC236}">
                <a16:creationId xmlns:a16="http://schemas.microsoft.com/office/drawing/2014/main" id="{F4CDC6E9-B8CA-45D4-9CC8-BE3705F7C852}"/>
              </a:ext>
            </a:extLst>
          </p:cNvPr>
          <p:cNvSpPr>
            <a:spLocks xmlns:a="http://schemas.openxmlformats.org/drawingml/2006/main" noGrp="1"/>
          </p:cNvSpPr>
          <p:nvPr/>
        </p:nvSpPr>
        <p:spPr>
          <a:xfrm xmlns:a="http://schemas.openxmlformats.org/drawingml/2006/main">
            <a:off x="7115175" y="3362325"/>
            <a:ext cx="2124075" cy="0"/>
          </a:xfrm>
          <a:prstGeom xmlns:a="http://schemas.openxmlformats.org/drawingml/2006/main" prst="line">
            <a:avLst/>
          </a:prstGeom>
          <a:noFill xmlns:a="http://schemas.openxmlformats.org/drawingml/2006/main"/>
          <a:ln xmlns:a="http://schemas.openxmlformats.org/drawingml/2006/main" w="47625">
            <a:solidFill>
              <a:srgbClr val="DDDCD5"/>
            </a:solidFill>
            <a:prstDash val="solid"/>
          </a:ln>
        </p:spPr>
      </p:sp>
      <p:sp>
        <p:nvSpPr>
          <p:cNvPr id="13" name="">
            <a:extLst xmlns:a="http://schemas.openxmlformats.org/drawingml/2006/main">
              <a:ext uri="{FF2B5EF4-FFF2-40B4-BE49-F238E27FC236}">
                <a16:creationId xmlns:a16="http://schemas.microsoft.com/office/drawing/2014/main" id="{52EC873A-425A-4BA9-9E8D-9EF9AF5604DF}"/>
              </a:ext>
            </a:extLst>
          </p:cNvPr>
          <p:cNvSpPr>
            <a:spLocks xmlns:a="http://schemas.openxmlformats.org/drawingml/2006/main" noGrp="1"/>
          </p:cNvSpPr>
          <p:nvPr/>
        </p:nvSpPr>
        <p:spPr>
          <a:xfrm xmlns:a="http://schemas.openxmlformats.org/drawingml/2006/main">
            <a:off x="6524625" y="3048000"/>
            <a:ext cx="628650" cy="62865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a:t>
            </a:r>
          </a:p>
        </p:txBody>
      </p:sp>
      <p:sp>
        <p:nvSpPr>
          <p:cNvPr id="14" name="">
            <a:extLst xmlns:a="http://schemas.openxmlformats.org/drawingml/2006/main">
              <a:ext uri="{FF2B5EF4-FFF2-40B4-BE49-F238E27FC236}">
                <a16:creationId xmlns:a16="http://schemas.microsoft.com/office/drawing/2014/main" id="{251BF726-A6FB-41B7-9003-539700E805B0}"/>
              </a:ext>
            </a:extLst>
          </p:cNvPr>
          <p:cNvSpPr>
            <a:spLocks xmlns:a="http://schemas.openxmlformats.org/drawingml/2006/main" noGrp="1"/>
          </p:cNvSpPr>
          <p:nvPr/>
        </p:nvSpPr>
        <p:spPr>
          <a:xfrm xmlns:a="http://schemas.openxmlformats.org/drawingml/2006/main">
            <a:off x="6238875" y="38481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11817"/>
                </a:solidFill>
              </a:defRPr>
            </a:pPr>
            <a:r>
              <a:rPr sz="1425" b="1">
                <a:solidFill>
                  <a:srgbClr val="111817"/>
                </a:solidFill>
              </a:rPr>
              <a:t>Picking</a:t>
            </a:r>
          </a:p>
        </p:txBody>
      </p:sp>
      <p:sp>
        <p:nvSpPr>
          <p:cNvPr id="15" name="">
            <a:extLst xmlns:a="http://schemas.openxmlformats.org/drawingml/2006/main">
              <a:ext uri="{FF2B5EF4-FFF2-40B4-BE49-F238E27FC236}">
                <a16:creationId xmlns:a16="http://schemas.microsoft.com/office/drawing/2014/main" id="{5655E8CD-6269-4DA7-AC91-71DF8D4F9175}"/>
              </a:ext>
            </a:extLst>
          </p:cNvPr>
          <p:cNvSpPr>
            <a:spLocks xmlns:a="http://schemas.openxmlformats.org/drawingml/2006/main" noGrp="1"/>
          </p:cNvSpPr>
          <p:nvPr/>
        </p:nvSpPr>
        <p:spPr>
          <a:xfrm xmlns:a="http://schemas.openxmlformats.org/drawingml/2006/main">
            <a:off x="5972175" y="4229100"/>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66716E"/>
                </a:solidFill>
              </a:defRPr>
            </a:pPr>
            <a:r>
              <a:rPr sz="1125" b="0">
                <a:solidFill>
                  <a:srgbClr val="66716E"/>
                </a:solidFill>
              </a:rPr>
              <a:t>Items checked</a:t>
            </a:r>
          </a:p>
        </p:txBody>
      </p:sp>
      <p:sp>
        <p:nvSpPr>
          <p:cNvPr id="16" name="">
            <a:extLst xmlns:a="http://schemas.openxmlformats.org/drawingml/2006/main">
              <a:ext uri="{FF2B5EF4-FFF2-40B4-BE49-F238E27FC236}">
                <a16:creationId xmlns:a16="http://schemas.microsoft.com/office/drawing/2014/main" id="{CDA0C884-8155-4A1D-A60C-B6959A37248F}"/>
              </a:ext>
            </a:extLst>
          </p:cNvPr>
          <p:cNvSpPr>
            <a:spLocks xmlns:a="http://schemas.openxmlformats.org/drawingml/2006/main" noGrp="1"/>
          </p:cNvSpPr>
          <p:nvPr/>
        </p:nvSpPr>
        <p:spPr>
          <a:xfrm xmlns:a="http://schemas.openxmlformats.org/drawingml/2006/main">
            <a:off x="9239250" y="3048000"/>
            <a:ext cx="628650" cy="628650"/>
          </a:xfrm>
          <a:prstGeom xmlns:a="http://schemas.openxmlformats.org/drawingml/2006/main" prst="ellipse">
            <a:avLst/>
          </a:prstGeom>
          <a:solidFill xmlns:a="http://schemas.openxmlformats.org/drawingml/2006/main">
            <a:srgbClr val="E66A00"/>
          </a:solidFill>
          <a:ln xmlns:a="http://schemas.openxmlformats.org/drawingml/2006/main" w="0">
            <a:solidFill>
              <a:srgbClr val="E66A00"/>
            </a:solid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FFFFFF"/>
                </a:solidFill>
              </a:defRPr>
            </a:pPr>
            <a:r>
              <a:rPr sz="1800" b="1">
                <a:solidFill>
                  <a:srgbClr val="FFFFFF"/>
                </a:solidFill>
              </a:rPr>
              <a:t>4</a:t>
            </a:r>
          </a:p>
        </p:txBody>
      </p:sp>
      <p:sp>
        <p:nvSpPr>
          <p:cNvPr id="17" name="">
            <a:extLst xmlns:a="http://schemas.openxmlformats.org/drawingml/2006/main">
              <a:ext uri="{FF2B5EF4-FFF2-40B4-BE49-F238E27FC236}">
                <a16:creationId xmlns:a16="http://schemas.microsoft.com/office/drawing/2014/main" id="{91A61C84-5077-48A8-A1DA-3D79E7F0306C}"/>
              </a:ext>
            </a:extLst>
          </p:cNvPr>
          <p:cNvSpPr>
            <a:spLocks xmlns:a="http://schemas.openxmlformats.org/drawingml/2006/main" noGrp="1"/>
          </p:cNvSpPr>
          <p:nvPr/>
        </p:nvSpPr>
        <p:spPr>
          <a:xfrm xmlns:a="http://schemas.openxmlformats.org/drawingml/2006/main">
            <a:off x="8953500" y="3848100"/>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11817"/>
                </a:solidFill>
              </a:defRPr>
            </a:pPr>
            <a:r>
              <a:rPr sz="1425" b="1">
                <a:solidFill>
                  <a:srgbClr val="111817"/>
                </a:solidFill>
              </a:rPr>
              <a:t>Dispatched</a:t>
            </a:r>
          </a:p>
        </p:txBody>
      </p:sp>
      <p:sp>
        <p:nvSpPr>
          <p:cNvPr id="18" name="">
            <a:extLst xmlns:a="http://schemas.openxmlformats.org/drawingml/2006/main">
              <a:ext uri="{FF2B5EF4-FFF2-40B4-BE49-F238E27FC236}">
                <a16:creationId xmlns:a16="http://schemas.microsoft.com/office/drawing/2014/main" id="{34DE754E-4596-4DBB-8318-0229B0510799}"/>
              </a:ext>
            </a:extLst>
          </p:cNvPr>
          <p:cNvSpPr>
            <a:spLocks xmlns:a="http://schemas.openxmlformats.org/drawingml/2006/main" noGrp="1"/>
          </p:cNvSpPr>
          <p:nvPr/>
        </p:nvSpPr>
        <p:spPr>
          <a:xfrm xmlns:a="http://schemas.openxmlformats.org/drawingml/2006/main">
            <a:off x="8686800" y="4229100"/>
            <a:ext cx="17335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0">
                <a:solidFill>
                  <a:srgbClr val="66716E"/>
                </a:solidFill>
              </a:defRPr>
            </a:pPr>
            <a:r>
              <a:rPr sz="1125" b="0">
                <a:solidFill>
                  <a:srgbClr val="66716E"/>
                </a:solidFill>
              </a:rPr>
              <a:t>Invoice trigger</a:t>
            </a:r>
          </a:p>
        </p:txBody>
      </p:sp>
      <p:sp>
        <p:nvSpPr>
          <p:cNvPr id="19" name="">
            <a:extLst xmlns:a="http://schemas.openxmlformats.org/drawingml/2006/main">
              <a:ext uri="{FF2B5EF4-FFF2-40B4-BE49-F238E27FC236}">
                <a16:creationId xmlns:a16="http://schemas.microsoft.com/office/drawing/2014/main" id="{0AD1DB74-D0C1-46A6-88A8-A90EE1B11AC7}"/>
              </a:ext>
            </a:extLst>
          </p:cNvPr>
          <p:cNvSpPr>
            <a:spLocks xmlns:a="http://schemas.openxmlformats.org/drawingml/2006/main" noGrp="1"/>
          </p:cNvSpPr>
          <p:nvPr/>
        </p:nvSpPr>
        <p:spPr>
          <a:xfrm xmlns:a="http://schemas.openxmlformats.org/drawingml/2006/main">
            <a:off x="3429000" y="5000625"/>
            <a:ext cx="5334000" cy="514350"/>
          </a:xfrm>
          <a:prstGeom xmlns:a="http://schemas.openxmlformats.org/drawingml/2006/main" prst="roundRect">
            <a:avLst>
              <a:gd name="adj" fmla="val 22222"/>
            </a:avLst>
          </a:prstGeom>
          <a:solidFill xmlns:a="http://schemas.openxmlformats.org/drawingml/2006/main">
            <a:srgbClr val="03473E"/>
          </a:solidFill>
          <a:ln xmlns:a="http://schemas.openxmlformats.org/drawingml/2006/main" w="9525">
            <a:solidFill>
              <a:srgbClr val="03473E"/>
            </a:solidFill>
            <a:prstDash val="solid"/>
          </a:ln>
        </p:spPr>
      </p:sp>
      <p:sp>
        <p:nvSpPr>
          <p:cNvPr id="20" name="">
            <a:extLst xmlns:a="http://schemas.openxmlformats.org/drawingml/2006/main">
              <a:ext uri="{FF2B5EF4-FFF2-40B4-BE49-F238E27FC236}">
                <a16:creationId xmlns:a16="http://schemas.microsoft.com/office/drawing/2014/main" id="{8D90760E-3A24-4E62-BBAC-8DA0D20F051F}"/>
              </a:ext>
            </a:extLst>
          </p:cNvPr>
          <p:cNvSpPr>
            <a:spLocks xmlns:a="http://schemas.openxmlformats.org/drawingml/2006/main" noGrp="1"/>
          </p:cNvSpPr>
          <p:nvPr/>
        </p:nvSpPr>
        <p:spPr>
          <a:xfrm xmlns:a="http://schemas.openxmlformats.org/drawingml/2006/main">
            <a:off x="3714750" y="5153025"/>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MARK PRODUCTS DISPATCHED  →  ISSUE FINAL INVOICE</a:t>
            </a:r>
          </a:p>
        </p:txBody>
      </p:sp>
      <p:sp>
        <p:nvSpPr>
          <p:cNvPr id="21" name="">
            <a:extLst xmlns:a="http://schemas.openxmlformats.org/drawingml/2006/main">
              <a:ext uri="{FF2B5EF4-FFF2-40B4-BE49-F238E27FC236}">
                <a16:creationId xmlns:a16="http://schemas.microsoft.com/office/drawing/2014/main" id="{4808624D-E279-4914-AA40-282E31F1B5B8}"/>
              </a:ext>
            </a:extLst>
          </p:cNvPr>
          <p:cNvSpPr>
            <a:spLocks xmlns:a="http://schemas.openxmlformats.org/drawingml/2006/main" noGrp="1"/>
          </p:cNvSpPr>
          <p:nvPr/>
        </p:nvSpPr>
        <p:spPr>
          <a:xfrm xmlns:a="http://schemas.openxmlformats.org/drawingml/2006/main">
            <a:off x="6858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22" name="">
            <a:extLst xmlns:a="http://schemas.openxmlformats.org/drawingml/2006/main">
              <a:ext uri="{FF2B5EF4-FFF2-40B4-BE49-F238E27FC236}">
                <a16:creationId xmlns:a16="http://schemas.microsoft.com/office/drawing/2014/main" id="{8E7C5D17-298F-4324-AF22-8A5836AD9F65}"/>
              </a:ext>
            </a:extLst>
          </p:cNvPr>
          <p:cNvSpPr>
            <a:spLocks xmlns:a="http://schemas.openxmlformats.org/drawingml/2006/main" noGrp="1"/>
          </p:cNvSpPr>
          <p:nvPr/>
        </p:nvSpPr>
        <p:spPr>
          <a:xfrm xmlns:a="http://schemas.openxmlformats.org/drawingml/2006/main">
            <a:off x="10096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ACCESS</a:t>
            </a:r>
          </a:p>
        </p:txBody>
      </p:sp>
      <p:sp>
        <p:nvSpPr>
          <p:cNvPr id="23" name="">
            <a:extLst xmlns:a="http://schemas.openxmlformats.org/drawingml/2006/main">
              <a:ext uri="{FF2B5EF4-FFF2-40B4-BE49-F238E27FC236}">
                <a16:creationId xmlns:a16="http://schemas.microsoft.com/office/drawing/2014/main" id="{B02DFC93-CC0A-4DEA-807A-60A8C82A97B2}"/>
              </a:ext>
            </a:extLst>
          </p:cNvPr>
          <p:cNvSpPr>
            <a:spLocks xmlns:a="http://schemas.openxmlformats.org/drawingml/2006/main" noGrp="1"/>
          </p:cNvSpPr>
          <p:nvPr/>
        </p:nvSpPr>
        <p:spPr>
          <a:xfrm xmlns:a="http://schemas.openxmlformats.org/drawingml/2006/main">
            <a:off x="95250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24" name="">
            <a:extLst xmlns:a="http://schemas.openxmlformats.org/drawingml/2006/main">
              <a:ext uri="{FF2B5EF4-FFF2-40B4-BE49-F238E27FC236}">
                <a16:creationId xmlns:a16="http://schemas.microsoft.com/office/drawing/2014/main" id="{00F2DF21-FDB2-4C2B-833F-EB46779994C3}"/>
              </a:ext>
            </a:extLst>
          </p:cNvPr>
          <p:cNvSpPr>
            <a:spLocks xmlns:a="http://schemas.openxmlformats.org/drawingml/2006/main" noGrp="1"/>
          </p:cNvSpPr>
          <p:nvPr/>
        </p:nvSpPr>
        <p:spPr>
          <a:xfrm xmlns:a="http://schemas.openxmlformats.org/drawingml/2006/main">
            <a:off x="219075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25" name="">
            <a:extLst xmlns:a="http://schemas.openxmlformats.org/drawingml/2006/main">
              <a:ext uri="{FF2B5EF4-FFF2-40B4-BE49-F238E27FC236}">
                <a16:creationId xmlns:a16="http://schemas.microsoft.com/office/drawing/2014/main" id="{7E8DAE90-D238-47B6-9A10-2103D08699E5}"/>
              </a:ext>
            </a:extLst>
          </p:cNvPr>
          <p:cNvSpPr>
            <a:spLocks xmlns:a="http://schemas.openxmlformats.org/drawingml/2006/main" noGrp="1"/>
          </p:cNvSpPr>
          <p:nvPr/>
        </p:nvSpPr>
        <p:spPr>
          <a:xfrm xmlns:a="http://schemas.openxmlformats.org/drawingml/2006/main">
            <a:off x="25146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REQUEST</a:t>
            </a:r>
          </a:p>
        </p:txBody>
      </p:sp>
      <p:sp>
        <p:nvSpPr>
          <p:cNvPr id="26" name="">
            <a:extLst xmlns:a="http://schemas.openxmlformats.org/drawingml/2006/main">
              <a:ext uri="{FF2B5EF4-FFF2-40B4-BE49-F238E27FC236}">
                <a16:creationId xmlns:a16="http://schemas.microsoft.com/office/drawing/2014/main" id="{C8DEB446-27B0-449E-897F-E5C8C252F666}"/>
              </a:ext>
            </a:extLst>
          </p:cNvPr>
          <p:cNvSpPr>
            <a:spLocks xmlns:a="http://schemas.openxmlformats.org/drawingml/2006/main" noGrp="1"/>
          </p:cNvSpPr>
          <p:nvPr/>
        </p:nvSpPr>
        <p:spPr>
          <a:xfrm xmlns:a="http://schemas.openxmlformats.org/drawingml/2006/main">
            <a:off x="245745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27" name="">
            <a:extLst xmlns:a="http://schemas.openxmlformats.org/drawingml/2006/main">
              <a:ext uri="{FF2B5EF4-FFF2-40B4-BE49-F238E27FC236}">
                <a16:creationId xmlns:a16="http://schemas.microsoft.com/office/drawing/2014/main" id="{8C7C800C-9FB7-4355-923A-0AFBE904D26E}"/>
              </a:ext>
            </a:extLst>
          </p:cNvPr>
          <p:cNvSpPr>
            <a:spLocks xmlns:a="http://schemas.openxmlformats.org/drawingml/2006/main" noGrp="1"/>
          </p:cNvSpPr>
          <p:nvPr/>
        </p:nvSpPr>
        <p:spPr>
          <a:xfrm xmlns:a="http://schemas.openxmlformats.org/drawingml/2006/main">
            <a:off x="36957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28" name="">
            <a:extLst xmlns:a="http://schemas.openxmlformats.org/drawingml/2006/main">
              <a:ext uri="{FF2B5EF4-FFF2-40B4-BE49-F238E27FC236}">
                <a16:creationId xmlns:a16="http://schemas.microsoft.com/office/drawing/2014/main" id="{E77137D1-F4F2-4507-ABC6-57481CDE5FD2}"/>
              </a:ext>
            </a:extLst>
          </p:cNvPr>
          <p:cNvSpPr>
            <a:spLocks xmlns:a="http://schemas.openxmlformats.org/drawingml/2006/main" noGrp="1"/>
          </p:cNvSpPr>
          <p:nvPr/>
        </p:nvSpPr>
        <p:spPr>
          <a:xfrm xmlns:a="http://schemas.openxmlformats.org/drawingml/2006/main">
            <a:off x="40195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REVIEW</a:t>
            </a:r>
          </a:p>
        </p:txBody>
      </p:sp>
      <p:sp>
        <p:nvSpPr>
          <p:cNvPr id="29" name="">
            <a:extLst xmlns:a="http://schemas.openxmlformats.org/drawingml/2006/main">
              <a:ext uri="{FF2B5EF4-FFF2-40B4-BE49-F238E27FC236}">
                <a16:creationId xmlns:a16="http://schemas.microsoft.com/office/drawing/2014/main" id="{3109285A-3B20-4E31-9ADF-8447893BF428}"/>
              </a:ext>
            </a:extLst>
          </p:cNvPr>
          <p:cNvSpPr>
            <a:spLocks xmlns:a="http://schemas.openxmlformats.org/drawingml/2006/main" noGrp="1"/>
          </p:cNvSpPr>
          <p:nvPr/>
        </p:nvSpPr>
        <p:spPr>
          <a:xfrm xmlns:a="http://schemas.openxmlformats.org/drawingml/2006/main">
            <a:off x="396240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30" name="">
            <a:extLst xmlns:a="http://schemas.openxmlformats.org/drawingml/2006/main">
              <a:ext uri="{FF2B5EF4-FFF2-40B4-BE49-F238E27FC236}">
                <a16:creationId xmlns:a16="http://schemas.microsoft.com/office/drawing/2014/main" id="{6FB653A8-459E-4C34-A458-1ABA471E93E8}"/>
              </a:ext>
            </a:extLst>
          </p:cNvPr>
          <p:cNvSpPr>
            <a:spLocks xmlns:a="http://schemas.openxmlformats.org/drawingml/2006/main" noGrp="1"/>
          </p:cNvSpPr>
          <p:nvPr/>
        </p:nvSpPr>
        <p:spPr>
          <a:xfrm xmlns:a="http://schemas.openxmlformats.org/drawingml/2006/main">
            <a:off x="520065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31" name="">
            <a:extLst xmlns:a="http://schemas.openxmlformats.org/drawingml/2006/main">
              <a:ext uri="{FF2B5EF4-FFF2-40B4-BE49-F238E27FC236}">
                <a16:creationId xmlns:a16="http://schemas.microsoft.com/office/drawing/2014/main" id="{E484E4F7-9567-440E-ACDE-0FCBF9D22005}"/>
              </a:ext>
            </a:extLst>
          </p:cNvPr>
          <p:cNvSpPr>
            <a:spLocks xmlns:a="http://schemas.openxmlformats.org/drawingml/2006/main" noGrp="1"/>
          </p:cNvSpPr>
          <p:nvPr/>
        </p:nvSpPr>
        <p:spPr>
          <a:xfrm xmlns:a="http://schemas.openxmlformats.org/drawingml/2006/main">
            <a:off x="55245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PRO-FORMA</a:t>
            </a:r>
          </a:p>
        </p:txBody>
      </p:sp>
      <p:sp>
        <p:nvSpPr>
          <p:cNvPr id="32" name="">
            <a:extLst xmlns:a="http://schemas.openxmlformats.org/drawingml/2006/main">
              <a:ext uri="{FF2B5EF4-FFF2-40B4-BE49-F238E27FC236}">
                <a16:creationId xmlns:a16="http://schemas.microsoft.com/office/drawing/2014/main" id="{F5509DA8-078C-4AB3-BE6B-0B04998DF177}"/>
              </a:ext>
            </a:extLst>
          </p:cNvPr>
          <p:cNvSpPr>
            <a:spLocks xmlns:a="http://schemas.openxmlformats.org/drawingml/2006/main" noGrp="1"/>
          </p:cNvSpPr>
          <p:nvPr/>
        </p:nvSpPr>
        <p:spPr>
          <a:xfrm xmlns:a="http://schemas.openxmlformats.org/drawingml/2006/main">
            <a:off x="546735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33" name="">
            <a:extLst xmlns:a="http://schemas.openxmlformats.org/drawingml/2006/main">
              <a:ext uri="{FF2B5EF4-FFF2-40B4-BE49-F238E27FC236}">
                <a16:creationId xmlns:a16="http://schemas.microsoft.com/office/drawing/2014/main" id="{A585FEFF-37E9-4132-AB8D-20C003F80536}"/>
              </a:ext>
            </a:extLst>
          </p:cNvPr>
          <p:cNvSpPr>
            <a:spLocks xmlns:a="http://schemas.openxmlformats.org/drawingml/2006/main" noGrp="1"/>
          </p:cNvSpPr>
          <p:nvPr/>
        </p:nvSpPr>
        <p:spPr>
          <a:xfrm xmlns:a="http://schemas.openxmlformats.org/drawingml/2006/main">
            <a:off x="67056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5</a:t>
            </a:r>
          </a:p>
        </p:txBody>
      </p:sp>
      <p:sp>
        <p:nvSpPr>
          <p:cNvPr id="34" name="">
            <a:extLst xmlns:a="http://schemas.openxmlformats.org/drawingml/2006/main">
              <a:ext uri="{FF2B5EF4-FFF2-40B4-BE49-F238E27FC236}">
                <a16:creationId xmlns:a16="http://schemas.microsoft.com/office/drawing/2014/main" id="{DC8D119A-562D-42E6-8FEA-048ADD94B6D2}"/>
              </a:ext>
            </a:extLst>
          </p:cNvPr>
          <p:cNvSpPr>
            <a:spLocks xmlns:a="http://schemas.openxmlformats.org/drawingml/2006/main" noGrp="1"/>
          </p:cNvSpPr>
          <p:nvPr/>
        </p:nvSpPr>
        <p:spPr>
          <a:xfrm xmlns:a="http://schemas.openxmlformats.org/drawingml/2006/main">
            <a:off x="70294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APPROVAL</a:t>
            </a:r>
          </a:p>
        </p:txBody>
      </p:sp>
      <p:sp>
        <p:nvSpPr>
          <p:cNvPr id="35" name="">
            <a:extLst xmlns:a="http://schemas.openxmlformats.org/drawingml/2006/main">
              <a:ext uri="{FF2B5EF4-FFF2-40B4-BE49-F238E27FC236}">
                <a16:creationId xmlns:a16="http://schemas.microsoft.com/office/drawing/2014/main" id="{36B04A51-E81E-4FC9-B8DB-0E45D2BB4D41}"/>
              </a:ext>
            </a:extLst>
          </p:cNvPr>
          <p:cNvSpPr>
            <a:spLocks xmlns:a="http://schemas.openxmlformats.org/drawingml/2006/main" noGrp="1"/>
          </p:cNvSpPr>
          <p:nvPr/>
        </p:nvSpPr>
        <p:spPr>
          <a:xfrm xmlns:a="http://schemas.openxmlformats.org/drawingml/2006/main">
            <a:off x="697230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36" name="">
            <a:extLst xmlns:a="http://schemas.openxmlformats.org/drawingml/2006/main">
              <a:ext uri="{FF2B5EF4-FFF2-40B4-BE49-F238E27FC236}">
                <a16:creationId xmlns:a16="http://schemas.microsoft.com/office/drawing/2014/main" id="{9D95FA26-48D9-43A2-B544-0BF410C73E8C}"/>
              </a:ext>
            </a:extLst>
          </p:cNvPr>
          <p:cNvSpPr>
            <a:spLocks xmlns:a="http://schemas.openxmlformats.org/drawingml/2006/main" noGrp="1"/>
          </p:cNvSpPr>
          <p:nvPr/>
        </p:nvSpPr>
        <p:spPr>
          <a:xfrm xmlns:a="http://schemas.openxmlformats.org/drawingml/2006/main">
            <a:off x="821055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6</a:t>
            </a:r>
          </a:p>
        </p:txBody>
      </p:sp>
      <p:sp>
        <p:nvSpPr>
          <p:cNvPr id="37" name="">
            <a:extLst xmlns:a="http://schemas.openxmlformats.org/drawingml/2006/main">
              <a:ext uri="{FF2B5EF4-FFF2-40B4-BE49-F238E27FC236}">
                <a16:creationId xmlns:a16="http://schemas.microsoft.com/office/drawing/2014/main" id="{F23B1AFA-D85A-41F1-98C2-544F89451B9F}"/>
              </a:ext>
            </a:extLst>
          </p:cNvPr>
          <p:cNvSpPr>
            <a:spLocks xmlns:a="http://schemas.openxmlformats.org/drawingml/2006/main" noGrp="1"/>
          </p:cNvSpPr>
          <p:nvPr/>
        </p:nvSpPr>
        <p:spPr>
          <a:xfrm xmlns:a="http://schemas.openxmlformats.org/drawingml/2006/main">
            <a:off x="85344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075D50"/>
                </a:solidFill>
              </a:defRPr>
            </a:pPr>
            <a:r>
              <a:rPr sz="825" b="1">
                <a:solidFill>
                  <a:srgbClr val="075D50"/>
                </a:solidFill>
              </a:rPr>
              <a:t>DISPATCH</a:t>
            </a:r>
          </a:p>
        </p:txBody>
      </p:sp>
      <p:sp>
        <p:nvSpPr>
          <p:cNvPr id="38" name="">
            <a:extLst xmlns:a="http://schemas.openxmlformats.org/drawingml/2006/main">
              <a:ext uri="{FF2B5EF4-FFF2-40B4-BE49-F238E27FC236}">
                <a16:creationId xmlns:a16="http://schemas.microsoft.com/office/drawing/2014/main" id="{E2A86C2F-4A15-49FE-A7D9-0D88736F4EE3}"/>
              </a:ext>
            </a:extLst>
          </p:cNvPr>
          <p:cNvSpPr>
            <a:spLocks xmlns:a="http://schemas.openxmlformats.org/drawingml/2006/main" noGrp="1"/>
          </p:cNvSpPr>
          <p:nvPr/>
        </p:nvSpPr>
        <p:spPr>
          <a:xfrm xmlns:a="http://schemas.openxmlformats.org/drawingml/2006/main">
            <a:off x="8477250" y="6057900"/>
            <a:ext cx="57150" cy="0"/>
          </a:xfrm>
          <a:prstGeom xmlns:a="http://schemas.openxmlformats.org/drawingml/2006/main" prst="line">
            <a:avLst/>
          </a:prstGeom>
          <a:noFill xmlns:a="http://schemas.openxmlformats.org/drawingml/2006/main"/>
          <a:ln xmlns:a="http://schemas.openxmlformats.org/drawingml/2006/main" w="19050">
            <a:solidFill>
              <a:srgbClr val="D8DBD8"/>
            </a:solidFill>
            <a:prstDash val="solid"/>
          </a:ln>
        </p:spPr>
      </p:sp>
      <p:sp>
        <p:nvSpPr>
          <p:cNvPr id="39" name="">
            <a:extLst xmlns:a="http://schemas.openxmlformats.org/drawingml/2006/main">
              <a:ext uri="{FF2B5EF4-FFF2-40B4-BE49-F238E27FC236}">
                <a16:creationId xmlns:a16="http://schemas.microsoft.com/office/drawing/2014/main" id="{C946F6AF-7FCA-474A-B85D-094FC1CDAF5F}"/>
              </a:ext>
            </a:extLst>
          </p:cNvPr>
          <p:cNvSpPr>
            <a:spLocks xmlns:a="http://schemas.openxmlformats.org/drawingml/2006/main" noGrp="1"/>
          </p:cNvSpPr>
          <p:nvPr/>
        </p:nvSpPr>
        <p:spPr>
          <a:xfrm xmlns:a="http://schemas.openxmlformats.org/drawingml/2006/main">
            <a:off x="9715500" y="5924550"/>
            <a:ext cx="266700" cy="266700"/>
          </a:xfrm>
          <a:prstGeom xmlns:a="http://schemas.openxmlformats.org/drawingml/2006/main" prst="ellipse">
            <a:avLst/>
          </a:prstGeom>
          <a:solidFill xmlns:a="http://schemas.openxmlformats.org/drawingml/2006/main">
            <a:srgbClr val="D8DBD8"/>
          </a:solidFill>
          <a:ln xmlns:a="http://schemas.openxmlformats.org/drawingml/2006/main" w="0">
            <a:solidFill>
              <a:srgbClr val="D8DBD8"/>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7</a:t>
            </a:r>
          </a:p>
        </p:txBody>
      </p:sp>
      <p:sp>
        <p:nvSpPr>
          <p:cNvPr id="40" name="">
            <a:extLst xmlns:a="http://schemas.openxmlformats.org/drawingml/2006/main">
              <a:ext uri="{FF2B5EF4-FFF2-40B4-BE49-F238E27FC236}">
                <a16:creationId xmlns:a16="http://schemas.microsoft.com/office/drawing/2014/main" id="{C419E350-E652-490E-B2DE-6732352B0093}"/>
              </a:ext>
            </a:extLst>
          </p:cNvPr>
          <p:cNvSpPr>
            <a:spLocks xmlns:a="http://schemas.openxmlformats.org/drawingml/2006/main" noGrp="1"/>
          </p:cNvSpPr>
          <p:nvPr/>
        </p:nvSpPr>
        <p:spPr>
          <a:xfrm xmlns:a="http://schemas.openxmlformats.org/drawingml/2006/main">
            <a:off x="100393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INVOICE</a:t>
            </a:r>
          </a:p>
        </p:txBody>
      </p:sp>
      <p:sp>
        <p:nvSpPr>
          <p:cNvPr id="41" name="">
            <a:extLst xmlns:a="http://schemas.openxmlformats.org/drawingml/2006/main">
              <a:ext uri="{FF2B5EF4-FFF2-40B4-BE49-F238E27FC236}">
                <a16:creationId xmlns:a16="http://schemas.microsoft.com/office/drawing/2014/main" id="{101E06AA-F067-4E5F-881E-5459E5FDD744}"/>
              </a:ext>
            </a:extLst>
          </p:cNvPr>
          <p:cNvSpPr>
            <a:spLocks xmlns:a="http://schemas.openxmlformats.org/drawingml/2006/main" noGrp="1"/>
          </p:cNvSpPr>
          <p:nvPr/>
        </p:nvSpPr>
        <p:spPr>
          <a:xfrm xmlns:a="http://schemas.openxmlformats.org/drawingml/2006/main">
            <a:off x="685800" y="6477000"/>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6716E"/>
                </a:solidFill>
              </a:defRPr>
            </a:pPr>
            <a:r>
              <a:rPr sz="825" b="1">
                <a:solidFill>
                  <a:srgbClr val="66716E"/>
                </a:solidFill>
              </a:rPr>
              <a:t>ORDER DESK  ·  OMNIORDER MVP</a:t>
            </a:r>
          </a:p>
        </p:txBody>
      </p:sp>
      <p:sp>
        <p:nvSpPr>
          <p:cNvPr id="42" name="">
            <a:extLst xmlns:a="http://schemas.openxmlformats.org/drawingml/2006/main">
              <a:ext uri="{FF2B5EF4-FFF2-40B4-BE49-F238E27FC236}">
                <a16:creationId xmlns:a16="http://schemas.microsoft.com/office/drawing/2014/main" id="{CFD15B32-5B26-49E4-95C9-66E931AC4676}"/>
              </a:ext>
            </a:extLst>
          </p:cNvPr>
          <p:cNvSpPr>
            <a:spLocks xmlns:a="http://schemas.openxmlformats.org/drawingml/2006/main" noGrp="1"/>
          </p:cNvSpPr>
          <p:nvPr/>
        </p:nvSpPr>
        <p:spPr>
          <a:xfrm xmlns:a="http://schemas.openxmlformats.org/drawingml/2006/main">
            <a:off x="11049000" y="64770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6716E"/>
                </a:solidFill>
              </a:defRPr>
            </a:pPr>
            <a:r>
              <a:rPr sz="825" b="1">
                <a:solidFill>
                  <a:srgbClr val="66716E"/>
                </a:solidFill>
              </a:rPr>
              <a:t>08</a:t>
            </a:r>
          </a:p>
        </p:txBody>
      </p:sp>
    </p:spTree>
    <p:extLst>
      <p:ext uri="{BB962C8B-B14F-4D97-AF65-F5344CB8AC3E}">
        <p14:creationId xmlns:p14="http://schemas.microsoft.com/office/powerpoint/2010/main" val="1743699297"/>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6EA73BE2-15FC-415B-9B7E-D1C33AA98160}"/>
              </a:ext>
            </a:extLst>
          </p:cNvPr>
          <p:cNvSpPr>
            <a:spLocks xmlns:a="http://schemas.openxmlformats.org/drawingml/2006/main" noGrp="1"/>
          </p:cNvSpPr>
          <p:nvPr/>
        </p:nvSpPr>
        <p:spPr>
          <a:xfrm xmlns:a="http://schemas.openxmlformats.org/drawingml/2006/main">
            <a:off x="857250" y="457200"/>
            <a:ext cx="619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75D50"/>
                </a:solidFill>
              </a:defRPr>
            </a:pPr>
            <a:r>
              <a:rPr sz="975" b="1">
                <a:solidFill>
                  <a:srgbClr val="075D50"/>
                </a:solidFill>
              </a:rPr>
              <a:t>STEP 7 · FINAL INVOICE</a:t>
            </a:r>
          </a:p>
        </p:txBody>
      </p:sp>
      <p:sp>
        <p:nvSpPr>
          <p:cNvPr id="2" name="">
            <a:extLst xmlns:a="http://schemas.openxmlformats.org/drawingml/2006/main">
              <a:ext uri="{FF2B5EF4-FFF2-40B4-BE49-F238E27FC236}">
                <a16:creationId xmlns:a16="http://schemas.microsoft.com/office/drawing/2014/main" id="{86C73CE3-6C2D-4710-B5AC-94F27D4A7973}"/>
              </a:ext>
            </a:extLst>
          </p:cNvPr>
          <p:cNvSpPr>
            <a:spLocks xmlns:a="http://schemas.openxmlformats.org/drawingml/2006/main" noGrp="1"/>
          </p:cNvSpPr>
          <p:nvPr/>
        </p:nvSpPr>
        <p:spPr>
          <a:xfrm xmlns:a="http://schemas.openxmlformats.org/drawingml/2006/main">
            <a:off x="857250" y="781050"/>
            <a:ext cx="106489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111817"/>
                </a:solidFill>
              </a:defRPr>
            </a:pPr>
            <a:r>
              <a:rPr sz="2850" b="1">
                <a:solidFill>
                  <a:srgbClr val="111817"/>
                </a:solidFill>
              </a:rPr>
              <a:t>Dispatch triggers a separate, immutable invoice</a:t>
            </a:r>
          </a:p>
        </p:txBody>
      </p:sp>
      <p:sp>
        <p:nvSpPr>
          <p:cNvPr id="3" name="">
            <a:extLst xmlns:a="http://schemas.openxmlformats.org/drawingml/2006/main">
              <a:ext uri="{FF2B5EF4-FFF2-40B4-BE49-F238E27FC236}">
                <a16:creationId xmlns:a16="http://schemas.microsoft.com/office/drawing/2014/main" id="{F00802C6-EBD0-4A55-B706-69AEADC7D95E}"/>
              </a:ext>
            </a:extLst>
          </p:cNvPr>
          <p:cNvSpPr>
            <a:spLocks xmlns:a="http://schemas.openxmlformats.org/drawingml/2006/main" noGrp="1"/>
          </p:cNvSpPr>
          <p:nvPr/>
        </p:nvSpPr>
        <p:spPr>
          <a:xfrm xmlns:a="http://schemas.openxmlformats.org/drawingml/2006/main">
            <a:off x="857250" y="1428750"/>
            <a:ext cx="9829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0">
                <a:solidFill>
                  <a:srgbClr val="66716E"/>
                </a:solidFill>
              </a:defRPr>
            </a:pPr>
            <a:r>
              <a:rPr sz="1425" b="0">
                <a:solidFill>
                  <a:srgbClr val="66716E"/>
                </a:solidFill>
              </a:rPr>
              <a:t>The customer receives the final invoice automatically, and the originating sales rep is copied.</a:t>
            </a:r>
          </a:p>
        </p:txBody>
      </p:sp>
      <p:sp>
        <p:nvSpPr>
          <p:cNvPr id="4" name="">
            <a:extLst xmlns:a="http://schemas.openxmlformats.org/drawingml/2006/main">
              <a:ext uri="{FF2B5EF4-FFF2-40B4-BE49-F238E27FC236}">
                <a16:creationId xmlns:a16="http://schemas.microsoft.com/office/drawing/2014/main" id="{6372428F-8477-4E6E-828B-5069E04C21E2}"/>
              </a:ext>
            </a:extLst>
          </p:cNvPr>
          <p:cNvSpPr>
            <a:spLocks xmlns:a="http://schemas.openxmlformats.org/drawingml/2006/main" noGrp="1"/>
          </p:cNvSpPr>
          <p:nvPr/>
        </p:nvSpPr>
        <p:spPr>
          <a:xfrm xmlns:a="http://schemas.openxmlformats.org/drawingml/2006/main">
            <a:off x="857250" y="2095500"/>
            <a:ext cx="6286500" cy="3286125"/>
          </a:xfrm>
          <a:prstGeom xmlns:a="http://schemas.openxmlformats.org/drawingml/2006/main" prst="roundRect">
            <a:avLst>
              <a:gd name="adj" fmla="val 2319"/>
            </a:avLst>
          </a:prstGeom>
          <a:solidFill xmlns:a="http://schemas.openxmlformats.org/drawingml/2006/main">
            <a:srgbClr val="FFFFFF"/>
          </a:solidFill>
          <a:ln xmlns:a="http://schemas.openxmlformats.org/drawingml/2006/main" w="9525">
            <a:solidFill>
              <a:srgbClr val="DDDCD5"/>
            </a:solidFill>
            <a:prstDash val="solid"/>
          </a:ln>
        </p:spPr>
      </p:sp>
      <p:sp>
        <p:nvSpPr>
          <p:cNvPr id="5" name="">
            <a:extLst xmlns:a="http://schemas.openxmlformats.org/drawingml/2006/main">
              <a:ext uri="{FF2B5EF4-FFF2-40B4-BE49-F238E27FC236}">
                <a16:creationId xmlns:a16="http://schemas.microsoft.com/office/drawing/2014/main" id="{5EADFEC4-6DFD-487D-A507-26BCBBE789D6}"/>
              </a:ext>
            </a:extLst>
          </p:cNvPr>
          <p:cNvSpPr>
            <a:spLocks xmlns:a="http://schemas.openxmlformats.org/drawingml/2006/main" noGrp="1"/>
          </p:cNvSpPr>
          <p:nvPr/>
        </p:nvSpPr>
        <p:spPr>
          <a:xfrm xmlns:a="http://schemas.openxmlformats.org/drawingml/2006/main">
            <a:off x="1238250" y="2438400"/>
            <a:ext cx="238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111817"/>
                </a:solidFill>
              </a:defRPr>
            </a:pPr>
            <a:r>
              <a:rPr sz="2700" b="1">
                <a:solidFill>
                  <a:srgbClr val="111817"/>
                </a:solidFill>
              </a:rPr>
              <a:t>INVOICE</a:t>
            </a:r>
          </a:p>
        </p:txBody>
      </p:sp>
      <p:sp>
        <p:nvSpPr>
          <p:cNvPr id="6" name="">
            <a:extLst xmlns:a="http://schemas.openxmlformats.org/drawingml/2006/main">
              <a:ext uri="{FF2B5EF4-FFF2-40B4-BE49-F238E27FC236}">
                <a16:creationId xmlns:a16="http://schemas.microsoft.com/office/drawing/2014/main" id="{591EFB94-71C5-4898-B133-B62E17D629F4}"/>
              </a:ext>
            </a:extLst>
          </p:cNvPr>
          <p:cNvSpPr>
            <a:spLocks xmlns:a="http://schemas.openxmlformats.org/drawingml/2006/main" noGrp="1"/>
          </p:cNvSpPr>
          <p:nvPr/>
        </p:nvSpPr>
        <p:spPr>
          <a:xfrm xmlns:a="http://schemas.openxmlformats.org/drawingml/2006/main">
            <a:off x="4876800" y="2514600"/>
            <a:ext cx="1857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200" b="1">
                <a:solidFill>
                  <a:srgbClr val="075D50"/>
                </a:solidFill>
              </a:defRPr>
            </a:pPr>
            <a:r>
              <a:rPr sz="1200" b="1">
                <a:solidFill>
                  <a:srgbClr val="075D50"/>
                </a:solidFill>
              </a:rPr>
              <a:t>INV-2026-0028</a:t>
            </a:r>
          </a:p>
        </p:txBody>
      </p:sp>
      <p:sp>
        <p:nvSpPr>
          <p:cNvPr id="7" name="">
            <a:extLst xmlns:a="http://schemas.openxmlformats.org/drawingml/2006/main">
              <a:ext uri="{FF2B5EF4-FFF2-40B4-BE49-F238E27FC236}">
                <a16:creationId xmlns:a16="http://schemas.microsoft.com/office/drawing/2014/main" id="{7B79B21D-9E64-45B1-9558-248E80224CBB}"/>
              </a:ext>
            </a:extLst>
          </p:cNvPr>
          <p:cNvSpPr>
            <a:spLocks xmlns:a="http://schemas.openxmlformats.org/drawingml/2006/main" noGrp="1"/>
          </p:cNvSpPr>
          <p:nvPr/>
        </p:nvSpPr>
        <p:spPr>
          <a:xfrm xmlns:a="http://schemas.openxmlformats.org/drawingml/2006/main">
            <a:off x="1238250" y="306705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6716E"/>
                </a:solidFill>
              </a:defRPr>
            </a:pPr>
            <a:r>
              <a:rPr sz="1200" b="0">
                <a:solidFill>
                  <a:srgbClr val="66716E"/>
                </a:solidFill>
              </a:rPr>
              <a:t>Source pro-forma  PF-2026-0042</a:t>
            </a:r>
          </a:p>
        </p:txBody>
      </p:sp>
      <p:sp>
        <p:nvSpPr>
          <p:cNvPr id="8" name="">
            <a:extLst xmlns:a="http://schemas.openxmlformats.org/drawingml/2006/main">
              <a:ext uri="{FF2B5EF4-FFF2-40B4-BE49-F238E27FC236}">
                <a16:creationId xmlns:a16="http://schemas.microsoft.com/office/drawing/2014/main" id="{168A58D8-689F-4781-BD5A-5D6D5ED6DC9A}"/>
              </a:ext>
            </a:extLst>
          </p:cNvPr>
          <p:cNvSpPr>
            <a:spLocks xmlns:a="http://schemas.openxmlformats.org/drawingml/2006/main" noGrp="1"/>
          </p:cNvSpPr>
          <p:nvPr/>
        </p:nvSpPr>
        <p:spPr>
          <a:xfrm xmlns:a="http://schemas.openxmlformats.org/drawingml/2006/main">
            <a:off x="1238250" y="33909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6716E"/>
                </a:solidFill>
              </a:defRPr>
            </a:pPr>
            <a:r>
              <a:rPr sz="1200" b="0">
                <a:solidFill>
                  <a:srgbClr val="66716E"/>
                </a:solidFill>
              </a:rPr>
              <a:t>Issued  Aug 7, 2026</a:t>
            </a:r>
          </a:p>
        </p:txBody>
      </p:sp>
      <p:sp>
        <p:nvSpPr>
          <p:cNvPr id="9" name="">
            <a:extLst xmlns:a="http://schemas.openxmlformats.org/drawingml/2006/main">
              <a:ext uri="{FF2B5EF4-FFF2-40B4-BE49-F238E27FC236}">
                <a16:creationId xmlns:a16="http://schemas.microsoft.com/office/drawing/2014/main" id="{CCED860F-379F-453B-B911-4C433EE0F069}"/>
              </a:ext>
            </a:extLst>
          </p:cNvPr>
          <p:cNvSpPr>
            <a:spLocks xmlns:a="http://schemas.openxmlformats.org/drawingml/2006/main" noGrp="1"/>
          </p:cNvSpPr>
          <p:nvPr/>
        </p:nvSpPr>
        <p:spPr>
          <a:xfrm xmlns:a="http://schemas.openxmlformats.org/drawingml/2006/main">
            <a:off x="1238250" y="371475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66716E"/>
                </a:solidFill>
              </a:defRPr>
            </a:pPr>
            <a:r>
              <a:rPr sz="1200" b="0">
                <a:solidFill>
                  <a:srgbClr val="66716E"/>
                </a:solidFill>
              </a:rPr>
              <a:t>Due  Aug 22, 2026</a:t>
            </a:r>
          </a:p>
        </p:txBody>
      </p:sp>
      <p:sp>
        <p:nvSpPr>
          <p:cNvPr id="10" name="">
            <a:extLst xmlns:a="http://schemas.openxmlformats.org/drawingml/2006/main">
              <a:ext uri="{FF2B5EF4-FFF2-40B4-BE49-F238E27FC236}">
                <a16:creationId xmlns:a16="http://schemas.microsoft.com/office/drawing/2014/main" id="{4C3FF49E-A914-4B31-977A-636BF8B4C298}"/>
              </a:ext>
            </a:extLst>
          </p:cNvPr>
          <p:cNvSpPr>
            <a:spLocks xmlns:a="http://schemas.openxmlformats.org/drawingml/2006/main" noGrp="1"/>
          </p:cNvSpPr>
          <p:nvPr/>
        </p:nvSpPr>
        <p:spPr>
          <a:xfrm xmlns:a="http://schemas.openxmlformats.org/drawingml/2006/main">
            <a:off x="4857750" y="4095750"/>
            <a:ext cx="952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66716E"/>
                </a:solidFill>
              </a:defRPr>
            </a:pPr>
            <a:r>
              <a:rPr sz="1050" b="1">
                <a:solidFill>
                  <a:srgbClr val="66716E"/>
                </a:solidFill>
              </a:rPr>
              <a:t>TOTAL</a:t>
            </a:r>
          </a:p>
        </p:txBody>
      </p:sp>
      <p:sp>
        <p:nvSpPr>
          <p:cNvPr id="11" name="">
            <a:extLst xmlns:a="http://schemas.openxmlformats.org/drawingml/2006/main">
              <a:ext uri="{FF2B5EF4-FFF2-40B4-BE49-F238E27FC236}">
                <a16:creationId xmlns:a16="http://schemas.microsoft.com/office/drawing/2014/main" id="{2BEED7FB-90C6-4452-88D0-E5246C41E934}"/>
              </a:ext>
            </a:extLst>
          </p:cNvPr>
          <p:cNvSpPr>
            <a:spLocks xmlns:a="http://schemas.openxmlformats.org/drawingml/2006/main" noGrp="1"/>
          </p:cNvSpPr>
          <p:nvPr/>
        </p:nvSpPr>
        <p:spPr>
          <a:xfrm xmlns:a="http://schemas.openxmlformats.org/drawingml/2006/main">
            <a:off x="4762500" y="4419600"/>
            <a:ext cx="200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2625" b="1">
                <a:solidFill>
                  <a:srgbClr val="111817"/>
                </a:solidFill>
              </a:defRPr>
            </a:pPr>
            <a:r>
              <a:rPr sz="2625" b="1">
                <a:solidFill>
                  <a:srgbClr val="111817"/>
                </a:solidFill>
              </a:rPr>
              <a:t>$486.38</a:t>
            </a:r>
          </a:p>
        </p:txBody>
      </p:sp>
      <p:sp>
        <p:nvSpPr>
          <p:cNvPr id="12" name="">
            <a:extLst xmlns:a="http://schemas.openxmlformats.org/drawingml/2006/main">
              <a:ext uri="{FF2B5EF4-FFF2-40B4-BE49-F238E27FC236}">
                <a16:creationId xmlns:a16="http://schemas.microsoft.com/office/drawing/2014/main" id="{9C58091E-B102-4EAA-9E67-7D6FFDEF8C29}"/>
              </a:ext>
            </a:extLst>
          </p:cNvPr>
          <p:cNvSpPr>
            <a:spLocks xmlns:a="http://schemas.openxmlformats.org/drawingml/2006/main" noGrp="1"/>
          </p:cNvSpPr>
          <p:nvPr/>
        </p:nvSpPr>
        <p:spPr>
          <a:xfrm xmlns:a="http://schemas.openxmlformats.org/drawingml/2006/main">
            <a:off x="8001000" y="2286000"/>
            <a:ext cx="3143250" cy="2714625"/>
          </a:xfrm>
          <a:prstGeom xmlns:a="http://schemas.openxmlformats.org/drawingml/2006/main" prst="roundRect">
            <a:avLst>
              <a:gd name="adj" fmla="val 5614"/>
            </a:avLst>
          </a:prstGeom>
          <a:solidFill xmlns:a="http://schemas.openxmlformats.org/drawingml/2006/main">
            <a:srgbClr val="03473E"/>
          </a:solidFill>
          <a:ln xmlns:a="http://schemas.openxmlformats.org/drawingml/2006/main" w="9525">
            <a:solidFill>
              <a:srgbClr val="03473E"/>
            </a:solidFill>
            <a:prstDash val="solid"/>
          </a:ln>
        </p:spPr>
      </p:sp>
      <p:sp>
        <p:nvSpPr>
          <p:cNvPr id="13" name="">
            <a:extLst xmlns:a="http://schemas.openxmlformats.org/drawingml/2006/main">
              <a:ext uri="{FF2B5EF4-FFF2-40B4-BE49-F238E27FC236}">
                <a16:creationId xmlns:a16="http://schemas.microsoft.com/office/drawing/2014/main" id="{DFF5397D-D5C8-4180-B694-C6661793675A}"/>
              </a:ext>
            </a:extLst>
          </p:cNvPr>
          <p:cNvSpPr>
            <a:spLocks xmlns:a="http://schemas.openxmlformats.org/drawingml/2006/main" noGrp="1"/>
          </p:cNvSpPr>
          <p:nvPr/>
        </p:nvSpPr>
        <p:spPr>
          <a:xfrm xmlns:a="http://schemas.openxmlformats.org/drawingml/2006/main">
            <a:off x="8382000" y="2647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B9DED6"/>
                </a:solidFill>
              </a:defRPr>
            </a:pPr>
            <a:r>
              <a:rPr sz="1050" b="1">
                <a:solidFill>
                  <a:srgbClr val="B9DED6"/>
                </a:solidFill>
              </a:rPr>
              <a:t>SENT</a:t>
            </a:r>
          </a:p>
        </p:txBody>
      </p:sp>
      <p:sp>
        <p:nvSpPr>
          <p:cNvPr id="14" name="">
            <a:extLst xmlns:a="http://schemas.openxmlformats.org/drawingml/2006/main">
              <a:ext uri="{FF2B5EF4-FFF2-40B4-BE49-F238E27FC236}">
                <a16:creationId xmlns:a16="http://schemas.microsoft.com/office/drawing/2014/main" id="{7F5797FF-3D1B-403F-9548-4BC9B30A4A0E}"/>
              </a:ext>
            </a:extLst>
          </p:cNvPr>
          <p:cNvSpPr>
            <a:spLocks xmlns:a="http://schemas.openxmlformats.org/drawingml/2006/main" noGrp="1"/>
          </p:cNvSpPr>
          <p:nvPr/>
        </p:nvSpPr>
        <p:spPr>
          <a:xfrm xmlns:a="http://schemas.openxmlformats.org/drawingml/2006/main">
            <a:off x="9048750" y="3095625"/>
            <a:ext cx="952500" cy="9525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3150" b="1">
                <a:solidFill>
                  <a:srgbClr val="075D50"/>
                </a:solidFill>
              </a:defRPr>
            </a:pPr>
            <a:r>
              <a:rPr sz="3150" b="1">
                <a:solidFill>
                  <a:srgbClr val="075D50"/>
                </a:solidFill>
              </a:rPr>
              <a:t>✉</a:t>
            </a:r>
          </a:p>
        </p:txBody>
      </p:sp>
      <p:sp>
        <p:nvSpPr>
          <p:cNvPr id="15" name="">
            <a:extLst xmlns:a="http://schemas.openxmlformats.org/drawingml/2006/main">
              <a:ext uri="{FF2B5EF4-FFF2-40B4-BE49-F238E27FC236}">
                <a16:creationId xmlns:a16="http://schemas.microsoft.com/office/drawing/2014/main" id="{60116592-EDEC-48A1-99AA-944EF4E500DC}"/>
              </a:ext>
            </a:extLst>
          </p:cNvPr>
          <p:cNvSpPr>
            <a:spLocks xmlns:a="http://schemas.openxmlformats.org/drawingml/2006/main" noGrp="1"/>
          </p:cNvSpPr>
          <p:nvPr/>
        </p:nvSpPr>
        <p:spPr>
          <a:xfrm xmlns:a="http://schemas.openxmlformats.org/drawingml/2006/main">
            <a:off x="8477250" y="4238625"/>
            <a:ext cx="109537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FFFF"/>
                </a:solidFill>
              </a:defRPr>
            </a:pPr>
            <a:r>
              <a:rPr sz="1350" b="1">
                <a:solidFill>
                  <a:srgbClr val="FFFFFF"/>
                </a:solidFill>
              </a:rPr>
              <a:t>Customer</a:t>
            </a:r>
          </a:p>
        </p:txBody>
      </p:sp>
      <p:sp>
        <p:nvSpPr>
          <p:cNvPr id="16" name="">
            <a:extLst xmlns:a="http://schemas.openxmlformats.org/drawingml/2006/main">
              <a:ext uri="{FF2B5EF4-FFF2-40B4-BE49-F238E27FC236}">
                <a16:creationId xmlns:a16="http://schemas.microsoft.com/office/drawing/2014/main" id="{BFE7EC71-DDD6-4AE7-B6D2-44DD6C7FD353}"/>
              </a:ext>
            </a:extLst>
          </p:cNvPr>
          <p:cNvSpPr>
            <a:spLocks xmlns:a="http://schemas.openxmlformats.org/drawingml/2006/main" noGrp="1"/>
          </p:cNvSpPr>
          <p:nvPr/>
        </p:nvSpPr>
        <p:spPr>
          <a:xfrm xmlns:a="http://schemas.openxmlformats.org/drawingml/2006/main">
            <a:off x="9525000" y="4238625"/>
            <a:ext cx="133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DDEAE7"/>
                </a:solidFill>
              </a:defRPr>
            </a:pPr>
            <a:r>
              <a:rPr sz="1350" b="1">
                <a:solidFill>
                  <a:srgbClr val="DDEAE7"/>
                </a:solidFill>
              </a:rPr>
              <a:t>+ Sales rep CC</a:t>
            </a:r>
          </a:p>
        </p:txBody>
      </p:sp>
      <p:sp>
        <p:nvSpPr>
          <p:cNvPr id="17" name="">
            <a:extLst xmlns:a="http://schemas.openxmlformats.org/drawingml/2006/main">
              <a:ext uri="{FF2B5EF4-FFF2-40B4-BE49-F238E27FC236}">
                <a16:creationId xmlns:a16="http://schemas.microsoft.com/office/drawing/2014/main" id="{F6642C70-7B00-4BD2-893B-C5563F8E0A5D}"/>
              </a:ext>
            </a:extLst>
          </p:cNvPr>
          <p:cNvSpPr>
            <a:spLocks xmlns:a="http://schemas.openxmlformats.org/drawingml/2006/main" noGrp="1"/>
          </p:cNvSpPr>
          <p:nvPr/>
        </p:nvSpPr>
        <p:spPr>
          <a:xfrm xmlns:a="http://schemas.openxmlformats.org/drawingml/2006/main">
            <a:off x="6858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1</a:t>
            </a:r>
          </a:p>
        </p:txBody>
      </p:sp>
      <p:sp>
        <p:nvSpPr>
          <p:cNvPr id="18" name="">
            <a:extLst xmlns:a="http://schemas.openxmlformats.org/drawingml/2006/main">
              <a:ext uri="{FF2B5EF4-FFF2-40B4-BE49-F238E27FC236}">
                <a16:creationId xmlns:a16="http://schemas.microsoft.com/office/drawing/2014/main" id="{9AD49A05-2371-4B2E-A89A-B552FBF8036C}"/>
              </a:ext>
            </a:extLst>
          </p:cNvPr>
          <p:cNvSpPr>
            <a:spLocks xmlns:a="http://schemas.openxmlformats.org/drawingml/2006/main" noGrp="1"/>
          </p:cNvSpPr>
          <p:nvPr/>
        </p:nvSpPr>
        <p:spPr>
          <a:xfrm xmlns:a="http://schemas.openxmlformats.org/drawingml/2006/main">
            <a:off x="10096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ACCESS</a:t>
            </a:r>
          </a:p>
        </p:txBody>
      </p:sp>
      <p:sp>
        <p:nvSpPr>
          <p:cNvPr id="19" name="">
            <a:extLst xmlns:a="http://schemas.openxmlformats.org/drawingml/2006/main">
              <a:ext uri="{FF2B5EF4-FFF2-40B4-BE49-F238E27FC236}">
                <a16:creationId xmlns:a16="http://schemas.microsoft.com/office/drawing/2014/main" id="{5D8A4D6D-F57A-4AF5-B453-849AC764698D}"/>
              </a:ext>
            </a:extLst>
          </p:cNvPr>
          <p:cNvSpPr>
            <a:spLocks xmlns:a="http://schemas.openxmlformats.org/drawingml/2006/main" noGrp="1"/>
          </p:cNvSpPr>
          <p:nvPr/>
        </p:nvSpPr>
        <p:spPr>
          <a:xfrm xmlns:a="http://schemas.openxmlformats.org/drawingml/2006/main">
            <a:off x="95250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20" name="">
            <a:extLst xmlns:a="http://schemas.openxmlformats.org/drawingml/2006/main">
              <a:ext uri="{FF2B5EF4-FFF2-40B4-BE49-F238E27FC236}">
                <a16:creationId xmlns:a16="http://schemas.microsoft.com/office/drawing/2014/main" id="{EE0C7CA9-01F9-42F0-A9BE-B225A7772CA9}"/>
              </a:ext>
            </a:extLst>
          </p:cNvPr>
          <p:cNvSpPr>
            <a:spLocks xmlns:a="http://schemas.openxmlformats.org/drawingml/2006/main" noGrp="1"/>
          </p:cNvSpPr>
          <p:nvPr/>
        </p:nvSpPr>
        <p:spPr>
          <a:xfrm xmlns:a="http://schemas.openxmlformats.org/drawingml/2006/main">
            <a:off x="219075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2</a:t>
            </a:r>
          </a:p>
        </p:txBody>
      </p:sp>
      <p:sp>
        <p:nvSpPr>
          <p:cNvPr id="21" name="">
            <a:extLst xmlns:a="http://schemas.openxmlformats.org/drawingml/2006/main">
              <a:ext uri="{FF2B5EF4-FFF2-40B4-BE49-F238E27FC236}">
                <a16:creationId xmlns:a16="http://schemas.microsoft.com/office/drawing/2014/main" id="{E1BE41A5-0E85-418C-8707-541BAD95032D}"/>
              </a:ext>
            </a:extLst>
          </p:cNvPr>
          <p:cNvSpPr>
            <a:spLocks xmlns:a="http://schemas.openxmlformats.org/drawingml/2006/main" noGrp="1"/>
          </p:cNvSpPr>
          <p:nvPr/>
        </p:nvSpPr>
        <p:spPr>
          <a:xfrm xmlns:a="http://schemas.openxmlformats.org/drawingml/2006/main">
            <a:off x="25146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REQUEST</a:t>
            </a:r>
          </a:p>
        </p:txBody>
      </p:sp>
      <p:sp>
        <p:nvSpPr>
          <p:cNvPr id="22" name="">
            <a:extLst xmlns:a="http://schemas.openxmlformats.org/drawingml/2006/main">
              <a:ext uri="{FF2B5EF4-FFF2-40B4-BE49-F238E27FC236}">
                <a16:creationId xmlns:a16="http://schemas.microsoft.com/office/drawing/2014/main" id="{CDF142E4-D68E-4CB1-BD20-889995D2DC7B}"/>
              </a:ext>
            </a:extLst>
          </p:cNvPr>
          <p:cNvSpPr>
            <a:spLocks xmlns:a="http://schemas.openxmlformats.org/drawingml/2006/main" noGrp="1"/>
          </p:cNvSpPr>
          <p:nvPr/>
        </p:nvSpPr>
        <p:spPr>
          <a:xfrm xmlns:a="http://schemas.openxmlformats.org/drawingml/2006/main">
            <a:off x="245745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23" name="">
            <a:extLst xmlns:a="http://schemas.openxmlformats.org/drawingml/2006/main">
              <a:ext uri="{FF2B5EF4-FFF2-40B4-BE49-F238E27FC236}">
                <a16:creationId xmlns:a16="http://schemas.microsoft.com/office/drawing/2014/main" id="{15223C27-419C-4A6C-A2EB-4EDC95F0749C}"/>
              </a:ext>
            </a:extLst>
          </p:cNvPr>
          <p:cNvSpPr>
            <a:spLocks xmlns:a="http://schemas.openxmlformats.org/drawingml/2006/main" noGrp="1"/>
          </p:cNvSpPr>
          <p:nvPr/>
        </p:nvSpPr>
        <p:spPr>
          <a:xfrm xmlns:a="http://schemas.openxmlformats.org/drawingml/2006/main">
            <a:off x="36957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3</a:t>
            </a:r>
          </a:p>
        </p:txBody>
      </p:sp>
      <p:sp>
        <p:nvSpPr>
          <p:cNvPr id="24" name="">
            <a:extLst xmlns:a="http://schemas.openxmlformats.org/drawingml/2006/main">
              <a:ext uri="{FF2B5EF4-FFF2-40B4-BE49-F238E27FC236}">
                <a16:creationId xmlns:a16="http://schemas.microsoft.com/office/drawing/2014/main" id="{C47E9904-D7B4-4D48-A82A-5EF4EADCE88F}"/>
              </a:ext>
            </a:extLst>
          </p:cNvPr>
          <p:cNvSpPr>
            <a:spLocks xmlns:a="http://schemas.openxmlformats.org/drawingml/2006/main" noGrp="1"/>
          </p:cNvSpPr>
          <p:nvPr/>
        </p:nvSpPr>
        <p:spPr>
          <a:xfrm xmlns:a="http://schemas.openxmlformats.org/drawingml/2006/main">
            <a:off x="40195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REVIEW</a:t>
            </a:r>
          </a:p>
        </p:txBody>
      </p:sp>
      <p:sp>
        <p:nvSpPr>
          <p:cNvPr id="25" name="">
            <a:extLst xmlns:a="http://schemas.openxmlformats.org/drawingml/2006/main">
              <a:ext uri="{FF2B5EF4-FFF2-40B4-BE49-F238E27FC236}">
                <a16:creationId xmlns:a16="http://schemas.microsoft.com/office/drawing/2014/main" id="{BE61F967-B2D4-4C2C-B067-FA1A30C7BD96}"/>
              </a:ext>
            </a:extLst>
          </p:cNvPr>
          <p:cNvSpPr>
            <a:spLocks xmlns:a="http://schemas.openxmlformats.org/drawingml/2006/main" noGrp="1"/>
          </p:cNvSpPr>
          <p:nvPr/>
        </p:nvSpPr>
        <p:spPr>
          <a:xfrm xmlns:a="http://schemas.openxmlformats.org/drawingml/2006/main">
            <a:off x="396240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26" name="">
            <a:extLst xmlns:a="http://schemas.openxmlformats.org/drawingml/2006/main">
              <a:ext uri="{FF2B5EF4-FFF2-40B4-BE49-F238E27FC236}">
                <a16:creationId xmlns:a16="http://schemas.microsoft.com/office/drawing/2014/main" id="{9BC9B97C-02DD-42EA-AD8B-654941405D83}"/>
              </a:ext>
            </a:extLst>
          </p:cNvPr>
          <p:cNvSpPr>
            <a:spLocks xmlns:a="http://schemas.openxmlformats.org/drawingml/2006/main" noGrp="1"/>
          </p:cNvSpPr>
          <p:nvPr/>
        </p:nvSpPr>
        <p:spPr>
          <a:xfrm xmlns:a="http://schemas.openxmlformats.org/drawingml/2006/main">
            <a:off x="520065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4</a:t>
            </a:r>
          </a:p>
        </p:txBody>
      </p:sp>
      <p:sp>
        <p:nvSpPr>
          <p:cNvPr id="27" name="">
            <a:extLst xmlns:a="http://schemas.openxmlformats.org/drawingml/2006/main">
              <a:ext uri="{FF2B5EF4-FFF2-40B4-BE49-F238E27FC236}">
                <a16:creationId xmlns:a16="http://schemas.microsoft.com/office/drawing/2014/main" id="{3D1D03C7-BC88-40AC-9148-252D94D57C21}"/>
              </a:ext>
            </a:extLst>
          </p:cNvPr>
          <p:cNvSpPr>
            <a:spLocks xmlns:a="http://schemas.openxmlformats.org/drawingml/2006/main" noGrp="1"/>
          </p:cNvSpPr>
          <p:nvPr/>
        </p:nvSpPr>
        <p:spPr>
          <a:xfrm xmlns:a="http://schemas.openxmlformats.org/drawingml/2006/main">
            <a:off x="55245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PRO-FORMA</a:t>
            </a:r>
          </a:p>
        </p:txBody>
      </p:sp>
      <p:sp>
        <p:nvSpPr>
          <p:cNvPr id="28" name="">
            <a:extLst xmlns:a="http://schemas.openxmlformats.org/drawingml/2006/main">
              <a:ext uri="{FF2B5EF4-FFF2-40B4-BE49-F238E27FC236}">
                <a16:creationId xmlns:a16="http://schemas.microsoft.com/office/drawing/2014/main" id="{777C50EE-6F7D-4677-B116-5D331A450F89}"/>
              </a:ext>
            </a:extLst>
          </p:cNvPr>
          <p:cNvSpPr>
            <a:spLocks xmlns:a="http://schemas.openxmlformats.org/drawingml/2006/main" noGrp="1"/>
          </p:cNvSpPr>
          <p:nvPr/>
        </p:nvSpPr>
        <p:spPr>
          <a:xfrm xmlns:a="http://schemas.openxmlformats.org/drawingml/2006/main">
            <a:off x="546735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29" name="">
            <a:extLst xmlns:a="http://schemas.openxmlformats.org/drawingml/2006/main">
              <a:ext uri="{FF2B5EF4-FFF2-40B4-BE49-F238E27FC236}">
                <a16:creationId xmlns:a16="http://schemas.microsoft.com/office/drawing/2014/main" id="{53B33575-509B-4D2B-89E0-58E788CFDEBA}"/>
              </a:ext>
            </a:extLst>
          </p:cNvPr>
          <p:cNvSpPr>
            <a:spLocks xmlns:a="http://schemas.openxmlformats.org/drawingml/2006/main" noGrp="1"/>
          </p:cNvSpPr>
          <p:nvPr/>
        </p:nvSpPr>
        <p:spPr>
          <a:xfrm xmlns:a="http://schemas.openxmlformats.org/drawingml/2006/main">
            <a:off x="67056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5</a:t>
            </a:r>
          </a:p>
        </p:txBody>
      </p:sp>
      <p:sp>
        <p:nvSpPr>
          <p:cNvPr id="30" name="">
            <a:extLst xmlns:a="http://schemas.openxmlformats.org/drawingml/2006/main">
              <a:ext uri="{FF2B5EF4-FFF2-40B4-BE49-F238E27FC236}">
                <a16:creationId xmlns:a16="http://schemas.microsoft.com/office/drawing/2014/main" id="{6ACD7DDB-7D94-4FF1-906A-2432A4D937A9}"/>
              </a:ext>
            </a:extLst>
          </p:cNvPr>
          <p:cNvSpPr>
            <a:spLocks xmlns:a="http://schemas.openxmlformats.org/drawingml/2006/main" noGrp="1"/>
          </p:cNvSpPr>
          <p:nvPr/>
        </p:nvSpPr>
        <p:spPr>
          <a:xfrm xmlns:a="http://schemas.openxmlformats.org/drawingml/2006/main">
            <a:off x="70294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APPROVAL</a:t>
            </a:r>
          </a:p>
        </p:txBody>
      </p:sp>
      <p:sp>
        <p:nvSpPr>
          <p:cNvPr id="31" name="">
            <a:extLst xmlns:a="http://schemas.openxmlformats.org/drawingml/2006/main">
              <a:ext uri="{FF2B5EF4-FFF2-40B4-BE49-F238E27FC236}">
                <a16:creationId xmlns:a16="http://schemas.microsoft.com/office/drawing/2014/main" id="{B7CB690C-BE14-4434-B472-22A5AF3580CD}"/>
              </a:ext>
            </a:extLst>
          </p:cNvPr>
          <p:cNvSpPr>
            <a:spLocks xmlns:a="http://schemas.openxmlformats.org/drawingml/2006/main" noGrp="1"/>
          </p:cNvSpPr>
          <p:nvPr/>
        </p:nvSpPr>
        <p:spPr>
          <a:xfrm xmlns:a="http://schemas.openxmlformats.org/drawingml/2006/main">
            <a:off x="697230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32" name="">
            <a:extLst xmlns:a="http://schemas.openxmlformats.org/drawingml/2006/main">
              <a:ext uri="{FF2B5EF4-FFF2-40B4-BE49-F238E27FC236}">
                <a16:creationId xmlns:a16="http://schemas.microsoft.com/office/drawing/2014/main" id="{6172682C-F099-4FC8-9144-8A4F4FA5871E}"/>
              </a:ext>
            </a:extLst>
          </p:cNvPr>
          <p:cNvSpPr>
            <a:spLocks xmlns:a="http://schemas.openxmlformats.org/drawingml/2006/main" noGrp="1"/>
          </p:cNvSpPr>
          <p:nvPr/>
        </p:nvSpPr>
        <p:spPr>
          <a:xfrm xmlns:a="http://schemas.openxmlformats.org/drawingml/2006/main">
            <a:off x="821055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6</a:t>
            </a:r>
          </a:p>
        </p:txBody>
      </p:sp>
      <p:sp>
        <p:nvSpPr>
          <p:cNvPr id="33" name="">
            <a:extLst xmlns:a="http://schemas.openxmlformats.org/drawingml/2006/main">
              <a:ext uri="{FF2B5EF4-FFF2-40B4-BE49-F238E27FC236}">
                <a16:creationId xmlns:a16="http://schemas.microsoft.com/office/drawing/2014/main" id="{D521121C-A6BA-46FC-BD20-693FE374E0DE}"/>
              </a:ext>
            </a:extLst>
          </p:cNvPr>
          <p:cNvSpPr>
            <a:spLocks xmlns:a="http://schemas.openxmlformats.org/drawingml/2006/main" noGrp="1"/>
          </p:cNvSpPr>
          <p:nvPr/>
        </p:nvSpPr>
        <p:spPr>
          <a:xfrm xmlns:a="http://schemas.openxmlformats.org/drawingml/2006/main">
            <a:off x="853440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66716E"/>
                </a:solidFill>
              </a:defRPr>
            </a:pPr>
            <a:r>
              <a:rPr sz="825" b="0">
                <a:solidFill>
                  <a:srgbClr val="66716E"/>
                </a:solidFill>
              </a:rPr>
              <a:t>DISPATCH</a:t>
            </a:r>
          </a:p>
        </p:txBody>
      </p:sp>
      <p:sp>
        <p:nvSpPr>
          <p:cNvPr id="34" name="">
            <a:extLst xmlns:a="http://schemas.openxmlformats.org/drawingml/2006/main">
              <a:ext uri="{FF2B5EF4-FFF2-40B4-BE49-F238E27FC236}">
                <a16:creationId xmlns:a16="http://schemas.microsoft.com/office/drawing/2014/main" id="{35664D38-2189-4007-BB55-D05B08B20D03}"/>
              </a:ext>
            </a:extLst>
          </p:cNvPr>
          <p:cNvSpPr>
            <a:spLocks xmlns:a="http://schemas.openxmlformats.org/drawingml/2006/main" noGrp="1"/>
          </p:cNvSpPr>
          <p:nvPr/>
        </p:nvSpPr>
        <p:spPr>
          <a:xfrm xmlns:a="http://schemas.openxmlformats.org/drawingml/2006/main">
            <a:off x="8477250" y="6057900"/>
            <a:ext cx="57150" cy="0"/>
          </a:xfrm>
          <a:prstGeom xmlns:a="http://schemas.openxmlformats.org/drawingml/2006/main" prst="line">
            <a:avLst/>
          </a:prstGeom>
          <a:noFill xmlns:a="http://schemas.openxmlformats.org/drawingml/2006/main"/>
          <a:ln xmlns:a="http://schemas.openxmlformats.org/drawingml/2006/main" w="19050">
            <a:solidFill>
              <a:srgbClr val="075D50"/>
            </a:solidFill>
            <a:prstDash val="solid"/>
          </a:ln>
        </p:spPr>
      </p:sp>
      <p:sp>
        <p:nvSpPr>
          <p:cNvPr id="35" name="">
            <a:extLst xmlns:a="http://schemas.openxmlformats.org/drawingml/2006/main">
              <a:ext uri="{FF2B5EF4-FFF2-40B4-BE49-F238E27FC236}">
                <a16:creationId xmlns:a16="http://schemas.microsoft.com/office/drawing/2014/main" id="{7F93B418-5726-40D7-8A22-E16EE7B2AEDA}"/>
              </a:ext>
            </a:extLst>
          </p:cNvPr>
          <p:cNvSpPr>
            <a:spLocks xmlns:a="http://schemas.openxmlformats.org/drawingml/2006/main" noGrp="1"/>
          </p:cNvSpPr>
          <p:nvPr/>
        </p:nvSpPr>
        <p:spPr>
          <a:xfrm xmlns:a="http://schemas.openxmlformats.org/drawingml/2006/main">
            <a:off x="9715500" y="5924550"/>
            <a:ext cx="266700" cy="266700"/>
          </a:xfrm>
          <a:prstGeom xmlns:a="http://schemas.openxmlformats.org/drawingml/2006/main" prst="ellipse">
            <a:avLst/>
          </a:prstGeom>
          <a:solidFill xmlns:a="http://schemas.openxmlformats.org/drawingml/2006/main">
            <a:srgbClr val="075D50"/>
          </a:solidFill>
          <a:ln xmlns:a="http://schemas.openxmlformats.org/drawingml/2006/main" w="0">
            <a:solidFill>
              <a:srgbClr val="075D50"/>
            </a:solid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FFFFFF"/>
                </a:solidFill>
              </a:defRPr>
            </a:pPr>
            <a:r>
              <a:rPr sz="900" b="1">
                <a:solidFill>
                  <a:srgbClr val="FFFFFF"/>
                </a:solidFill>
              </a:rPr>
              <a:t>7</a:t>
            </a:r>
          </a:p>
        </p:txBody>
      </p:sp>
      <p:sp>
        <p:nvSpPr>
          <p:cNvPr id="36" name="">
            <a:extLst xmlns:a="http://schemas.openxmlformats.org/drawingml/2006/main">
              <a:ext uri="{FF2B5EF4-FFF2-40B4-BE49-F238E27FC236}">
                <a16:creationId xmlns:a16="http://schemas.microsoft.com/office/drawing/2014/main" id="{049A2F7B-3AB7-40C2-9A80-30302900AEBE}"/>
              </a:ext>
            </a:extLst>
          </p:cNvPr>
          <p:cNvSpPr>
            <a:spLocks xmlns:a="http://schemas.openxmlformats.org/drawingml/2006/main" noGrp="1"/>
          </p:cNvSpPr>
          <p:nvPr/>
        </p:nvSpPr>
        <p:spPr>
          <a:xfrm xmlns:a="http://schemas.openxmlformats.org/drawingml/2006/main">
            <a:off x="10039350" y="5962650"/>
            <a:ext cx="11239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075D50"/>
                </a:solidFill>
              </a:defRPr>
            </a:pPr>
            <a:r>
              <a:rPr sz="825" b="1">
                <a:solidFill>
                  <a:srgbClr val="075D50"/>
                </a:solidFill>
              </a:rPr>
              <a:t>INVOICE</a:t>
            </a:r>
          </a:p>
        </p:txBody>
      </p:sp>
      <p:sp>
        <p:nvSpPr>
          <p:cNvPr id="37" name="">
            <a:extLst xmlns:a="http://schemas.openxmlformats.org/drawingml/2006/main">
              <a:ext uri="{FF2B5EF4-FFF2-40B4-BE49-F238E27FC236}">
                <a16:creationId xmlns:a16="http://schemas.microsoft.com/office/drawing/2014/main" id="{AB35DA27-A6DD-4010-9E4A-3A0C00180943}"/>
              </a:ext>
            </a:extLst>
          </p:cNvPr>
          <p:cNvSpPr>
            <a:spLocks xmlns:a="http://schemas.openxmlformats.org/drawingml/2006/main" noGrp="1"/>
          </p:cNvSpPr>
          <p:nvPr/>
        </p:nvSpPr>
        <p:spPr>
          <a:xfrm xmlns:a="http://schemas.openxmlformats.org/drawingml/2006/main">
            <a:off x="685800" y="6477000"/>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66716E"/>
                </a:solidFill>
              </a:defRPr>
            </a:pPr>
            <a:r>
              <a:rPr sz="825" b="1">
                <a:solidFill>
                  <a:srgbClr val="66716E"/>
                </a:solidFill>
              </a:rPr>
              <a:t>ORDER DESK  ·  OMNIORDER MVP</a:t>
            </a:r>
          </a:p>
        </p:txBody>
      </p:sp>
      <p:sp>
        <p:nvSpPr>
          <p:cNvPr id="38" name="">
            <a:extLst xmlns:a="http://schemas.openxmlformats.org/drawingml/2006/main">
              <a:ext uri="{FF2B5EF4-FFF2-40B4-BE49-F238E27FC236}">
                <a16:creationId xmlns:a16="http://schemas.microsoft.com/office/drawing/2014/main" id="{AFFDC405-1E7F-4E2D-8984-8EABC92B5127}"/>
              </a:ext>
            </a:extLst>
          </p:cNvPr>
          <p:cNvSpPr>
            <a:spLocks xmlns:a="http://schemas.openxmlformats.org/drawingml/2006/main" noGrp="1"/>
          </p:cNvSpPr>
          <p:nvPr/>
        </p:nvSpPr>
        <p:spPr>
          <a:xfrm xmlns:a="http://schemas.openxmlformats.org/drawingml/2006/main">
            <a:off x="11049000" y="64770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6716E"/>
                </a:solidFill>
              </a:defRPr>
            </a:pPr>
            <a:r>
              <a:rPr sz="825" b="1">
                <a:solidFill>
                  <a:srgbClr val="66716E"/>
                </a:solidFill>
              </a:rPr>
              <a:t>09</a:t>
            </a:r>
          </a:p>
        </p:txBody>
      </p:sp>
    </p:spTree>
    <p:extLst>
      <p:ext uri="{BB962C8B-B14F-4D97-AF65-F5344CB8AC3E}">
        <p14:creationId xmlns:p14="http://schemas.microsoft.com/office/powerpoint/2010/main" val="1092132821"/>
      </p:ext>
    </p:extLst>
  </p:cSld>
</p:sld>
</file>

<file path=ppt/slides/slide10.xml><?xml version="1.0" encoding="utf-8"?>
<p:sld xmlns:p="http://schemas.openxmlformats.org/presentationml/2006/main">
  <p:cSld>
    <p:bg>
      <p:bgPr>
        <a:solidFill xmlns:a="http://schemas.openxmlformats.org/drawingml/2006/main">
          <a:srgbClr val="03473E"/>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D1AC88F-6251-42A8-926D-9C043C319220}"/>
              </a:ext>
            </a:extLst>
          </p:cNvPr>
          <p:cNvSpPr>
            <a:spLocks xmlns:a="http://schemas.openxmlformats.org/drawingml/2006/main" noGrp="1"/>
          </p:cNvSpPr>
          <p:nvPr/>
        </p:nvSpPr>
        <p:spPr>
          <a:xfrm xmlns:a="http://schemas.openxmlformats.org/drawingml/2006/main">
            <a:off x="685800" y="5524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B9DED6"/>
                </a:solidFill>
              </a:defRPr>
            </a:pPr>
            <a:r>
              <a:rPr sz="1050" b="1">
                <a:solidFill>
                  <a:srgbClr val="B9DED6"/>
                </a:solidFill>
              </a:rPr>
              <a:t>THE COMPLETE LOOP</a:t>
            </a:r>
          </a:p>
        </p:txBody>
      </p:sp>
      <p:sp>
        <p:nvSpPr>
          <p:cNvPr id="2" name="">
            <a:extLst xmlns:a="http://schemas.openxmlformats.org/drawingml/2006/main">
              <a:ext uri="{FF2B5EF4-FFF2-40B4-BE49-F238E27FC236}">
                <a16:creationId xmlns:a16="http://schemas.microsoft.com/office/drawing/2014/main" id="{88A1B94B-387D-48FD-BCCC-A0846C55FF25}"/>
              </a:ext>
            </a:extLst>
          </p:cNvPr>
          <p:cNvSpPr>
            <a:spLocks xmlns:a="http://schemas.openxmlformats.org/drawingml/2006/main" noGrp="1"/>
          </p:cNvSpPr>
          <p:nvPr/>
        </p:nvSpPr>
        <p:spPr>
          <a:xfrm xmlns:a="http://schemas.openxmlformats.org/drawingml/2006/main">
            <a:off x="685800" y="1104900"/>
            <a:ext cx="74295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900" b="1">
                <a:solidFill>
                  <a:srgbClr val="FFFFFF"/>
                </a:solidFill>
              </a:defRPr>
            </a:pPr>
            <a:r>
              <a:rPr sz="3900" b="1">
                <a:solidFill>
                  <a:srgbClr val="FFFFFF"/>
                </a:solidFill>
              </a:rPr>
              <a:t>One request becomes</a:t>
            </a:r>
          </a:p>
          <a:p xmlns:a="http://schemas.openxmlformats.org/drawingml/2006/main">
            <a:pPr algn="l">
              <a:defRPr sz="3900" b="1">
                <a:solidFill>
                  <a:srgbClr val="FFFFFF"/>
                </a:solidFill>
              </a:defRPr>
            </a:pPr>
            <a:r>
              <a:rPr sz="3900" b="1">
                <a:solidFill>
                  <a:srgbClr val="FFFFFF"/>
                </a:solidFill>
              </a:rPr>
              <a:t>a traceable order.</a:t>
            </a:r>
          </a:p>
        </p:txBody>
      </p:sp>
      <p:sp>
        <p:nvSpPr>
          <p:cNvPr id="3" name="">
            <a:extLst xmlns:a="http://schemas.openxmlformats.org/drawingml/2006/main">
              <a:ext uri="{FF2B5EF4-FFF2-40B4-BE49-F238E27FC236}">
                <a16:creationId xmlns:a16="http://schemas.microsoft.com/office/drawing/2014/main" id="{E7F94318-6C7D-4D4C-A3F2-4B0BA949708A}"/>
              </a:ext>
            </a:extLst>
          </p:cNvPr>
          <p:cNvSpPr>
            <a:spLocks xmlns:a="http://schemas.openxmlformats.org/drawingml/2006/main" noGrp="1"/>
          </p:cNvSpPr>
          <p:nvPr/>
        </p:nvSpPr>
        <p:spPr>
          <a:xfrm xmlns:a="http://schemas.openxmlformats.org/drawingml/2006/main">
            <a:off x="685800" y="2571750"/>
            <a:ext cx="7239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DDEAE7"/>
                </a:solidFill>
              </a:defRPr>
            </a:pPr>
            <a:r>
              <a:rPr sz="1800" b="0">
                <a:solidFill>
                  <a:srgbClr val="DDEAE7"/>
                </a:solidFill>
              </a:rPr>
              <a:t>No retyping. No early price exposure. No lost handoffs.</a:t>
            </a:r>
          </a:p>
        </p:txBody>
      </p:sp>
      <p:sp>
        <p:nvSpPr>
          <p:cNvPr id="4" name="">
            <a:extLst xmlns:a="http://schemas.openxmlformats.org/drawingml/2006/main">
              <a:ext uri="{FF2B5EF4-FFF2-40B4-BE49-F238E27FC236}">
                <a16:creationId xmlns:a16="http://schemas.microsoft.com/office/drawing/2014/main" id="{77E03C74-A363-4691-9D30-AAD5654809C8}"/>
              </a:ext>
            </a:extLst>
          </p:cNvPr>
          <p:cNvSpPr>
            <a:spLocks xmlns:a="http://schemas.openxmlformats.org/drawingml/2006/main" noGrp="1"/>
          </p:cNvSpPr>
          <p:nvPr/>
        </p:nvSpPr>
        <p:spPr>
          <a:xfrm xmlns:a="http://schemas.openxmlformats.org/drawingml/2006/main">
            <a:off x="685800" y="3657600"/>
            <a:ext cx="419100" cy="419100"/>
          </a:xfrm>
          <a:prstGeom xmlns:a="http://schemas.openxmlformats.org/drawingml/2006/main" prst="ellipse">
            <a:avLst/>
          </a:prstGeom>
          <a:solidFill xmlns:a="http://schemas.openxmlformats.org/drawingml/2006/main">
            <a:srgbClr val="E66A00"/>
          </a:solidFill>
          <a:ln xmlns:a="http://schemas.openxmlformats.org/drawingml/2006/main" w="0">
            <a:solidFill>
              <a:srgbClr val="E66A00"/>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1</a:t>
            </a:r>
          </a:p>
        </p:txBody>
      </p:sp>
      <p:sp>
        <p:nvSpPr>
          <p:cNvPr id="5" name="">
            <a:extLst xmlns:a="http://schemas.openxmlformats.org/drawingml/2006/main">
              <a:ext uri="{FF2B5EF4-FFF2-40B4-BE49-F238E27FC236}">
                <a16:creationId xmlns:a16="http://schemas.microsoft.com/office/drawing/2014/main" id="{366111BC-DFCB-4CE1-8983-4F172F236DB4}"/>
              </a:ext>
            </a:extLst>
          </p:cNvPr>
          <p:cNvSpPr>
            <a:spLocks xmlns:a="http://schemas.openxmlformats.org/drawingml/2006/main" noGrp="1"/>
          </p:cNvSpPr>
          <p:nvPr/>
        </p:nvSpPr>
        <p:spPr>
          <a:xfrm xmlns:a="http://schemas.openxmlformats.org/drawingml/2006/main">
            <a:off x="476250" y="4248150"/>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Shared access</a:t>
            </a:r>
          </a:p>
        </p:txBody>
      </p:sp>
      <p:sp>
        <p:nvSpPr>
          <p:cNvPr id="6" name="">
            <a:extLst xmlns:a="http://schemas.openxmlformats.org/drawingml/2006/main">
              <a:ext uri="{FF2B5EF4-FFF2-40B4-BE49-F238E27FC236}">
                <a16:creationId xmlns:a16="http://schemas.microsoft.com/office/drawing/2014/main" id="{5E3B1349-DE0F-45BA-AA96-A42BF978F812}"/>
              </a:ext>
            </a:extLst>
          </p:cNvPr>
          <p:cNvSpPr>
            <a:spLocks xmlns:a="http://schemas.openxmlformats.org/drawingml/2006/main" noGrp="1"/>
          </p:cNvSpPr>
          <p:nvPr/>
        </p:nvSpPr>
        <p:spPr>
          <a:xfrm xmlns:a="http://schemas.openxmlformats.org/drawingml/2006/main">
            <a:off x="1104900" y="3867150"/>
            <a:ext cx="1143000" cy="0"/>
          </a:xfrm>
          <a:prstGeom xmlns:a="http://schemas.openxmlformats.org/drawingml/2006/main" prst="line">
            <a:avLst/>
          </a:prstGeom>
          <a:noFill xmlns:a="http://schemas.openxmlformats.org/drawingml/2006/main"/>
          <a:ln xmlns:a="http://schemas.openxmlformats.org/drawingml/2006/main" w="19050">
            <a:solidFill>
              <a:srgbClr val="5E9188"/>
            </a:solidFill>
            <a:prstDash val="solid"/>
          </a:ln>
        </p:spPr>
      </p:sp>
      <p:sp>
        <p:nvSpPr>
          <p:cNvPr id="7" name="">
            <a:extLst xmlns:a="http://schemas.openxmlformats.org/drawingml/2006/main">
              <a:ext uri="{FF2B5EF4-FFF2-40B4-BE49-F238E27FC236}">
                <a16:creationId xmlns:a16="http://schemas.microsoft.com/office/drawing/2014/main" id="{78D4D4AB-505F-4C5B-BC27-40058D68330B}"/>
              </a:ext>
            </a:extLst>
          </p:cNvPr>
          <p:cNvSpPr>
            <a:spLocks xmlns:a="http://schemas.openxmlformats.org/drawingml/2006/main" noGrp="1"/>
          </p:cNvSpPr>
          <p:nvPr/>
        </p:nvSpPr>
        <p:spPr>
          <a:xfrm xmlns:a="http://schemas.openxmlformats.org/drawingml/2006/main">
            <a:off x="2247900" y="3657600"/>
            <a:ext cx="419100" cy="4191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75D50"/>
                </a:solidFill>
              </a:defRPr>
            </a:pPr>
            <a:r>
              <a:rPr sz="1200" b="1">
                <a:solidFill>
                  <a:srgbClr val="075D50"/>
                </a:solidFill>
              </a:rPr>
              <a:t>2</a:t>
            </a:r>
          </a:p>
        </p:txBody>
      </p:sp>
      <p:sp>
        <p:nvSpPr>
          <p:cNvPr id="8" name="">
            <a:extLst xmlns:a="http://schemas.openxmlformats.org/drawingml/2006/main">
              <a:ext uri="{FF2B5EF4-FFF2-40B4-BE49-F238E27FC236}">
                <a16:creationId xmlns:a16="http://schemas.microsoft.com/office/drawing/2014/main" id="{EA6D524F-8174-4CF8-A6F3-9F89933ADDC8}"/>
              </a:ext>
            </a:extLst>
          </p:cNvPr>
          <p:cNvSpPr>
            <a:spLocks xmlns:a="http://schemas.openxmlformats.org/drawingml/2006/main" noGrp="1"/>
          </p:cNvSpPr>
          <p:nvPr/>
        </p:nvSpPr>
        <p:spPr>
          <a:xfrm xmlns:a="http://schemas.openxmlformats.org/drawingml/2006/main">
            <a:off x="2038350" y="4248150"/>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Quantity request</a:t>
            </a:r>
          </a:p>
        </p:txBody>
      </p:sp>
      <p:sp>
        <p:nvSpPr>
          <p:cNvPr id="9" name="">
            <a:extLst xmlns:a="http://schemas.openxmlformats.org/drawingml/2006/main">
              <a:ext uri="{FF2B5EF4-FFF2-40B4-BE49-F238E27FC236}">
                <a16:creationId xmlns:a16="http://schemas.microsoft.com/office/drawing/2014/main" id="{F37B4C62-050A-40A5-9DB5-15CB4434EBD6}"/>
              </a:ext>
            </a:extLst>
          </p:cNvPr>
          <p:cNvSpPr>
            <a:spLocks xmlns:a="http://schemas.openxmlformats.org/drawingml/2006/main" noGrp="1"/>
          </p:cNvSpPr>
          <p:nvPr/>
        </p:nvSpPr>
        <p:spPr>
          <a:xfrm xmlns:a="http://schemas.openxmlformats.org/drawingml/2006/main">
            <a:off x="2667000" y="3867150"/>
            <a:ext cx="1143000" cy="0"/>
          </a:xfrm>
          <a:prstGeom xmlns:a="http://schemas.openxmlformats.org/drawingml/2006/main" prst="line">
            <a:avLst/>
          </a:prstGeom>
          <a:noFill xmlns:a="http://schemas.openxmlformats.org/drawingml/2006/main"/>
          <a:ln xmlns:a="http://schemas.openxmlformats.org/drawingml/2006/main" w="19050">
            <a:solidFill>
              <a:srgbClr val="5E9188"/>
            </a:solidFill>
            <a:prstDash val="solid"/>
          </a:ln>
        </p:spPr>
      </p:sp>
      <p:sp>
        <p:nvSpPr>
          <p:cNvPr id="10" name="">
            <a:extLst xmlns:a="http://schemas.openxmlformats.org/drawingml/2006/main">
              <a:ext uri="{FF2B5EF4-FFF2-40B4-BE49-F238E27FC236}">
                <a16:creationId xmlns:a16="http://schemas.microsoft.com/office/drawing/2014/main" id="{C2CFED88-4B7B-414A-93BF-9C06BEE1CD47}"/>
              </a:ext>
            </a:extLst>
          </p:cNvPr>
          <p:cNvSpPr>
            <a:spLocks xmlns:a="http://schemas.openxmlformats.org/drawingml/2006/main" noGrp="1"/>
          </p:cNvSpPr>
          <p:nvPr/>
        </p:nvSpPr>
        <p:spPr>
          <a:xfrm xmlns:a="http://schemas.openxmlformats.org/drawingml/2006/main">
            <a:off x="3810000" y="3657600"/>
            <a:ext cx="419100" cy="4191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75D50"/>
                </a:solidFill>
              </a:defRPr>
            </a:pPr>
            <a:r>
              <a:rPr sz="1200" b="1">
                <a:solidFill>
                  <a:srgbClr val="075D50"/>
                </a:solidFill>
              </a:rPr>
              <a:t>3</a:t>
            </a:r>
          </a:p>
        </p:txBody>
      </p:sp>
      <p:sp>
        <p:nvSpPr>
          <p:cNvPr id="11" name="">
            <a:extLst xmlns:a="http://schemas.openxmlformats.org/drawingml/2006/main">
              <a:ext uri="{FF2B5EF4-FFF2-40B4-BE49-F238E27FC236}">
                <a16:creationId xmlns:a16="http://schemas.microsoft.com/office/drawing/2014/main" id="{34F5069B-D8C0-49BA-89CD-06247BA9D69B}"/>
              </a:ext>
            </a:extLst>
          </p:cNvPr>
          <p:cNvSpPr>
            <a:spLocks xmlns:a="http://schemas.openxmlformats.org/drawingml/2006/main" noGrp="1"/>
          </p:cNvSpPr>
          <p:nvPr/>
        </p:nvSpPr>
        <p:spPr>
          <a:xfrm xmlns:a="http://schemas.openxmlformats.org/drawingml/2006/main">
            <a:off x="3600450" y="4248150"/>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Sales review</a:t>
            </a:r>
          </a:p>
        </p:txBody>
      </p:sp>
      <p:sp>
        <p:nvSpPr>
          <p:cNvPr id="12" name="">
            <a:extLst xmlns:a="http://schemas.openxmlformats.org/drawingml/2006/main">
              <a:ext uri="{FF2B5EF4-FFF2-40B4-BE49-F238E27FC236}">
                <a16:creationId xmlns:a16="http://schemas.microsoft.com/office/drawing/2014/main" id="{D06261D7-2888-420C-8511-89336C629FF6}"/>
              </a:ext>
            </a:extLst>
          </p:cNvPr>
          <p:cNvSpPr>
            <a:spLocks xmlns:a="http://schemas.openxmlformats.org/drawingml/2006/main" noGrp="1"/>
          </p:cNvSpPr>
          <p:nvPr/>
        </p:nvSpPr>
        <p:spPr>
          <a:xfrm xmlns:a="http://schemas.openxmlformats.org/drawingml/2006/main">
            <a:off x="4229100" y="3867150"/>
            <a:ext cx="1143000" cy="0"/>
          </a:xfrm>
          <a:prstGeom xmlns:a="http://schemas.openxmlformats.org/drawingml/2006/main" prst="line">
            <a:avLst/>
          </a:prstGeom>
          <a:noFill xmlns:a="http://schemas.openxmlformats.org/drawingml/2006/main"/>
          <a:ln xmlns:a="http://schemas.openxmlformats.org/drawingml/2006/main" w="19050">
            <a:solidFill>
              <a:srgbClr val="5E9188"/>
            </a:solidFill>
            <a:prstDash val="solid"/>
          </a:ln>
        </p:spPr>
      </p:sp>
      <p:sp>
        <p:nvSpPr>
          <p:cNvPr id="13" name="">
            <a:extLst xmlns:a="http://schemas.openxmlformats.org/drawingml/2006/main">
              <a:ext uri="{FF2B5EF4-FFF2-40B4-BE49-F238E27FC236}">
                <a16:creationId xmlns:a16="http://schemas.microsoft.com/office/drawing/2014/main" id="{CACD8A7B-0A8B-4F39-A261-BEE8702EBD16}"/>
              </a:ext>
            </a:extLst>
          </p:cNvPr>
          <p:cNvSpPr>
            <a:spLocks xmlns:a="http://schemas.openxmlformats.org/drawingml/2006/main" noGrp="1"/>
          </p:cNvSpPr>
          <p:nvPr/>
        </p:nvSpPr>
        <p:spPr>
          <a:xfrm xmlns:a="http://schemas.openxmlformats.org/drawingml/2006/main">
            <a:off x="5372100" y="3657600"/>
            <a:ext cx="419100" cy="4191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75D50"/>
                </a:solidFill>
              </a:defRPr>
            </a:pPr>
            <a:r>
              <a:rPr sz="1200" b="1">
                <a:solidFill>
                  <a:srgbClr val="075D50"/>
                </a:solidFill>
              </a:rPr>
              <a:t>4</a:t>
            </a:r>
          </a:p>
        </p:txBody>
      </p:sp>
      <p:sp>
        <p:nvSpPr>
          <p:cNvPr id="14" name="">
            <a:extLst xmlns:a="http://schemas.openxmlformats.org/drawingml/2006/main">
              <a:ext uri="{FF2B5EF4-FFF2-40B4-BE49-F238E27FC236}">
                <a16:creationId xmlns:a16="http://schemas.microsoft.com/office/drawing/2014/main" id="{0A0EFAC4-0B37-41D5-B024-600DD92B4085}"/>
              </a:ext>
            </a:extLst>
          </p:cNvPr>
          <p:cNvSpPr>
            <a:spLocks xmlns:a="http://schemas.openxmlformats.org/drawingml/2006/main" noGrp="1"/>
          </p:cNvSpPr>
          <p:nvPr/>
        </p:nvSpPr>
        <p:spPr>
          <a:xfrm xmlns:a="http://schemas.openxmlformats.org/drawingml/2006/main">
            <a:off x="5162550" y="4248150"/>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Pro-forma</a:t>
            </a:r>
          </a:p>
        </p:txBody>
      </p:sp>
      <p:sp>
        <p:nvSpPr>
          <p:cNvPr id="15" name="">
            <a:extLst xmlns:a="http://schemas.openxmlformats.org/drawingml/2006/main">
              <a:ext uri="{FF2B5EF4-FFF2-40B4-BE49-F238E27FC236}">
                <a16:creationId xmlns:a16="http://schemas.microsoft.com/office/drawing/2014/main" id="{7F51CB42-EE58-4084-9766-5CA2A9BC8714}"/>
              </a:ext>
            </a:extLst>
          </p:cNvPr>
          <p:cNvSpPr>
            <a:spLocks xmlns:a="http://schemas.openxmlformats.org/drawingml/2006/main" noGrp="1"/>
          </p:cNvSpPr>
          <p:nvPr/>
        </p:nvSpPr>
        <p:spPr>
          <a:xfrm xmlns:a="http://schemas.openxmlformats.org/drawingml/2006/main">
            <a:off x="5791200" y="3867150"/>
            <a:ext cx="1143000" cy="0"/>
          </a:xfrm>
          <a:prstGeom xmlns:a="http://schemas.openxmlformats.org/drawingml/2006/main" prst="line">
            <a:avLst/>
          </a:prstGeom>
          <a:noFill xmlns:a="http://schemas.openxmlformats.org/drawingml/2006/main"/>
          <a:ln xmlns:a="http://schemas.openxmlformats.org/drawingml/2006/main" w="19050">
            <a:solidFill>
              <a:srgbClr val="5E9188"/>
            </a:solidFill>
            <a:prstDash val="solid"/>
          </a:ln>
        </p:spPr>
      </p:sp>
      <p:sp>
        <p:nvSpPr>
          <p:cNvPr id="16" name="">
            <a:extLst xmlns:a="http://schemas.openxmlformats.org/drawingml/2006/main">
              <a:ext uri="{FF2B5EF4-FFF2-40B4-BE49-F238E27FC236}">
                <a16:creationId xmlns:a16="http://schemas.microsoft.com/office/drawing/2014/main" id="{674087E1-2B0F-4C71-B929-3A5AD7D2C399}"/>
              </a:ext>
            </a:extLst>
          </p:cNvPr>
          <p:cNvSpPr>
            <a:spLocks xmlns:a="http://schemas.openxmlformats.org/drawingml/2006/main" noGrp="1"/>
          </p:cNvSpPr>
          <p:nvPr/>
        </p:nvSpPr>
        <p:spPr>
          <a:xfrm xmlns:a="http://schemas.openxmlformats.org/drawingml/2006/main">
            <a:off x="6934200" y="3657600"/>
            <a:ext cx="419100" cy="4191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75D50"/>
                </a:solidFill>
              </a:defRPr>
            </a:pPr>
            <a:r>
              <a:rPr sz="1200" b="1">
                <a:solidFill>
                  <a:srgbClr val="075D50"/>
                </a:solidFill>
              </a:rPr>
              <a:t>5</a:t>
            </a:r>
          </a:p>
        </p:txBody>
      </p:sp>
      <p:sp>
        <p:nvSpPr>
          <p:cNvPr id="17" name="">
            <a:extLst xmlns:a="http://schemas.openxmlformats.org/drawingml/2006/main">
              <a:ext uri="{FF2B5EF4-FFF2-40B4-BE49-F238E27FC236}">
                <a16:creationId xmlns:a16="http://schemas.microsoft.com/office/drawing/2014/main" id="{B8354434-20A2-420A-A03C-ACB8C899C110}"/>
              </a:ext>
            </a:extLst>
          </p:cNvPr>
          <p:cNvSpPr>
            <a:spLocks xmlns:a="http://schemas.openxmlformats.org/drawingml/2006/main" noGrp="1"/>
          </p:cNvSpPr>
          <p:nvPr/>
        </p:nvSpPr>
        <p:spPr>
          <a:xfrm xmlns:a="http://schemas.openxmlformats.org/drawingml/2006/main">
            <a:off x="6724650" y="4248150"/>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Approval</a:t>
            </a:r>
          </a:p>
        </p:txBody>
      </p:sp>
      <p:sp>
        <p:nvSpPr>
          <p:cNvPr id="18" name="">
            <a:extLst xmlns:a="http://schemas.openxmlformats.org/drawingml/2006/main">
              <a:ext uri="{FF2B5EF4-FFF2-40B4-BE49-F238E27FC236}">
                <a16:creationId xmlns:a16="http://schemas.microsoft.com/office/drawing/2014/main" id="{2FEB9676-7D83-4C55-8C8A-E283C9C8CD3C}"/>
              </a:ext>
            </a:extLst>
          </p:cNvPr>
          <p:cNvSpPr>
            <a:spLocks xmlns:a="http://schemas.openxmlformats.org/drawingml/2006/main" noGrp="1"/>
          </p:cNvSpPr>
          <p:nvPr/>
        </p:nvSpPr>
        <p:spPr>
          <a:xfrm xmlns:a="http://schemas.openxmlformats.org/drawingml/2006/main">
            <a:off x="7353300" y="3867150"/>
            <a:ext cx="1143000" cy="0"/>
          </a:xfrm>
          <a:prstGeom xmlns:a="http://schemas.openxmlformats.org/drawingml/2006/main" prst="line">
            <a:avLst/>
          </a:prstGeom>
          <a:noFill xmlns:a="http://schemas.openxmlformats.org/drawingml/2006/main"/>
          <a:ln xmlns:a="http://schemas.openxmlformats.org/drawingml/2006/main" w="19050">
            <a:solidFill>
              <a:srgbClr val="5E9188"/>
            </a:solidFill>
            <a:prstDash val="solid"/>
          </a:ln>
        </p:spPr>
      </p:sp>
      <p:sp>
        <p:nvSpPr>
          <p:cNvPr id="19" name="">
            <a:extLst xmlns:a="http://schemas.openxmlformats.org/drawingml/2006/main">
              <a:ext uri="{FF2B5EF4-FFF2-40B4-BE49-F238E27FC236}">
                <a16:creationId xmlns:a16="http://schemas.microsoft.com/office/drawing/2014/main" id="{15752974-8B42-4751-BC08-409DAEBA3866}"/>
              </a:ext>
            </a:extLst>
          </p:cNvPr>
          <p:cNvSpPr>
            <a:spLocks xmlns:a="http://schemas.openxmlformats.org/drawingml/2006/main" noGrp="1"/>
          </p:cNvSpPr>
          <p:nvPr/>
        </p:nvSpPr>
        <p:spPr>
          <a:xfrm xmlns:a="http://schemas.openxmlformats.org/drawingml/2006/main">
            <a:off x="8496300" y="3657600"/>
            <a:ext cx="419100" cy="4191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075D50"/>
                </a:solidFill>
              </a:defRPr>
            </a:pPr>
            <a:r>
              <a:rPr sz="1200" b="1">
                <a:solidFill>
                  <a:srgbClr val="075D50"/>
                </a:solidFill>
              </a:rPr>
              <a:t>6</a:t>
            </a:r>
          </a:p>
        </p:txBody>
      </p:sp>
      <p:sp>
        <p:nvSpPr>
          <p:cNvPr id="20" name="">
            <a:extLst xmlns:a="http://schemas.openxmlformats.org/drawingml/2006/main">
              <a:ext uri="{FF2B5EF4-FFF2-40B4-BE49-F238E27FC236}">
                <a16:creationId xmlns:a16="http://schemas.microsoft.com/office/drawing/2014/main" id="{25CE05C5-7088-4C4C-94BC-AE4B63C71B3C}"/>
              </a:ext>
            </a:extLst>
          </p:cNvPr>
          <p:cNvSpPr>
            <a:spLocks xmlns:a="http://schemas.openxmlformats.org/drawingml/2006/main" noGrp="1"/>
          </p:cNvSpPr>
          <p:nvPr/>
        </p:nvSpPr>
        <p:spPr>
          <a:xfrm xmlns:a="http://schemas.openxmlformats.org/drawingml/2006/main">
            <a:off x="8286750" y="4248150"/>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Dispatch</a:t>
            </a:r>
          </a:p>
        </p:txBody>
      </p:sp>
      <p:sp>
        <p:nvSpPr>
          <p:cNvPr id="21" name="">
            <a:extLst xmlns:a="http://schemas.openxmlformats.org/drawingml/2006/main">
              <a:ext uri="{FF2B5EF4-FFF2-40B4-BE49-F238E27FC236}">
                <a16:creationId xmlns:a16="http://schemas.microsoft.com/office/drawing/2014/main" id="{1629B599-1D6D-4861-B24E-64B68B0F2421}"/>
              </a:ext>
            </a:extLst>
          </p:cNvPr>
          <p:cNvSpPr>
            <a:spLocks xmlns:a="http://schemas.openxmlformats.org/drawingml/2006/main" noGrp="1"/>
          </p:cNvSpPr>
          <p:nvPr/>
        </p:nvSpPr>
        <p:spPr>
          <a:xfrm xmlns:a="http://schemas.openxmlformats.org/drawingml/2006/main">
            <a:off x="8915400" y="3867150"/>
            <a:ext cx="1143000" cy="0"/>
          </a:xfrm>
          <a:prstGeom xmlns:a="http://schemas.openxmlformats.org/drawingml/2006/main" prst="line">
            <a:avLst/>
          </a:prstGeom>
          <a:noFill xmlns:a="http://schemas.openxmlformats.org/drawingml/2006/main"/>
          <a:ln xmlns:a="http://schemas.openxmlformats.org/drawingml/2006/main" w="19050">
            <a:solidFill>
              <a:srgbClr val="5E9188"/>
            </a:solidFill>
            <a:prstDash val="solid"/>
          </a:ln>
        </p:spPr>
      </p:sp>
      <p:sp>
        <p:nvSpPr>
          <p:cNvPr id="22" name="">
            <a:extLst xmlns:a="http://schemas.openxmlformats.org/drawingml/2006/main">
              <a:ext uri="{FF2B5EF4-FFF2-40B4-BE49-F238E27FC236}">
                <a16:creationId xmlns:a16="http://schemas.microsoft.com/office/drawing/2014/main" id="{6DFF826A-F2FB-4646-B537-61DA16234DAE}"/>
              </a:ext>
            </a:extLst>
          </p:cNvPr>
          <p:cNvSpPr>
            <a:spLocks xmlns:a="http://schemas.openxmlformats.org/drawingml/2006/main" noGrp="1"/>
          </p:cNvSpPr>
          <p:nvPr/>
        </p:nvSpPr>
        <p:spPr>
          <a:xfrm xmlns:a="http://schemas.openxmlformats.org/drawingml/2006/main">
            <a:off x="10058400" y="3657600"/>
            <a:ext cx="419100" cy="419100"/>
          </a:xfrm>
          <a:prstGeom xmlns:a="http://schemas.openxmlformats.org/drawingml/2006/main" prst="ellipse">
            <a:avLst/>
          </a:prstGeom>
          <a:solidFill xmlns:a="http://schemas.openxmlformats.org/drawingml/2006/main">
            <a:srgbClr val="E66A00"/>
          </a:solidFill>
          <a:ln xmlns:a="http://schemas.openxmlformats.org/drawingml/2006/main" w="0">
            <a:solidFill>
              <a:srgbClr val="E66A00"/>
            </a:solid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7</a:t>
            </a:r>
          </a:p>
        </p:txBody>
      </p:sp>
      <p:sp>
        <p:nvSpPr>
          <p:cNvPr id="23" name="">
            <a:extLst xmlns:a="http://schemas.openxmlformats.org/drawingml/2006/main">
              <a:ext uri="{FF2B5EF4-FFF2-40B4-BE49-F238E27FC236}">
                <a16:creationId xmlns:a16="http://schemas.microsoft.com/office/drawing/2014/main" id="{39C5B120-5101-4AFF-9347-CC59663003A7}"/>
              </a:ext>
            </a:extLst>
          </p:cNvPr>
          <p:cNvSpPr>
            <a:spLocks xmlns:a="http://schemas.openxmlformats.org/drawingml/2006/main" noGrp="1"/>
          </p:cNvSpPr>
          <p:nvPr/>
        </p:nvSpPr>
        <p:spPr>
          <a:xfrm xmlns:a="http://schemas.openxmlformats.org/drawingml/2006/main">
            <a:off x="9848850" y="4248150"/>
            <a:ext cx="104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FFFFFF"/>
                </a:solidFill>
              </a:defRPr>
            </a:pPr>
            <a:r>
              <a:rPr sz="1125" b="1">
                <a:solidFill>
                  <a:srgbClr val="FFFFFF"/>
                </a:solidFill>
              </a:rPr>
              <a:t>Invoice</a:t>
            </a:r>
          </a:p>
        </p:txBody>
      </p:sp>
      <p:sp>
        <p:nvSpPr>
          <p:cNvPr id="24" name="">
            <a:extLst xmlns:a="http://schemas.openxmlformats.org/drawingml/2006/main">
              <a:ext uri="{FF2B5EF4-FFF2-40B4-BE49-F238E27FC236}">
                <a16:creationId xmlns:a16="http://schemas.microsoft.com/office/drawing/2014/main" id="{0EA8ADD6-EB06-4B63-9376-36B763075501}"/>
              </a:ext>
            </a:extLst>
          </p:cNvPr>
          <p:cNvSpPr>
            <a:spLocks xmlns:a="http://schemas.openxmlformats.org/drawingml/2006/main" noGrp="1"/>
          </p:cNvSpPr>
          <p:nvPr/>
        </p:nvSpPr>
        <p:spPr>
          <a:xfrm xmlns:a="http://schemas.openxmlformats.org/drawingml/2006/main">
            <a:off x="685800" y="5276850"/>
            <a:ext cx="10820400" cy="628650"/>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C1F2E071-C732-4EA2-9A85-08CBA97E7E10}"/>
              </a:ext>
            </a:extLst>
          </p:cNvPr>
          <p:cNvSpPr>
            <a:spLocks xmlns:a="http://schemas.openxmlformats.org/drawingml/2006/main" noGrp="1"/>
          </p:cNvSpPr>
          <p:nvPr/>
        </p:nvSpPr>
        <p:spPr>
          <a:xfrm xmlns:a="http://schemas.openxmlformats.org/drawingml/2006/main">
            <a:off x="990600" y="54673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11817"/>
                </a:solidFill>
              </a:defRPr>
            </a:pPr>
            <a:r>
              <a:rPr sz="1425" b="1">
                <a:solidFill>
                  <a:srgbClr val="111817"/>
                </a:solidFill>
              </a:rPr>
              <a:t>NEXT: connect durable data, authentication, PDF generation, and email delivery for the customer pilot.</a:t>
            </a:r>
          </a:p>
        </p:txBody>
      </p:sp>
      <p:sp>
        <p:nvSpPr>
          <p:cNvPr id="26" name="">
            <a:extLst xmlns:a="http://schemas.openxmlformats.org/drawingml/2006/main">
              <a:ext uri="{FF2B5EF4-FFF2-40B4-BE49-F238E27FC236}">
                <a16:creationId xmlns:a16="http://schemas.microsoft.com/office/drawing/2014/main" id="{E0C539DB-8121-4C16-BE1F-B41169BF24A8}"/>
              </a:ext>
            </a:extLst>
          </p:cNvPr>
          <p:cNvSpPr>
            <a:spLocks xmlns:a="http://schemas.openxmlformats.org/drawingml/2006/main" noGrp="1"/>
          </p:cNvSpPr>
          <p:nvPr/>
        </p:nvSpPr>
        <p:spPr>
          <a:xfrm xmlns:a="http://schemas.openxmlformats.org/drawingml/2006/main">
            <a:off x="685800" y="6477000"/>
            <a:ext cx="3810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B9DED6"/>
                </a:solidFill>
              </a:defRPr>
            </a:pPr>
            <a:r>
              <a:rPr sz="825" b="1">
                <a:solidFill>
                  <a:srgbClr val="B9DED6"/>
                </a:solidFill>
              </a:rPr>
              <a:t>ORDER DESK  ·  OMNIORDER MVP</a:t>
            </a:r>
          </a:p>
        </p:txBody>
      </p:sp>
      <p:sp>
        <p:nvSpPr>
          <p:cNvPr id="27" name="">
            <a:extLst xmlns:a="http://schemas.openxmlformats.org/drawingml/2006/main">
              <a:ext uri="{FF2B5EF4-FFF2-40B4-BE49-F238E27FC236}">
                <a16:creationId xmlns:a16="http://schemas.microsoft.com/office/drawing/2014/main" id="{5E7EF478-FF05-4B01-8A35-E0C035EB8C4B}"/>
              </a:ext>
            </a:extLst>
          </p:cNvPr>
          <p:cNvSpPr>
            <a:spLocks xmlns:a="http://schemas.openxmlformats.org/drawingml/2006/main" noGrp="1"/>
          </p:cNvSpPr>
          <p:nvPr/>
        </p:nvSpPr>
        <p:spPr>
          <a:xfrm xmlns:a="http://schemas.openxmlformats.org/drawingml/2006/main">
            <a:off x="11049000" y="6477000"/>
            <a:ext cx="457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B9DED6"/>
                </a:solidFill>
              </a:defRPr>
            </a:pPr>
            <a:r>
              <a:rPr sz="825" b="1">
                <a:solidFill>
                  <a:srgbClr val="B9DED6"/>
                </a:solidFill>
              </a:rPr>
              <a:t>10</a:t>
            </a:r>
          </a:p>
        </p:txBody>
      </p:sp>
    </p:spTree>
    <p:extLst>
      <p:ext uri="{BB962C8B-B14F-4D97-AF65-F5344CB8AC3E}">
        <p14:creationId xmlns:p14="http://schemas.microsoft.com/office/powerpoint/2010/main" val="973200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2026-08-07T20:05:55.7860000Z</dcterms:created>
  <dcterms:modified xsi:type="dcterms:W3CDTF">2026-08-07T20:05:55.7860000Z</dcterms:modified>
</coreProperties>
</file>